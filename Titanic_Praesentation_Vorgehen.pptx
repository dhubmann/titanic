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02b70826-f3e8-8d06-47bd-05b14e16d3ca}">
          <p14:sldIdLst>
            <p14:sldId id="256"/>
            <p14:sldId id="257"/>
            <p14:sldId id="258"/>
          </p14:sldIdLst>
        </p14:section>
        <p14:section name="01 Daten verstehen" id="{45da670b-6c6b-846e-34a9-5e8ad2543565}">
          <p14:sldIdLst>
            <p14:sldId id="259"/>
            <p14:sldId id="260"/>
            <p14:sldId id="261"/>
            <p14:sldId id="262"/>
            <p14:sldId id="263"/>
            <p14:sldId id="264"/>
          </p14:sldIdLst>
        </p14:section>
        <p14:section name="02 Daten aufbereiten" id="{9efb0d26-c13a-b091-84b8-36614e732460}">
          <p14:sldIdLst>
            <p14:sldId id="265"/>
            <p14:sldId id="266"/>
            <p14:sldId id="267"/>
          </p14:sldIdLst>
        </p14:section>
        <p14:section name="03 Logistische Regression" id="{13b062c8-ce90-f766-5797-c1951f620467}">
          <p14:sldIdLst>
            <p14:sldId id="268"/>
            <p14:sldId id="269"/>
          </p14:sldIdLst>
        </p14:section>
        <p14:section name="04 Support Vector Machine" id="{4163c07c-9e76-a5ad-3d50-80fb9d6dcd99}">
          <p14:sldIdLst>
            <p14:sldId id="270"/>
            <p14:sldId id="271"/>
            <p14:sldId id="272"/>
          </p14:sldIdLst>
        </p14:section>
        <p14:section name="05 Random Forest" id="{92e344b1-17f8-a75f-a4dd-3aba9e0c5807}">
          <p14:sldIdLst>
            <p14:sldId id="273"/>
            <p14:sldId id="274"/>
            <p14:sldId id="275"/>
          </p14:sldIdLst>
        </p14:section>
        <p14:section name="06 Gradient Boosting" id="{5bdc6591-4738-df04-4b3b-e7c06c75911e}">
          <p14:sldIdLst>
            <p14:sldId id="276"/>
            <p14:sldId id="277"/>
          </p14:sldIdLst>
        </p14:section>
        <p14:section name="07 Bewerten und entscheiden" id="{afab9049-6cec-3ea3-5c35-a3907cd51e96}">
          <p14:sldIdLst>
            <p14:sldId id="278"/>
            <p14:sldId id="279"/>
            <p14:sldId id="280"/>
            <p14:sldId id="281"/>
            <p14:sldId id="282"/>
          </p14:sldIdLst>
        </p14:section>
        <p14:section name="Fazit" id="{b3d3c4a4-5990-981f-5e54-c537b927b8b4}">
          <p14:sldIdLst>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Hallo zusammen. Ihr seht heute mehrere Titanic-Präsentationen, alle mit denselben Daten. Wer überlebt hat, werdet ihr am Ende also ziemlich gut kennen.
Wir wollen deshalb weniger über die Ergebnisse reden und mehr darüber, wie wir an das Problem herangegangen sind: welche Entscheidungen wir getroffen haben, warum – und was wir rückblickend anders machen würden.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 roten Faden haben wir CRISP-DM verwendet, also den Standardprozess aus der Lehrveranstaltung: erst die Fragestellung verstehen, dann die Daten, dann aufbereiten, modellieren und bewerten. Deployment haben wir weggelassen, das war nicht Teil der Aufgabe.
[Klick] Wichtig war uns, dass jeder Schritt auf dem vorherigen aufbaut.
[Klick] Konkret heißt das: Jede Entscheidung, die wir später beim Preprocessing oder bei den Modellen treffen, wollten wir mit etwas begründen können, das wir vorher in den Daten gesehen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waren zu viert. Die Frage war also: Wie teilen wir die Arbeit auf, ohne dass am Ende vier Einzelprojekte herauskommen, die man nicht vergleichen kann?
[Klick] Unsere Lösung: Zuerst haben zwei von uns eine gemeinsame Basis gebaut – die explorative Analyse, die Aufbereitung, die Aufteilung der Daten und die Kennzahlen. Erst danach hat jede Person ihr eigenes Modell darauf aufgesetzt.
[Klick] Dadurch bekommen alle Modelle dieselben Daten, denselben Split und werden mit denselben Kennzahlen bewertet.
[Klick] Und damit das zu viert funktioniert, haben wir alles in einem Notebook gesammelt und mit Git versioniert.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erste große Block war, die Daten zu verstehen. Unser Motto dabei: erst schauen, dann rechnen.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Angefangen haben wir mit einem Überblick über den ganzen Datensatz.
[Klick] Zuerst: Welche Merkmale gibt es, welchen Datentyp haben sie, welches Skalenniveau?
[Klick] Dann: Wo fehlt etwas? Beim Alter fehlen 177 Werte, bei der Kabine sogar 687 – also drei Viertel.
[Klick] Und dann die Verteilungen. Da fällt zum Beispiel sofort auf, dass der Ticketpreis extrem schief ist: Die meisten zahlen wenig, ein paar sehr viel. Das wird später bei der Aufbereitung wichtig.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zweiten Schritt haben wir jedes Merkmal einzeln gegen das Überleben gestellt, hier zum Beispiel Geschlecht und Klasse.
[Klick] Dabei haben wir uns angewöhnt, immer die Fallzahl n mit anzugeben.
[Klick] Das klingt nach einem Detail, verhindert aber, dass man aus einer Gruppe mit drei Personen große Schlüsse zieht.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Einzelne Merkmale erzählen aber nur die halbe Geschichte.
[Klick] Deshalb haben wir im dritten Schritt Kombinationen angeschaut, als Heatmaps – hier Klasse und Familiengröße.
[Klick] Und da sieht man etwas, das in den Einzelgrafiken nicht auffällt: Die Familiengröße wirkt je nach Klasse ganz unterschiedlich. Das ist kein linearer Zusammenhang.
[Klick] Gleichzeitig sieht man hier, warum das n so wichtig ist: Die 100 Prozent bei großen Familien in der ersten und zweiten Klasse beruhen auf ein oder zwei Personen.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vierten Schritt wollten wir das, was wir in den Grafiken sehen, statistisch absichern.
[Klick] Für die numerischen Merkmale haben wir Korrelationen gerechnet – Pearson, und zusätzlich Spearman, weil der Ticketpreis so schief verteilt ist.
[Klick] Für die kategorialen Merkmale haben wir einen Chi-Quadrat-Test gemacht.
[Klick] Ergebnis: Geschlecht, Klasse, Titel, Fahrpreis und Familiengröße hängen alle signifikant mit dem Überleben zusammen. Das war für uns die Bestätigung, dass wir auf den richtigen Merkmalen aufbauen.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das ist für uns die wichtigste Folie in diesem Teil: was die explorative Analyse konkret für später entschieden hat.
[Klick] Die Kabine ist zu drei Vierteln leer – also lassen wir sie weg.
[Klick] Das Alter hat Lücken und der Ticketpreis ist schief – also füllen wir mit dem Median und nicht mit dem Mittelwert.
[Klick] Der Titel hängt stark am Geschlecht. Den haben wir deshalb zunächst nicht als eigenes Merkmal genommen – darauf kommen wir am Ende noch einmal zurück.
[Klick] Und weil die Familiengröße nicht linear wirkt, war klar: Wir probieren nicht nur lineare Modelle, sondern auch Baum-Modelle.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zweite Block war die Aufbereitung der Daten.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Statt die Daten Schritt für Schritt per Hand umzubauen, haben wir eine Pipeline gebaut. Links seht ihr den Kern davon, direkt aus unserem Notebook.
[Klick] Lücken füllen, Zahlen skalieren, Kategorien in Nullen und Einsen umwandeln – alles steckt in einem Objekt.
[Klick] Der große Vorteil: Die Pipeline lernt Median und Skalierung nur aus den Trainingsdaten. So rutscht keine Information aus den Validierungs- oder Testdaten ins Modell. Das nennt man Data Leakage, und das wollten wir unbedingt vermeiden.
[Klick] Und jedes der vier Modelle hängt sich einfach hinten an diese Pipeline. Damit bekommen alle exakt dieselbe Eingabe.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Bevor wir das erste Modell trainiert haben, haben wir festgelegt, wie wir bewerten.
[Klick] Ausgangspunkt war diese Grafik: 62 Prozent haben nicht überlebt. Ein Modell, das immer „nicht überlebt“ sagt, hat also schon 62 Prozent Accuracy.
[Klick] Deshalb reicht uns Accuracy allein nicht. Wir schauen zusätzlich auf Precision, Recall, F1 und die ROC-AUC – und immer auf die Confusion Matrix.
[Klick] Die Daten haben wir 80 zu 20 aufgeteilt, stratifiziert, damit in beiden Teilen gleich viele Überlebende sind, und mit festem Seed, damit alles reproduzierbar ist.
[Klick] Und weil 179 Passagiere zum Validieren nicht viel sind, haben wir zusätzlich eine 5-fache Cross-Validation gerechnet.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zu den Modellen. Wir haben bewusst mit dem einfachsten angefangen.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logistische Regression ist unsere Referenz.
[Klick] Sie ist schnell, robust, und man kann gut nachvollziehen, was sie tut.
[Klick] Wir haben sie bewusst mit Standardwerten gelassen, weil sie nicht gewinnen, sondern eine Messlatte setzen soll.
[Klick] Und die liegt bei rund 80 Prozent.
[Klick] Jedes komplexere Modell muss diese Latte erst einmal überspringen – sonst lohnt sich der zusätzliche Aufwand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 der SVM ging es uns vor allem darum, Hyperparameter systematisch zu variieren.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zwei Kernel – linear und RBF – jeweils mit drei Werten für C kombiniert. Hier seht ihr die drei RBF-Varianten.
[Klick] Und wir haben uns jede Variante als Confusion Matrix angeschaut, nicht nur eine einzelne Zahl.
[Klick] Warum das wichtig ist, sieht man links: RBF mit C = 0,01 hat die höchste ROC-AUC von allen – sagt aber für jeden einzelnen Passagier „nicht überlebt“. Hätten wir nur auf die AUC geschaut, hätten wir ausgerechnet das unbrauchbarste Modell genommen.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Beim besten SVM-Modell haben wir dann eine Fehleranalyse gemacht.
[Klick] Also nicht nur gezählt, wie viele Fehler es gibt, sondern nachgeschaut, bei wem. Rot sind übersehene Überlebende, orange sind Personen, die fälschlich als überlebt vorhergesagt wurden.
[Klick] Das Muster ist deutlich: Übersehen werden vor allem Männer und Passagiere der dritten Klasse.
[Klick] Unsere Schlussfolgerung: Das Problem ist nicht, dass das Modell zu einfach ist. Ihm fehlt schlicht die Information, um diese Personen zu erkennen.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Beim Random Forest haben wir ein anderes Vorgehen ausprobiert: erst diagnostizieren, dann tunen.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sah das in fünf Schritten aus. Wir haben den Forest zuerst ganz ohne Einschränkungen trainiert. Die Diagnose: 98 Prozent im Training, aber nur 81 in der Validierung. Daraus unsere Hypothese: Die Blätter der Bäume sind zu klein, das Modell merkt sich einzelne Passagiere. Dann haben wir gezielt getunt und am Ende geprüft, ob die Lücke tatsächlich kleiner wird.
[Klick] Der Punkt dabei: Wir haben nicht blind alles getunt, was es gibt, sondern an der Ursache angesetzt.
[Klick] Deshalb nur zwei Hyperparameter: wie tief ein Baum werden darf und wie viele Passagiere mindestens in einem Blatt landen müssen.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Getunt haben wir mit GridSearchCV.
[Klick] Das heißt: 20 Kombinationen, jede mit 5-facher Cross-Validation bewertet.
[Klick] Wichtig: nur auf den Trainingsdaten. Die Validierungsdaten haben wir dabei nicht angefasst, damit der spätere Vergleich mit den anderen Modellen fair bleibt.
[Klick] Gewonnen hat: Tiefe egal, aber mindestens drei Passagiere pro Blatt. Die Lücke zwischen Training und Validierung ist damit von 17 auf 10 Prozentpunkte geschrumpft.
[Klick] Und man sieht auch: Die Unterschiede in der Heatmap sind klein. Das Modell reagiert also nicht besonders empfindlich auf diese Einstellungen – auch das ist eine Erkenntnis.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Beim Gradient Boosting sind wir einen dritten Weg gegangen.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haben wir die Hyperparameter nicht gesucht, sondern aus Überlegungen gesetzt. Boosting neigt stark zum Auswendiglernen, also haben wir es bewusst vorsichtig eingestellt.
[Klick] Eine kleine Lernrate von 0,05 – jeder neue Baum darf das Ergebnis nur ein kleines Stück verändern.
[Klick] 100 kleine Bäume mit höchstens 15 Blättern, und in jedem Blatt mindestens zehn Passagiere.
[Klick] Dazu eine L2-Regularisierung, die extreme Werte dämpft.
[Klick] Bewertet wurde es dann genau wie alle anderen: gleicher Split, gleiche Kennzahlen.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letzten Block ging es ums Bewerten und Entscheiden.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Bevor wir verglichen haben, wollten wir verstehen, worauf sich die Modelle eigentlich stützen. Links der Random Forest, rechts Gradient Boosting.
[Klick] Dafür haben wir Permutation Importance verwendet: Man mischt ein Merkmal zufällig durch und misst, wie viel Genauigkeit verloren geht. Das funktioniert für jedes Modell gleich.
[Klick] Zwei verschiedene Verfahren, unabhängig voneinander ausgewertet – und trotzdem dasselbe Muster: Geschlecht weit vorne, dann Klasse und Alter. Für uns heißt das: Das Ergebnis hängt an den Daten, nicht am Verfahren.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Dann haben wir alle vier nebeneinandergestellt.
[Klick] Alle auf demselben Split, mit denselben Kennzahlen, und zusätzlich mit Cross-Validation – rechts die blauen Balken mit der Schwankung über die fünf Folds.
[Klick] Die ROC-Kurven liegen fast übereinander, die AUC ist überall 0,84.
[Klick] Und die Unterschiede in der Accuracy sind kleiner als das, was die Cross-Validation ohnehin schwankt. Ehrlich gesagt: Statistisch sind die vier Modelle kaum zu unterscheiden.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 entscheidet man, wenn alle so nah beieinanderliegen? Wir haben vorher drei Kriterien festgelegt.
[Klick] Erstens Accuracy und F1 auf den Validierungsdaten.
[Klick] Zweitens: Wie stabil ist das Modell in der Cross-Validation?
[Klick] Und drittens: Wie groß ist die Lücke zwischen Training und Validierung – lernt es auswendig?
[Klick] Über alle drei hinweg am besten war die SVM mit RBF-Kernel. Der Random Forest war knapp dahinter, lernt aber deutlich mehr auswendig. Für die finale Vorhersage haben wir die SVM dann noch einmal auf allen 891 Passagieren trainiert.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Schluss wollten wir ehrlich sein: Was würden wir heute anders machen?
[Klick] Erstens würden wir alle Modelle gleich tunen. Bei uns hat jedes Modell einen etwas anderen Weg genommen – das war lehrreich, macht den Vergleich aber unsauberer.
[Klick] Zweitens: Bei der SVM haben wir C anhand der Validierungsdaten ausgewählt. Sauberer wäre, auch das per Cross-Validation zu machen und die Validierungsdaten wirklich nur für die Endauswahl zu verwenden.
[Klick] Und drittens hätten wir früher in Merkmale investieren sollen. Rechts seht ihr den Titel aus unserer EDA: „Master“ war die Anrede für Jungen. Wenn wir den Titel als Merkmal dazunehmen, werden alle vier Modelle um zwei bis vier Prozentpunkte besser – mehr, als jedes Tuning gebracht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 Vorgehen also noch einmal in drei Sätzen.
[Klick] Erst verstehen: Jede Entscheidung, die wir getroffen haben, lässt sich auf etwas in der Datenanalyse zurückführen.
[Klick] Gleiche Spielregeln: Nur so kann man vier Modelle von vier Leuten fair miteinander vergleichen.
[Klick] Und: Diagnose vor Tuning – und bessere Merkmale vor komplexeren Modellen.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Danke fürs Zuhören – wir freuen uns auf eure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329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7498080" cy="1737360"/>
          </a:xfrm>
          <a:prstGeom prst="rect">
            <a:avLst/>
          </a:prstGeom>
          <a:noFill/>
          <a:ln/>
        </p:spPr>
        <p:txBody>
          <a:bodyPr wrap="square" rtlCol="0"/>
          <a:lstStyle>
            <a:lvl1pPr algn="l" indent="0" marL="0">
              <a:buNone/>
              <a:defRPr lang="en-US" sz="5400"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822960" y="3749040"/>
            <a:ext cx="7498080" cy="822960"/>
          </a:xfrm>
          <a:prstGeom prst="rect">
            <a:avLst/>
          </a:prstGeom>
          <a:noFill/>
          <a:ln/>
        </p:spPr>
        <p:txBody>
          <a:bodyPr wrap="square" rtlCol="0"/>
          <a:lstStyle>
            <a:lvl1pPr indent="0" marL="0">
              <a:buNone/>
              <a:defRPr lang="en-US" sz="2200" dirty="0">
                <a:solidFill>
                  <a:schemeClr val="accent4"/>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329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965960"/>
            <a:ext cx="2743200" cy="457200"/>
          </a:xfrm>
          <a:prstGeom prst="rect">
            <a:avLst/>
          </a:prstGeom>
          <a:noFill/>
          <a:ln/>
        </p:spPr>
        <p:txBody>
          <a:bodyPr wrap="square" rtlCol="0"/>
          <a:lstStyle>
            <a:lvl1pPr indent="0" marL="0">
              <a:buNone/>
              <a:defRPr lang="en-US" sz="1800" b="1" spc="300" kern="0" dirty="0">
                <a:solidFill>
                  <a:schemeClr val="accent1"/>
                </a:solidFill>
              </a:defRPr>
            </a:lvl1pPr>
          </a:lstStyle>
          <a:p>
            <a:pPr indent="0" marL="0">
              <a:buNone/>
            </a:pPr>
            <a:endParaRPr lang="en-US" sz="1800" dirty="0"/>
          </a:p>
        </p:txBody>
      </p:sp>
      <p:sp>
        <p:nvSpPr>
          <p:cNvPr id="3" name="Text 0"/>
          <p:cNvSpPr/>
          <p:nvPr>
            <p:ph idx="101" type="title" hasCustomPrompt="1"/>
          </p:nvPr>
        </p:nvSpPr>
        <p:spPr>
          <a:xfrm>
            <a:off x="822960" y="2514600"/>
            <a:ext cx="7315200" cy="1097280"/>
          </a:xfrm>
          <a:prstGeom prst="rect">
            <a:avLst/>
          </a:prstGeom>
          <a:noFill/>
          <a:ln/>
        </p:spPr>
        <p:txBody>
          <a:bodyPr wrap="square" rtlCol="0"/>
          <a:lstStyle>
            <a:lvl1pPr algn="l" indent="0" marL="0">
              <a:buNone/>
              <a:defRPr lang="en-US" sz="4800"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822960" y="3703320"/>
            <a:ext cx="7315200" cy="640080"/>
          </a:xfrm>
          <a:prstGeom prst="rect">
            <a:avLst/>
          </a:prstGeom>
          <a:noFill/>
          <a:ln/>
        </p:spPr>
        <p:txBody>
          <a:bodyPr wrap="square" rtlCol="0"/>
          <a:lstStyle>
            <a:lvl1pPr indent="0" marL="0">
              <a:buNone/>
              <a:defRPr lang="en-US" sz="2200" dirty="0">
                <a:solidFill>
                  <a:schemeClr val="accent4"/>
                </a:solidFill>
              </a:defRPr>
            </a:lvl1pPr>
          </a:lstStyle>
          <a:p>
            <a:pPr indent="0" marL="0">
              <a:buNone/>
            </a:pPr>
            <a:endParaRPr lang="en-US" sz="22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C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329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822960"/>
            <a:ext cx="10515600" cy="914400"/>
          </a:xfrm>
          <a:prstGeom prst="rect">
            <a:avLst/>
          </a:prstGeom>
          <a:noFill/>
          <a:ln/>
        </p:spPr>
        <p:txBody>
          <a:bodyPr wrap="square" rtlCol="0"/>
          <a:lstStyle>
            <a:lvl1pPr algn="l" indent="0" marL="0">
              <a:buNone/>
              <a:defRPr lang="en-US" sz="4000" dirty="0">
                <a:solidFill>
                  <a:schemeClr val="bg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C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C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7498080" cy="1737360"/>
          </a:xfrm>
          <a:prstGeom prst="rect">
            <a:avLst/>
          </a:prstGeom>
          <a:noFill/>
          <a:ln/>
        </p:spPr>
        <p:txBody>
          <a:bodyPr wrap="square" lIns="0" tIns="0" rIns="0" bIns="0" rtlCol="0" anchor="b"/>
          <a:lstStyle/>
          <a:p>
            <a:pPr algn="l" indent="0" marL="0">
              <a:buNone/>
            </a:pPr>
            <a:r>
              <a:rPr lang="en-US" sz="5400" dirty="0">
                <a:solidFill>
                  <a:schemeClr val="bg1"/>
                </a:solidFill>
              </a:rPr>
              <a:t>Titanic: Unser Weg zum Modell</a:t>
            </a:r>
            <a:endParaRPr lang="en-US" sz="5400" dirty="0"/>
          </a:p>
        </p:txBody>
      </p:sp>
      <p:sp>
        <p:nvSpPr>
          <p:cNvPr id="3" name="Text 0"/>
          <p:cNvSpPr/>
          <p:nvPr>
            <p:ph idx="101" type="body" hasCustomPrompt="1"/>
          </p:nvPr>
        </p:nvSpPr>
        <p:spPr>
          <a:xfrm>
            <a:off x="822960" y="3749040"/>
            <a:ext cx="7498080" cy="822960"/>
          </a:xfrm>
          <a:prstGeom prst="rect">
            <a:avLst/>
          </a:prstGeom>
          <a:noFill/>
          <a:ln/>
        </p:spPr>
        <p:txBody>
          <a:bodyPr wrap="square" lIns="0" tIns="0" rIns="0" bIns="0" rtlCol="0" anchor="t"/>
          <a:lstStyle/>
          <a:p>
            <a:pPr indent="0" marL="0">
              <a:buNone/>
            </a:pPr>
            <a:r>
              <a:rPr lang="en-US" sz="2200" dirty="0">
                <a:solidFill>
                  <a:schemeClr val="accent4"/>
                </a:solidFill>
              </a:rPr>
              <a:t>Wie wir an das Problem herangegangen sind – und warum</a:t>
            </a:r>
            <a:endParaRPr lang="en-US" sz="2200" dirty="0"/>
          </a:p>
        </p:txBody>
      </p:sp>
      <p:pic>
        <p:nvPicPr>
          <p:cNvPr id="4" name="title_icon" descr="preencoded.png">    </p:cNvPr>
          <p:cNvPicPr>
            <a:picLocks noChangeAspect="1"/>
          </p:cNvPicPr>
          <p:nvPr/>
        </p:nvPicPr>
        <p:blipFill>
          <a:blip r:embed="rId1"/>
          <a:stretch>
            <a:fillRect/>
          </a:stretch>
        </p:blipFill>
        <p:spPr>
          <a:xfrm>
            <a:off x="8138160" y="1097280"/>
            <a:ext cx="4206240" cy="4206240"/>
          </a:xfrm>
          <a:prstGeom prst="rect">
            <a:avLst/>
          </a:prstGeom>
        </p:spPr>
      </p:pic>
      <p:sp>
        <p:nvSpPr>
          <p:cNvPr id="5" name="Text 2"/>
          <p:cNvSpPr txBox="1"/>
          <p:nvPr/>
        </p:nvSpPr>
        <p:spPr>
          <a:xfrm>
            <a:off x="822960" y="5394960"/>
            <a:ext cx="7315200" cy="731520"/>
          </a:xfrm>
          <a:prstGeom prst="rect">
            <a:avLst/>
          </a:prstGeom>
          <a:noFill/>
          <a:ln/>
        </p:spPr>
        <p:txBody>
          <a:bodyPr wrap="square" lIns="0" tIns="0" rIns="0" bIns="0" rtlCol="0" anchor="ctr"/>
          <a:lstStyle/>
          <a:p>
            <a:pPr indent="0" marL="0">
              <a:spcAft>
                <a:spcPts val="400"/>
              </a:spcAft>
              <a:buNone/>
            </a:pPr>
            <a:r>
              <a:rPr lang="en-US" sz="1400" dirty="0">
                <a:solidFill>
                  <a:srgbClr val="A9B8C6"/>
                </a:solidFill>
              </a:rPr>
              <a:t>Fallstudie Data Science Management · WS 2026/27</a:t>
            </a:r>
            <a:endParaRPr lang="en-US" sz="1400" dirty="0"/>
          </a:p>
          <a:p>
            <a:pPr indent="0" marL="0">
              <a:spcAft>
                <a:spcPts val="400"/>
              </a:spcAft>
              <a:buNone/>
            </a:pPr>
            <a:r>
              <a:rPr lang="en-US" sz="1400" dirty="0">
                <a:solidFill>
                  <a:srgbClr val="A9B8C6"/>
                </a:solidFill>
              </a:rPr>
              <a:t>Urlacher · Hubmann · Gruener · Krennhans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VORGEHEN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Unser Fahrplan: CRISP-DM</a:t>
            </a:r>
            <a:endParaRPr lang="en-US" sz="3200" dirty="0"/>
          </a:p>
        </p:txBody>
      </p:sp>
      <p:sp>
        <p:nvSpPr>
          <p:cNvPr id="4" name="flow_box"/>
          <p:cNvSpPr/>
          <p:nvPr/>
        </p:nvSpPr>
        <p:spPr>
          <a:xfrm>
            <a:off x="640080" y="2011680"/>
            <a:ext cx="1584960" cy="960120"/>
          </a:xfrm>
          <a:prstGeom prst="roundRect">
            <a:avLst>
              <a:gd name="adj" fmla="val 9524"/>
            </a:avLst>
          </a:prstGeom>
          <a:solidFill>
            <a:srgbClr val="EEF2F5"/>
          </a:solidFill>
          <a:ln/>
        </p:spPr>
        <p:txBody>
          <a:bodyPr wrap="square" lIns="635" tIns="635" rIns="635" bIns="635" rtlCol="0" anchor="ctr"/>
          <a:lstStyle/>
          <a:p>
            <a:pPr algn="ctr" indent="0" marL="0">
              <a:buNone/>
            </a:pPr>
            <a:r>
              <a:rPr lang="en-US" sz="1500" dirty="0">
                <a:solidFill>
                  <a:srgbClr val="1B2B3A"/>
                </a:solidFill>
                <a:latin typeface="Cambria" pitchFamily="34" charset="0"/>
                <a:ea typeface="Cambria" pitchFamily="34" charset="-122"/>
                <a:cs typeface="Cambria" pitchFamily="34" charset="-120"/>
              </a:rPr>
              <a:t>Business Understanding</a:t>
            </a:r>
            <a:endParaRPr lang="en-US" sz="1500" dirty="0"/>
          </a:p>
        </p:txBody>
      </p:sp>
      <p:sp>
        <p:nvSpPr>
          <p:cNvPr id="5" name="flow_sub"/>
          <p:cNvSpPr txBox="1"/>
          <p:nvPr/>
        </p:nvSpPr>
        <p:spPr>
          <a:xfrm>
            <a:off x="640080" y="3081528"/>
            <a:ext cx="1584960" cy="685800"/>
          </a:xfrm>
          <a:prstGeom prst="rect">
            <a:avLst/>
          </a:prstGeom>
          <a:noFill/>
          <a:ln/>
        </p:spPr>
        <p:txBody>
          <a:bodyPr wrap="square" lIns="0" tIns="0" rIns="0" bIns="0" rtlCol="0" anchor="t"/>
          <a:lstStyle/>
          <a:p>
            <a:pPr algn="ctr" indent="0" marL="0">
              <a:buNone/>
            </a:pPr>
            <a:r>
              <a:rPr lang="en-US" sz="1300" dirty="0">
                <a:solidFill>
                  <a:srgbClr val="5A6B7B"/>
                </a:solidFill>
              </a:rPr>
              <a:t>Frage und Erfolgskriterien</a:t>
            </a:r>
            <a:endParaRPr lang="en-US" sz="1300" dirty="0"/>
          </a:p>
        </p:txBody>
      </p:sp>
      <p:sp>
        <p:nvSpPr>
          <p:cNvPr id="6" name="flow_arrow"/>
          <p:cNvSpPr/>
          <p:nvPr/>
        </p:nvSpPr>
        <p:spPr>
          <a:xfrm>
            <a:off x="2289048" y="2491740"/>
            <a:ext cx="146304" cy="0"/>
          </a:xfrm>
          <a:prstGeom prst="line">
            <a:avLst/>
          </a:prstGeom>
          <a:noFill/>
          <a:ln w="15875">
            <a:solidFill>
              <a:srgbClr val="8FA9BE"/>
            </a:solidFill>
            <a:prstDash val="solid"/>
            <a:tailEnd type="triangle"/>
          </a:ln>
        </p:spPr>
      </p:sp>
      <p:sp>
        <p:nvSpPr>
          <p:cNvPr id="7" name="flow_box"/>
          <p:cNvSpPr/>
          <p:nvPr/>
        </p:nvSpPr>
        <p:spPr>
          <a:xfrm>
            <a:off x="2499360" y="2011680"/>
            <a:ext cx="1584960" cy="960120"/>
          </a:xfrm>
          <a:prstGeom prst="roundRect">
            <a:avLst>
              <a:gd name="adj" fmla="val 9524"/>
            </a:avLst>
          </a:prstGeom>
          <a:solidFill>
            <a:srgbClr val="EEF2F5"/>
          </a:solidFill>
          <a:ln/>
        </p:spPr>
        <p:txBody>
          <a:bodyPr wrap="square" lIns="635" tIns="635" rIns="635" bIns="635" rtlCol="0" anchor="ctr"/>
          <a:lstStyle/>
          <a:p>
            <a:pPr algn="ctr" indent="0" marL="0">
              <a:buNone/>
            </a:pPr>
            <a:r>
              <a:rPr lang="en-US" sz="1500" dirty="0">
                <a:solidFill>
                  <a:srgbClr val="1B2B3A"/>
                </a:solidFill>
                <a:latin typeface="Cambria" pitchFamily="34" charset="0"/>
                <a:ea typeface="Cambria" pitchFamily="34" charset="-122"/>
                <a:cs typeface="Cambria" pitchFamily="34" charset="-120"/>
              </a:rPr>
              <a:t>Data Understanding</a:t>
            </a:r>
            <a:endParaRPr lang="en-US" sz="1500" dirty="0"/>
          </a:p>
        </p:txBody>
      </p:sp>
      <p:sp>
        <p:nvSpPr>
          <p:cNvPr id="8" name="flow_sub"/>
          <p:cNvSpPr txBox="1"/>
          <p:nvPr/>
        </p:nvSpPr>
        <p:spPr>
          <a:xfrm>
            <a:off x="2499360" y="3081528"/>
            <a:ext cx="1584960" cy="685800"/>
          </a:xfrm>
          <a:prstGeom prst="rect">
            <a:avLst/>
          </a:prstGeom>
          <a:noFill/>
          <a:ln/>
        </p:spPr>
        <p:txBody>
          <a:bodyPr wrap="square" lIns="0" tIns="0" rIns="0" bIns="0" rtlCol="0" anchor="t"/>
          <a:lstStyle/>
          <a:p>
            <a:pPr algn="ctr" indent="0" marL="0">
              <a:buNone/>
            </a:pPr>
            <a:r>
              <a:rPr lang="en-US" sz="1300" dirty="0">
                <a:solidFill>
                  <a:srgbClr val="5A6B7B"/>
                </a:solidFill>
              </a:rPr>
              <a:t>Explorative Analyse</a:t>
            </a:r>
            <a:endParaRPr lang="en-US" sz="1300" dirty="0"/>
          </a:p>
        </p:txBody>
      </p:sp>
      <p:sp>
        <p:nvSpPr>
          <p:cNvPr id="9" name="flow_arrow"/>
          <p:cNvSpPr/>
          <p:nvPr/>
        </p:nvSpPr>
        <p:spPr>
          <a:xfrm>
            <a:off x="4148328" y="2491740"/>
            <a:ext cx="146304" cy="0"/>
          </a:xfrm>
          <a:prstGeom prst="line">
            <a:avLst/>
          </a:prstGeom>
          <a:noFill/>
          <a:ln w="15875">
            <a:solidFill>
              <a:srgbClr val="8FA9BE"/>
            </a:solidFill>
            <a:prstDash val="solid"/>
            <a:tailEnd type="triangle"/>
          </a:ln>
        </p:spPr>
      </p:sp>
      <p:sp>
        <p:nvSpPr>
          <p:cNvPr id="10" name="flow_box"/>
          <p:cNvSpPr/>
          <p:nvPr/>
        </p:nvSpPr>
        <p:spPr>
          <a:xfrm>
            <a:off x="4358640" y="2011680"/>
            <a:ext cx="1584960" cy="960120"/>
          </a:xfrm>
          <a:prstGeom prst="roundRect">
            <a:avLst>
              <a:gd name="adj" fmla="val 9524"/>
            </a:avLst>
          </a:prstGeom>
          <a:solidFill>
            <a:srgbClr val="EEF2F5"/>
          </a:solidFill>
          <a:ln/>
        </p:spPr>
        <p:txBody>
          <a:bodyPr wrap="square" lIns="635" tIns="635" rIns="635" bIns="635" rtlCol="0" anchor="ctr"/>
          <a:lstStyle/>
          <a:p>
            <a:pPr algn="ctr" indent="0" marL="0">
              <a:buNone/>
            </a:pPr>
            <a:r>
              <a:rPr lang="en-US" sz="1500" dirty="0">
                <a:solidFill>
                  <a:srgbClr val="1B2B3A"/>
                </a:solidFill>
                <a:latin typeface="Cambria" pitchFamily="34" charset="0"/>
                <a:ea typeface="Cambria" pitchFamily="34" charset="-122"/>
                <a:cs typeface="Cambria" pitchFamily="34" charset="-120"/>
              </a:rPr>
              <a:t>Data Preparation</a:t>
            </a:r>
            <a:endParaRPr lang="en-US" sz="1500" dirty="0"/>
          </a:p>
        </p:txBody>
      </p:sp>
      <p:sp>
        <p:nvSpPr>
          <p:cNvPr id="11" name="flow_sub"/>
          <p:cNvSpPr txBox="1"/>
          <p:nvPr/>
        </p:nvSpPr>
        <p:spPr>
          <a:xfrm>
            <a:off x="4358640" y="3081528"/>
            <a:ext cx="1584960" cy="685800"/>
          </a:xfrm>
          <a:prstGeom prst="rect">
            <a:avLst/>
          </a:prstGeom>
          <a:noFill/>
          <a:ln/>
        </p:spPr>
        <p:txBody>
          <a:bodyPr wrap="square" lIns="0" tIns="0" rIns="0" bIns="0" rtlCol="0" anchor="t"/>
          <a:lstStyle/>
          <a:p>
            <a:pPr algn="ctr" indent="0" marL="0">
              <a:buNone/>
            </a:pPr>
            <a:r>
              <a:rPr lang="en-US" sz="1300" dirty="0">
                <a:solidFill>
                  <a:srgbClr val="5A6B7B"/>
                </a:solidFill>
              </a:rPr>
              <a:t>Eine gemeinsame Pipeline</a:t>
            </a:r>
            <a:endParaRPr lang="en-US" sz="1300" dirty="0"/>
          </a:p>
        </p:txBody>
      </p:sp>
      <p:sp>
        <p:nvSpPr>
          <p:cNvPr id="12" name="flow_arrow"/>
          <p:cNvSpPr/>
          <p:nvPr/>
        </p:nvSpPr>
        <p:spPr>
          <a:xfrm>
            <a:off x="6007608" y="2491740"/>
            <a:ext cx="146304" cy="0"/>
          </a:xfrm>
          <a:prstGeom prst="line">
            <a:avLst/>
          </a:prstGeom>
          <a:noFill/>
          <a:ln w="15875">
            <a:solidFill>
              <a:srgbClr val="8FA9BE"/>
            </a:solidFill>
            <a:prstDash val="solid"/>
            <a:tailEnd type="triangle"/>
          </a:ln>
        </p:spPr>
      </p:sp>
      <p:sp>
        <p:nvSpPr>
          <p:cNvPr id="13" name="flow_box"/>
          <p:cNvSpPr/>
          <p:nvPr/>
        </p:nvSpPr>
        <p:spPr>
          <a:xfrm>
            <a:off x="6217920" y="2011680"/>
            <a:ext cx="1584960" cy="960120"/>
          </a:xfrm>
          <a:prstGeom prst="roundRect">
            <a:avLst>
              <a:gd name="adj" fmla="val 9524"/>
            </a:avLst>
          </a:prstGeom>
          <a:solidFill>
            <a:srgbClr val="EEF2F5"/>
          </a:solidFill>
          <a:ln/>
        </p:spPr>
        <p:txBody>
          <a:bodyPr wrap="square" lIns="635" tIns="635" rIns="635" bIns="635" rtlCol="0" anchor="ctr"/>
          <a:lstStyle/>
          <a:p>
            <a:pPr algn="ctr" indent="0" marL="0">
              <a:buNone/>
            </a:pPr>
            <a:r>
              <a:rPr lang="en-US" sz="1500" dirty="0">
                <a:solidFill>
                  <a:srgbClr val="1B2B3A"/>
                </a:solidFill>
                <a:latin typeface="Cambria" pitchFamily="34" charset="0"/>
                <a:ea typeface="Cambria" pitchFamily="34" charset="-122"/>
                <a:cs typeface="Cambria" pitchFamily="34" charset="-120"/>
              </a:rPr>
              <a:t>Modeling</a:t>
            </a:r>
            <a:endParaRPr lang="en-US" sz="1500" dirty="0"/>
          </a:p>
        </p:txBody>
      </p:sp>
      <p:sp>
        <p:nvSpPr>
          <p:cNvPr id="14" name="flow_sub"/>
          <p:cNvSpPr txBox="1"/>
          <p:nvPr/>
        </p:nvSpPr>
        <p:spPr>
          <a:xfrm>
            <a:off x="6217920" y="3081528"/>
            <a:ext cx="1584960" cy="685800"/>
          </a:xfrm>
          <a:prstGeom prst="rect">
            <a:avLst/>
          </a:prstGeom>
          <a:noFill/>
          <a:ln/>
        </p:spPr>
        <p:txBody>
          <a:bodyPr wrap="square" lIns="0" tIns="0" rIns="0" bIns="0" rtlCol="0" anchor="t"/>
          <a:lstStyle/>
          <a:p>
            <a:pPr algn="ctr" indent="0" marL="0">
              <a:buNone/>
            </a:pPr>
            <a:r>
              <a:rPr lang="en-US" sz="1300" dirty="0">
                <a:solidFill>
                  <a:srgbClr val="5A6B7B"/>
                </a:solidFill>
              </a:rPr>
              <a:t>Vier Modelle</a:t>
            </a:r>
            <a:endParaRPr lang="en-US" sz="1300" dirty="0"/>
          </a:p>
        </p:txBody>
      </p:sp>
      <p:sp>
        <p:nvSpPr>
          <p:cNvPr id="15" name="flow_arrow"/>
          <p:cNvSpPr/>
          <p:nvPr/>
        </p:nvSpPr>
        <p:spPr>
          <a:xfrm>
            <a:off x="7866888" y="2491740"/>
            <a:ext cx="146304" cy="0"/>
          </a:xfrm>
          <a:prstGeom prst="line">
            <a:avLst/>
          </a:prstGeom>
          <a:noFill/>
          <a:ln w="15875">
            <a:solidFill>
              <a:srgbClr val="8FA9BE"/>
            </a:solidFill>
            <a:prstDash val="solid"/>
            <a:tailEnd type="triangle"/>
          </a:ln>
        </p:spPr>
      </p:sp>
      <p:sp>
        <p:nvSpPr>
          <p:cNvPr id="16" name="flow_box"/>
          <p:cNvSpPr/>
          <p:nvPr/>
        </p:nvSpPr>
        <p:spPr>
          <a:xfrm>
            <a:off x="8077200" y="2011680"/>
            <a:ext cx="1584960" cy="960120"/>
          </a:xfrm>
          <a:prstGeom prst="roundRect">
            <a:avLst>
              <a:gd name="adj" fmla="val 9524"/>
            </a:avLst>
          </a:prstGeom>
          <a:solidFill>
            <a:srgbClr val="EEF2F5"/>
          </a:solidFill>
          <a:ln/>
        </p:spPr>
        <p:txBody>
          <a:bodyPr wrap="square" lIns="635" tIns="635" rIns="635" bIns="635" rtlCol="0" anchor="ctr"/>
          <a:lstStyle/>
          <a:p>
            <a:pPr algn="ctr" indent="0" marL="0">
              <a:buNone/>
            </a:pPr>
            <a:r>
              <a:rPr lang="en-US" sz="1500" dirty="0">
                <a:solidFill>
                  <a:srgbClr val="1B2B3A"/>
                </a:solidFill>
                <a:latin typeface="Cambria" pitchFamily="34" charset="0"/>
                <a:ea typeface="Cambria" pitchFamily="34" charset="-122"/>
                <a:cs typeface="Cambria" pitchFamily="34" charset="-120"/>
              </a:rPr>
              <a:t>Evaluation</a:t>
            </a:r>
            <a:endParaRPr lang="en-US" sz="1500" dirty="0"/>
          </a:p>
        </p:txBody>
      </p:sp>
      <p:sp>
        <p:nvSpPr>
          <p:cNvPr id="17" name="flow_sub"/>
          <p:cNvSpPr txBox="1"/>
          <p:nvPr/>
        </p:nvSpPr>
        <p:spPr>
          <a:xfrm>
            <a:off x="8077200" y="3081528"/>
            <a:ext cx="1584960" cy="685800"/>
          </a:xfrm>
          <a:prstGeom prst="rect">
            <a:avLst/>
          </a:prstGeom>
          <a:noFill/>
          <a:ln/>
        </p:spPr>
        <p:txBody>
          <a:bodyPr wrap="square" lIns="0" tIns="0" rIns="0" bIns="0" rtlCol="0" anchor="t"/>
          <a:lstStyle/>
          <a:p>
            <a:pPr algn="ctr" indent="0" marL="0">
              <a:buNone/>
            </a:pPr>
            <a:r>
              <a:rPr lang="en-US" sz="1300" dirty="0">
                <a:solidFill>
                  <a:srgbClr val="5A6B7B"/>
                </a:solidFill>
              </a:rPr>
              <a:t>Vergleich und Auswahl</a:t>
            </a:r>
            <a:endParaRPr lang="en-US" sz="1300" dirty="0"/>
          </a:p>
        </p:txBody>
      </p:sp>
      <p:sp>
        <p:nvSpPr>
          <p:cNvPr id="18" name="flow_arrow"/>
          <p:cNvSpPr/>
          <p:nvPr/>
        </p:nvSpPr>
        <p:spPr>
          <a:xfrm>
            <a:off x="9726168" y="2491740"/>
            <a:ext cx="146304" cy="0"/>
          </a:xfrm>
          <a:prstGeom prst="line">
            <a:avLst/>
          </a:prstGeom>
          <a:noFill/>
          <a:ln w="15875">
            <a:solidFill>
              <a:srgbClr val="8FA9BE"/>
            </a:solidFill>
            <a:prstDash val="solid"/>
            <a:tailEnd type="triangle"/>
          </a:ln>
        </p:spPr>
      </p:sp>
      <p:sp>
        <p:nvSpPr>
          <p:cNvPr id="19" name="flow_box"/>
          <p:cNvSpPr/>
          <p:nvPr/>
        </p:nvSpPr>
        <p:spPr>
          <a:xfrm>
            <a:off x="9936480" y="2011680"/>
            <a:ext cx="1584960" cy="960120"/>
          </a:xfrm>
          <a:prstGeom prst="roundRect">
            <a:avLst>
              <a:gd name="adj" fmla="val 9524"/>
            </a:avLst>
          </a:prstGeom>
          <a:solidFill>
            <a:srgbClr val="FFFFFF"/>
          </a:solidFill>
          <a:ln w="12700">
            <a:solidFill>
              <a:srgbClr val="B9C2CA"/>
            </a:solidFill>
            <a:prstDash val="dash"/>
          </a:ln>
        </p:spPr>
        <p:txBody>
          <a:bodyPr wrap="square" lIns="635" tIns="635" rIns="635" bIns="635" rtlCol="0" anchor="ctr"/>
          <a:lstStyle/>
          <a:p>
            <a:pPr algn="ctr" indent="0" marL="0">
              <a:buNone/>
            </a:pPr>
            <a:r>
              <a:rPr lang="en-US" sz="1500" dirty="0">
                <a:solidFill>
                  <a:srgbClr val="8A96A3"/>
                </a:solidFill>
                <a:latin typeface="Cambria" pitchFamily="34" charset="0"/>
                <a:ea typeface="Cambria" pitchFamily="34" charset="-122"/>
                <a:cs typeface="Cambria" pitchFamily="34" charset="-120"/>
              </a:rPr>
              <a:t>Deployment</a:t>
            </a:r>
            <a:endParaRPr lang="en-US" sz="1500" dirty="0"/>
          </a:p>
        </p:txBody>
      </p:sp>
      <p:sp>
        <p:nvSpPr>
          <p:cNvPr id="20" name="flow_sub"/>
          <p:cNvSpPr txBox="1"/>
          <p:nvPr/>
        </p:nvSpPr>
        <p:spPr>
          <a:xfrm>
            <a:off x="9936480" y="3081528"/>
            <a:ext cx="1584960" cy="685800"/>
          </a:xfrm>
          <a:prstGeom prst="rect">
            <a:avLst/>
          </a:prstGeom>
          <a:noFill/>
          <a:ln/>
        </p:spPr>
        <p:txBody>
          <a:bodyPr wrap="square" lIns="0" tIns="0" rIns="0" bIns="0" rtlCol="0" anchor="t"/>
          <a:lstStyle/>
          <a:p>
            <a:pPr algn="ctr" indent="0" marL="0">
              <a:buNone/>
            </a:pPr>
            <a:r>
              <a:rPr lang="en-US" sz="1300" dirty="0">
                <a:solidFill>
                  <a:srgbClr val="8A96A3"/>
                </a:solidFill>
              </a:rPr>
              <a:t>nicht Teil der Aufgabe</a:t>
            </a:r>
            <a:endParaRPr lang="en-US" sz="1300" dirty="0"/>
          </a:p>
        </p:txBody>
      </p:sp>
      <p:sp>
        <p:nvSpPr>
          <p:cNvPr id="21" name="anim_lines"/>
          <p:cNvSpPr txBox="1"/>
          <p:nvPr/>
        </p:nvSpPr>
        <p:spPr>
          <a:xfrm>
            <a:off x="640080" y="4343400"/>
            <a:ext cx="10881360" cy="1463040"/>
          </a:xfrm>
          <a:prstGeom prst="rect">
            <a:avLst/>
          </a:prstGeom>
          <a:noFill/>
          <a:ln/>
        </p:spPr>
        <p:txBody>
          <a:bodyPr wrap="square" lIns="0" tIns="0" rIns="0" bIns="0" rtlCol="0" anchor="t"/>
          <a:lstStyle/>
          <a:p>
            <a:pPr indent="0" marL="0">
              <a:spcAft>
                <a:spcPts val="1600"/>
              </a:spcAft>
              <a:buNone/>
            </a:pPr>
            <a:r>
              <a:rPr lang="en-US" sz="2000" b="1" dirty="0">
                <a:solidFill>
                  <a:srgbClr val="1B2B3A"/>
                </a:solidFill>
              </a:rPr>
              <a:t>Jeder Schritt baut auf dem vorherigen auf</a:t>
            </a:r>
            <a:endParaRPr lang="en-US" sz="2000" dirty="0"/>
          </a:p>
          <a:p>
            <a:pPr indent="0" marL="0">
              <a:spcAft>
                <a:spcPts val="1600"/>
              </a:spcAft>
              <a:buNone/>
            </a:pPr>
            <a:r>
              <a:rPr lang="en-US" sz="2000" dirty="0">
                <a:solidFill>
                  <a:srgbClr val="1B2B3A"/>
                </a:solidFill>
              </a:rPr>
              <a:t>Jede spätere Entscheidung soll sich mit etwas aus den Daten </a:t>
            </a:r>
            <a:pPr indent="0" marL="0">
              <a:spcAft>
                <a:spcPts val="1600"/>
              </a:spcAft>
              <a:buNone/>
            </a:pPr>
            <a:r>
              <a:rPr lang="en-US" sz="2000" b="1" dirty="0">
                <a:solidFill>
                  <a:srgbClr val="1B2B3A"/>
                </a:solidFill>
              </a:rPr>
              <a:t>begründen</a:t>
            </a:r>
            <a:pPr indent="0" marL="0">
              <a:spcAft>
                <a:spcPts val="1600"/>
              </a:spcAft>
              <a:buNone/>
            </a:pPr>
            <a:r>
              <a:rPr lang="en-US" sz="2000" dirty="0">
                <a:solidFill>
                  <a:srgbClr val="1B2B3A"/>
                </a:solidFill>
              </a:rPr>
              <a:t> lassen</a:t>
            </a:r>
            <a:endParaRPr lang="en-US" sz="20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4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400"/>
                                        <p:tgtEl>
                                          <p:spTgt spid="2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VORGEHEN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Arbeitsteilung mit gemeinsamer Basis</a:t>
            </a:r>
            <a:endParaRPr lang="en-US" sz="3200" dirty="0"/>
          </a:p>
        </p:txBody>
      </p:sp>
      <p:sp>
        <p:nvSpPr>
          <p:cNvPr id="4" name="team_base"/>
          <p:cNvSpPr/>
          <p:nvPr/>
        </p:nvSpPr>
        <p:spPr>
          <a:xfrm>
            <a:off x="640080" y="2148840"/>
            <a:ext cx="3017520" cy="1371600"/>
          </a:xfrm>
          <a:prstGeom prst="roundRect">
            <a:avLst>
              <a:gd name="adj" fmla="val 6667"/>
            </a:avLst>
          </a:prstGeom>
          <a:solidFill>
            <a:srgbClr val="EEF2F5"/>
          </a:solidFill>
          <a:ln/>
        </p:spPr>
        <p:txBody>
          <a:bodyPr wrap="square" rtlCol="0" anchor="ctr"/>
          <a:lstStyle/>
          <a:p>
            <a:pPr algn="ctr" indent="0" marL="0">
              <a:buNone/>
            </a:pPr>
            <a:r>
              <a:rPr lang="en-US" sz="1800" b="1" dirty="0">
                <a:solidFill>
                  <a:srgbClr val="1B2B3A"/>
                </a:solidFill>
              </a:rPr>
              <a:t>Gemeinsame Basis</a:t>
            </a:r>
            <a:endParaRPr lang="en-US" sz="1800" dirty="0"/>
          </a:p>
          <a:p>
            <a:pPr algn="ctr" indent="0" marL="0">
              <a:buNone/>
            </a:pPr>
            <a:r>
              <a:rPr lang="en-US" sz="1300" dirty="0">
                <a:solidFill>
                  <a:srgbClr val="5A6B7B"/>
                </a:solidFill>
              </a:rPr>
              <a:t>EDA · Pipeline · Split · Kennzahlen</a:t>
            </a:r>
            <a:endParaRPr lang="en-US" sz="1800" dirty="0"/>
          </a:p>
        </p:txBody>
      </p:sp>
      <p:sp>
        <p:nvSpPr>
          <p:cNvPr id="5" name="team_model"/>
          <p:cNvSpPr/>
          <p:nvPr/>
        </p:nvSpPr>
        <p:spPr>
          <a:xfrm>
            <a:off x="4434840" y="1691640"/>
            <a:ext cx="3291840" cy="475488"/>
          </a:xfrm>
          <a:prstGeom prst="roundRect">
            <a:avLst>
              <a:gd name="adj" fmla="val 15385"/>
            </a:avLst>
          </a:prstGeom>
          <a:solidFill>
            <a:srgbClr val="3E6E8E"/>
          </a:solidFill>
          <a:ln/>
        </p:spPr>
        <p:txBody>
          <a:bodyPr wrap="square" rtlCol="0" anchor="ctr"/>
          <a:lstStyle/>
          <a:p>
            <a:pPr algn="ctr" indent="0" marL="0">
              <a:buNone/>
            </a:pPr>
            <a:r>
              <a:rPr lang="en-US" sz="1500" dirty="0">
                <a:solidFill>
                  <a:srgbClr val="FFFFFF"/>
                </a:solidFill>
              </a:rPr>
              <a:t>Logistische Regression</a:t>
            </a:r>
            <a:endParaRPr lang="en-US" sz="1500" dirty="0"/>
          </a:p>
        </p:txBody>
      </p:sp>
      <p:sp>
        <p:nvSpPr>
          <p:cNvPr id="6" name="team_line"/>
          <p:cNvSpPr/>
          <p:nvPr/>
        </p:nvSpPr>
        <p:spPr>
          <a:xfrm flipV="1">
            <a:off x="3657600" y="1929384"/>
            <a:ext cx="777240" cy="905256"/>
          </a:xfrm>
          <a:prstGeom prst="line">
            <a:avLst/>
          </a:prstGeom>
          <a:noFill/>
          <a:ln w="12700">
            <a:solidFill>
              <a:srgbClr val="B9C2CA"/>
            </a:solidFill>
            <a:prstDash val="solid"/>
          </a:ln>
        </p:spPr>
      </p:sp>
      <p:sp>
        <p:nvSpPr>
          <p:cNvPr id="7" name="team_line"/>
          <p:cNvSpPr/>
          <p:nvPr/>
        </p:nvSpPr>
        <p:spPr>
          <a:xfrm>
            <a:off x="7726680" y="1929384"/>
            <a:ext cx="777240" cy="905256"/>
          </a:xfrm>
          <a:prstGeom prst="line">
            <a:avLst/>
          </a:prstGeom>
          <a:noFill/>
          <a:ln w="12700">
            <a:solidFill>
              <a:srgbClr val="B9C2CA"/>
            </a:solidFill>
            <a:prstDash val="solid"/>
          </a:ln>
        </p:spPr>
      </p:sp>
      <p:sp>
        <p:nvSpPr>
          <p:cNvPr id="8" name="team_model"/>
          <p:cNvSpPr/>
          <p:nvPr/>
        </p:nvSpPr>
        <p:spPr>
          <a:xfrm>
            <a:off x="4434840" y="2295144"/>
            <a:ext cx="3291840" cy="475488"/>
          </a:xfrm>
          <a:prstGeom prst="roundRect">
            <a:avLst>
              <a:gd name="adj" fmla="val 15385"/>
            </a:avLst>
          </a:prstGeom>
          <a:solidFill>
            <a:srgbClr val="3E6E8E"/>
          </a:solidFill>
          <a:ln/>
        </p:spPr>
        <p:txBody>
          <a:bodyPr wrap="square" rtlCol="0" anchor="ctr"/>
          <a:lstStyle/>
          <a:p>
            <a:pPr algn="ctr" indent="0" marL="0">
              <a:buNone/>
            </a:pPr>
            <a:r>
              <a:rPr lang="en-US" sz="1500" dirty="0">
                <a:solidFill>
                  <a:srgbClr val="FFFFFF"/>
                </a:solidFill>
              </a:rPr>
              <a:t>Support Vector Machine</a:t>
            </a:r>
            <a:endParaRPr lang="en-US" sz="1500" dirty="0"/>
          </a:p>
        </p:txBody>
      </p:sp>
      <p:sp>
        <p:nvSpPr>
          <p:cNvPr id="9" name="team_line"/>
          <p:cNvSpPr/>
          <p:nvPr/>
        </p:nvSpPr>
        <p:spPr>
          <a:xfrm flipV="1">
            <a:off x="3657600" y="2532888"/>
            <a:ext cx="777240" cy="301752"/>
          </a:xfrm>
          <a:prstGeom prst="line">
            <a:avLst/>
          </a:prstGeom>
          <a:noFill/>
          <a:ln w="12700">
            <a:solidFill>
              <a:srgbClr val="B9C2CA"/>
            </a:solidFill>
            <a:prstDash val="solid"/>
          </a:ln>
        </p:spPr>
      </p:sp>
      <p:sp>
        <p:nvSpPr>
          <p:cNvPr id="10" name="team_line"/>
          <p:cNvSpPr/>
          <p:nvPr/>
        </p:nvSpPr>
        <p:spPr>
          <a:xfrm>
            <a:off x="7726680" y="2532888"/>
            <a:ext cx="777240" cy="301752"/>
          </a:xfrm>
          <a:prstGeom prst="line">
            <a:avLst/>
          </a:prstGeom>
          <a:noFill/>
          <a:ln w="12700">
            <a:solidFill>
              <a:srgbClr val="B9C2CA"/>
            </a:solidFill>
            <a:prstDash val="solid"/>
          </a:ln>
        </p:spPr>
      </p:sp>
      <p:sp>
        <p:nvSpPr>
          <p:cNvPr id="11" name="team_model"/>
          <p:cNvSpPr/>
          <p:nvPr/>
        </p:nvSpPr>
        <p:spPr>
          <a:xfrm>
            <a:off x="4434840" y="2898648"/>
            <a:ext cx="3291840" cy="475488"/>
          </a:xfrm>
          <a:prstGeom prst="roundRect">
            <a:avLst>
              <a:gd name="adj" fmla="val 15385"/>
            </a:avLst>
          </a:prstGeom>
          <a:solidFill>
            <a:srgbClr val="3E6E8E"/>
          </a:solidFill>
          <a:ln/>
        </p:spPr>
        <p:txBody>
          <a:bodyPr wrap="square" rtlCol="0" anchor="ctr"/>
          <a:lstStyle/>
          <a:p>
            <a:pPr algn="ctr" indent="0" marL="0">
              <a:buNone/>
            </a:pPr>
            <a:r>
              <a:rPr lang="en-US" sz="1500" dirty="0">
                <a:solidFill>
                  <a:srgbClr val="FFFFFF"/>
                </a:solidFill>
              </a:rPr>
              <a:t>Random Forest</a:t>
            </a:r>
            <a:endParaRPr lang="en-US" sz="1500" dirty="0"/>
          </a:p>
        </p:txBody>
      </p:sp>
      <p:sp>
        <p:nvSpPr>
          <p:cNvPr id="12" name="team_line"/>
          <p:cNvSpPr/>
          <p:nvPr/>
        </p:nvSpPr>
        <p:spPr>
          <a:xfrm>
            <a:off x="3657600" y="2834640"/>
            <a:ext cx="777240" cy="301752"/>
          </a:xfrm>
          <a:prstGeom prst="line">
            <a:avLst/>
          </a:prstGeom>
          <a:noFill/>
          <a:ln w="12700">
            <a:solidFill>
              <a:srgbClr val="B9C2CA"/>
            </a:solidFill>
            <a:prstDash val="solid"/>
          </a:ln>
        </p:spPr>
      </p:sp>
      <p:sp>
        <p:nvSpPr>
          <p:cNvPr id="13" name="team_line"/>
          <p:cNvSpPr/>
          <p:nvPr/>
        </p:nvSpPr>
        <p:spPr>
          <a:xfrm flipV="1">
            <a:off x="7726680" y="2834640"/>
            <a:ext cx="777240" cy="301752"/>
          </a:xfrm>
          <a:prstGeom prst="line">
            <a:avLst/>
          </a:prstGeom>
          <a:noFill/>
          <a:ln w="12700">
            <a:solidFill>
              <a:srgbClr val="B9C2CA"/>
            </a:solidFill>
            <a:prstDash val="solid"/>
          </a:ln>
        </p:spPr>
      </p:sp>
      <p:sp>
        <p:nvSpPr>
          <p:cNvPr id="14" name="team_model"/>
          <p:cNvSpPr/>
          <p:nvPr/>
        </p:nvSpPr>
        <p:spPr>
          <a:xfrm>
            <a:off x="4434840" y="3502152"/>
            <a:ext cx="3291840" cy="475488"/>
          </a:xfrm>
          <a:prstGeom prst="roundRect">
            <a:avLst>
              <a:gd name="adj" fmla="val 15385"/>
            </a:avLst>
          </a:prstGeom>
          <a:solidFill>
            <a:srgbClr val="3E6E8E"/>
          </a:solidFill>
          <a:ln/>
        </p:spPr>
        <p:txBody>
          <a:bodyPr wrap="square" rtlCol="0" anchor="ctr"/>
          <a:lstStyle/>
          <a:p>
            <a:pPr algn="ctr" indent="0" marL="0">
              <a:buNone/>
            </a:pPr>
            <a:r>
              <a:rPr lang="en-US" sz="1500" dirty="0">
                <a:solidFill>
                  <a:srgbClr val="FFFFFF"/>
                </a:solidFill>
              </a:rPr>
              <a:t>Gradient Boosting</a:t>
            </a:r>
            <a:endParaRPr lang="en-US" sz="1500" dirty="0"/>
          </a:p>
        </p:txBody>
      </p:sp>
      <p:sp>
        <p:nvSpPr>
          <p:cNvPr id="15" name="team_line"/>
          <p:cNvSpPr/>
          <p:nvPr/>
        </p:nvSpPr>
        <p:spPr>
          <a:xfrm>
            <a:off x="3657600" y="2834640"/>
            <a:ext cx="777240" cy="905256"/>
          </a:xfrm>
          <a:prstGeom prst="line">
            <a:avLst/>
          </a:prstGeom>
          <a:noFill/>
          <a:ln w="12700">
            <a:solidFill>
              <a:srgbClr val="B9C2CA"/>
            </a:solidFill>
            <a:prstDash val="solid"/>
          </a:ln>
        </p:spPr>
      </p:sp>
      <p:sp>
        <p:nvSpPr>
          <p:cNvPr id="16" name="team_line"/>
          <p:cNvSpPr/>
          <p:nvPr/>
        </p:nvSpPr>
        <p:spPr>
          <a:xfrm flipV="1">
            <a:off x="7726680" y="2834640"/>
            <a:ext cx="777240" cy="905256"/>
          </a:xfrm>
          <a:prstGeom prst="line">
            <a:avLst/>
          </a:prstGeom>
          <a:noFill/>
          <a:ln w="12700">
            <a:solidFill>
              <a:srgbClr val="B9C2CA"/>
            </a:solidFill>
            <a:prstDash val="solid"/>
          </a:ln>
        </p:spPr>
      </p:sp>
      <p:sp>
        <p:nvSpPr>
          <p:cNvPr id="17" name="team_compare"/>
          <p:cNvSpPr/>
          <p:nvPr/>
        </p:nvSpPr>
        <p:spPr>
          <a:xfrm>
            <a:off x="8503920" y="2148840"/>
            <a:ext cx="3017520" cy="1371600"/>
          </a:xfrm>
          <a:prstGeom prst="roundRect">
            <a:avLst>
              <a:gd name="adj" fmla="val 6667"/>
            </a:avLst>
          </a:prstGeom>
          <a:solidFill>
            <a:srgbClr val="EEF2F5"/>
          </a:solidFill>
          <a:ln/>
        </p:spPr>
        <p:txBody>
          <a:bodyPr wrap="square" rtlCol="0" anchor="ctr"/>
          <a:lstStyle/>
          <a:p>
            <a:pPr algn="ctr" indent="0" marL="0">
              <a:buNone/>
            </a:pPr>
            <a:r>
              <a:rPr lang="en-US" sz="1800" b="1" dirty="0">
                <a:solidFill>
                  <a:srgbClr val="1B2B3A"/>
                </a:solidFill>
              </a:rPr>
              <a:t>Gemeinsamer Vergleich</a:t>
            </a:r>
            <a:endParaRPr lang="en-US" sz="1800" dirty="0"/>
          </a:p>
          <a:p>
            <a:pPr algn="ctr" indent="0" marL="0">
              <a:buNone/>
            </a:pPr>
            <a:r>
              <a:rPr lang="en-US" sz="1300" dirty="0">
                <a:solidFill>
                  <a:srgbClr val="5A6B7B"/>
                </a:solidFill>
              </a:rPr>
              <a:t>gleiche Kennzahlen + Cross-Validation</a:t>
            </a:r>
            <a:endParaRPr lang="en-US" sz="1800" dirty="0"/>
          </a:p>
        </p:txBody>
      </p:sp>
      <p:sp>
        <p:nvSpPr>
          <p:cNvPr id="18" name="anim_lines"/>
          <p:cNvSpPr txBox="1"/>
          <p:nvPr/>
        </p:nvSpPr>
        <p:spPr>
          <a:xfrm>
            <a:off x="640080" y="4343400"/>
            <a:ext cx="10881360" cy="1828800"/>
          </a:xfrm>
          <a:prstGeom prst="rect">
            <a:avLst/>
          </a:prstGeom>
          <a:noFill/>
          <a:ln/>
        </p:spPr>
        <p:txBody>
          <a:bodyPr wrap="square" lIns="0" tIns="0" rIns="0" bIns="0" rtlCol="0" anchor="t"/>
          <a:lstStyle/>
          <a:p>
            <a:pPr indent="0" marL="0">
              <a:spcAft>
                <a:spcPts val="1200"/>
              </a:spcAft>
              <a:buNone/>
            </a:pPr>
            <a:r>
              <a:rPr lang="en-US" sz="1900" b="1" dirty="0">
                <a:solidFill>
                  <a:srgbClr val="1B2B3A"/>
                </a:solidFill>
              </a:rPr>
              <a:t>Erst die Basis</a:t>
            </a:r>
            <a:pPr indent="0" marL="0">
              <a:spcAft>
                <a:spcPts val="1200"/>
              </a:spcAft>
              <a:buNone/>
            </a:pPr>
            <a:r>
              <a:rPr lang="en-US" sz="1900" dirty="0">
                <a:solidFill>
                  <a:srgbClr val="1B2B3A"/>
                </a:solidFill>
              </a:rPr>
              <a:t>, dann jede Person ein Modell</a:t>
            </a:r>
            <a:endParaRPr lang="en-US" sz="1900" dirty="0"/>
          </a:p>
          <a:p>
            <a:pPr indent="0" marL="0">
              <a:spcAft>
                <a:spcPts val="1200"/>
              </a:spcAft>
              <a:buNone/>
            </a:pPr>
            <a:r>
              <a:rPr lang="en-US" sz="1900" dirty="0">
                <a:solidFill>
                  <a:srgbClr val="1B2B3A"/>
                </a:solidFill>
              </a:rPr>
              <a:t>Gleiche Daten, gleicher Split, gleiche Kennzahlen → </a:t>
            </a:r>
            <a:pPr indent="0" marL="0">
              <a:spcAft>
                <a:spcPts val="1200"/>
              </a:spcAft>
              <a:buNone/>
            </a:pPr>
            <a:r>
              <a:rPr lang="en-US" sz="1900" b="1" dirty="0">
                <a:solidFill>
                  <a:srgbClr val="1B2B3A"/>
                </a:solidFill>
              </a:rPr>
              <a:t>fair vergleichbar</a:t>
            </a:r>
            <a:endParaRPr lang="en-US" sz="1900" dirty="0"/>
          </a:p>
          <a:p>
            <a:pPr indent="0" marL="0">
              <a:spcAft>
                <a:spcPts val="1200"/>
              </a:spcAft>
              <a:buNone/>
            </a:pPr>
            <a:r>
              <a:rPr lang="en-US" sz="1900" dirty="0">
                <a:solidFill>
                  <a:srgbClr val="1B2B3A"/>
                </a:solidFill>
              </a:rPr>
              <a:t>Ein Notebook, versioniert mit </a:t>
            </a:r>
            <a:pPr indent="0" marL="0">
              <a:spcAft>
                <a:spcPts val="1200"/>
              </a:spcAft>
              <a:buNone/>
            </a:pPr>
            <a:r>
              <a:rPr lang="en-US" sz="1900" b="1" dirty="0">
                <a:solidFill>
                  <a:srgbClr val="1B2B3A"/>
                </a:solidFill>
              </a:rPr>
              <a:t>Git</a:t>
            </a:r>
            <a:endParaRPr lang="en-US" sz="19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4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4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4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22960" y="1965960"/>
            <a:ext cx="2743200" cy="457200"/>
          </a:xfrm>
          <a:prstGeom prst="rect">
            <a:avLst/>
          </a:prstGeom>
          <a:noFill/>
          <a:ln/>
        </p:spPr>
        <p:txBody>
          <a:bodyPr wrap="square" lIns="0" tIns="0" rIns="0" bIns="0" rtlCol="0" anchor="b"/>
          <a:lstStyle/>
          <a:p>
            <a:pPr indent="0" marL="0">
              <a:buNone/>
            </a:pPr>
            <a:r>
              <a:rPr lang="en-US" sz="1800" b="1" spc="300" kern="0" dirty="0">
                <a:solidFill>
                  <a:schemeClr val="accent1"/>
                </a:solidFill>
              </a:rPr>
              <a:t>01</a:t>
            </a:r>
            <a:endParaRPr lang="en-US" sz="1800" dirty="0"/>
          </a:p>
        </p:txBody>
      </p:sp>
      <p:sp>
        <p:nvSpPr>
          <p:cNvPr id="3" name="Text 0"/>
          <p:cNvSpPr/>
          <p:nvPr>
            <p:ph idx="101" type="title" hasCustomPrompt="1"/>
          </p:nvPr>
        </p:nvSpPr>
        <p:spPr>
          <a:xfrm>
            <a:off x="822960" y="2514600"/>
            <a:ext cx="7315200" cy="1097280"/>
          </a:xfrm>
          <a:prstGeom prst="rect">
            <a:avLst/>
          </a:prstGeom>
          <a:noFill/>
          <a:ln/>
        </p:spPr>
        <p:txBody>
          <a:bodyPr wrap="square" lIns="0" tIns="0" rIns="0" bIns="0" rtlCol="0" anchor="t"/>
          <a:lstStyle/>
          <a:p>
            <a:pPr algn="l" indent="0" marL="0">
              <a:buNone/>
            </a:pPr>
            <a:r>
              <a:rPr lang="en-US" sz="4800" dirty="0">
                <a:solidFill>
                  <a:schemeClr val="bg1"/>
                </a:solidFill>
              </a:rPr>
              <a:t>Daten verstehen</a:t>
            </a:r>
            <a:endParaRPr lang="en-US" sz="4800" dirty="0"/>
          </a:p>
        </p:txBody>
      </p:sp>
      <p:sp>
        <p:nvSpPr>
          <p:cNvPr id="4" name="Text 0"/>
          <p:cNvSpPr/>
          <p:nvPr>
            <p:ph idx="102" type="body" hasCustomPrompt="1"/>
          </p:nvPr>
        </p:nvSpPr>
        <p:spPr>
          <a:xfrm>
            <a:off x="822960" y="3703320"/>
            <a:ext cx="7315200" cy="640080"/>
          </a:xfrm>
          <a:prstGeom prst="rect">
            <a:avLst/>
          </a:prstGeom>
          <a:noFill/>
          <a:ln/>
        </p:spPr>
        <p:txBody>
          <a:bodyPr wrap="square" lIns="0" tIns="0" rIns="0" bIns="0" rtlCol="0" anchor="t"/>
          <a:lstStyle/>
          <a:p>
            <a:pPr indent="0" marL="0">
              <a:buNone/>
            </a:pPr>
            <a:r>
              <a:rPr lang="en-US" sz="2200" dirty="0">
                <a:solidFill>
                  <a:schemeClr val="accent4"/>
                </a:solidFill>
              </a:rPr>
              <a:t>Erst schauen, dann rechnen</a:t>
            </a:r>
            <a:endParaRPr lang="en-US" sz="2200" dirty="0"/>
          </a:p>
        </p:txBody>
      </p:sp>
      <p:pic>
        <p:nvPicPr>
          <p:cNvPr id="5" name="divider_icon" descr="preencoded.png">    </p:cNvPr>
          <p:cNvPicPr>
            <a:picLocks noChangeAspect="1"/>
          </p:cNvPicPr>
          <p:nvPr/>
        </p:nvPicPr>
        <p:blipFill>
          <a:blip r:embed="rId1"/>
          <a:stretch>
            <a:fillRect/>
          </a:stretch>
        </p:blipFill>
        <p:spPr>
          <a:xfrm>
            <a:off x="8412480" y="1783080"/>
            <a:ext cx="2926080" cy="2926080"/>
          </a:xfrm>
          <a:prstGeom prst="rect">
            <a:avLst/>
          </a:prstGeom>
        </p:spPr>
      </p:pic>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C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01 · DATEN VERSTEHEN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Schritt 1: Überblick über alle Merkmale</a:t>
            </a:r>
            <a:endParaRPr lang="en-US" sz="3200" dirty="0"/>
          </a:p>
        </p:txBody>
      </p:sp>
      <p:pic>
        <p:nvPicPr>
          <p:cNvPr id="4" name="nb_plot" descr="/home/claude/work/nbhd/c022_1.png">    </p:cNvPr>
          <p:cNvPicPr>
            <a:picLocks noChangeAspect="1"/>
          </p:cNvPicPr>
          <p:nvPr/>
        </p:nvPicPr>
        <p:blipFill>
          <a:blip r:embed="rId1"/>
          <a:stretch>
            <a:fillRect/>
          </a:stretch>
        </p:blipFill>
        <p:spPr>
          <a:xfrm>
            <a:off x="548640" y="2071375"/>
            <a:ext cx="7406640" cy="3675370"/>
          </a:xfrm>
          <a:prstGeom prst="rect">
            <a:avLst/>
          </a:prstGeom>
        </p:spPr>
      </p:pic>
      <p:sp>
        <p:nvSpPr>
          <p:cNvPr id="5" name="anim_lines"/>
          <p:cNvSpPr txBox="1"/>
          <p:nvPr/>
        </p:nvSpPr>
        <p:spPr>
          <a:xfrm>
            <a:off x="8229600" y="2103120"/>
            <a:ext cx="3383280" cy="3840480"/>
          </a:xfrm>
          <a:prstGeom prst="rect">
            <a:avLst/>
          </a:prstGeom>
          <a:noFill/>
          <a:ln/>
        </p:spPr>
        <p:txBody>
          <a:bodyPr wrap="square" lIns="0" tIns="0" rIns="0" bIns="0" rtlCol="0" anchor="t"/>
          <a:lstStyle/>
          <a:p>
            <a:pPr indent="0" marL="0">
              <a:spcAft>
                <a:spcPts val="1600"/>
              </a:spcAft>
              <a:buNone/>
            </a:pPr>
            <a:r>
              <a:rPr lang="en-US" sz="1800" dirty="0">
                <a:solidFill>
                  <a:srgbClr val="1B2B3A"/>
                </a:solidFill>
              </a:rPr>
              <a:t>Datentyp und </a:t>
            </a:r>
            <a:pPr indent="0" marL="0">
              <a:spcAft>
                <a:spcPts val="1600"/>
              </a:spcAft>
              <a:buNone/>
            </a:pPr>
            <a:r>
              <a:rPr lang="en-US" sz="1800" b="1" dirty="0">
                <a:solidFill>
                  <a:srgbClr val="1B2B3A"/>
                </a:solidFill>
              </a:rPr>
              <a:t>Skalenniveau</a:t>
            </a:r>
            <a:pPr indent="0" marL="0">
              <a:spcAft>
                <a:spcPts val="1600"/>
              </a:spcAft>
              <a:buNone/>
            </a:pPr>
            <a:r>
              <a:rPr lang="en-US" sz="1800" dirty="0">
                <a:solidFill>
                  <a:srgbClr val="1B2B3A"/>
                </a:solidFill>
              </a:rPr>
              <a:t> je Merkmal</a:t>
            </a:r>
            <a:endParaRPr lang="en-US" sz="1800" dirty="0"/>
          </a:p>
          <a:p>
            <a:pPr indent="0" marL="0">
              <a:spcAft>
                <a:spcPts val="1600"/>
              </a:spcAft>
              <a:buNone/>
            </a:pPr>
            <a:r>
              <a:rPr lang="en-US" sz="1800" b="1" dirty="0">
                <a:solidFill>
                  <a:srgbClr val="1B2B3A"/>
                </a:solidFill>
              </a:rPr>
              <a:t>Fehlende Werte</a:t>
            </a:r>
            <a:pPr indent="0" marL="0">
              <a:spcAft>
                <a:spcPts val="1600"/>
              </a:spcAft>
              <a:buNone/>
            </a:pPr>
            <a:r>
              <a:rPr lang="en-US" sz="1800" dirty="0">
                <a:solidFill>
                  <a:srgbClr val="1B2B3A"/>
                </a:solidFill>
              </a:rPr>
              <a:t> zählen: Alter 177, Kabine 687</a:t>
            </a:r>
            <a:endParaRPr lang="en-US" sz="1800" dirty="0"/>
          </a:p>
          <a:p>
            <a:pPr indent="0" marL="0">
              <a:spcAft>
                <a:spcPts val="1600"/>
              </a:spcAft>
              <a:buNone/>
            </a:pPr>
            <a:r>
              <a:rPr lang="en-US" sz="1800" b="1" dirty="0">
                <a:solidFill>
                  <a:srgbClr val="1B2B3A"/>
                </a:solidFill>
              </a:rPr>
              <a:t>Verteilungen</a:t>
            </a:r>
            <a:pPr indent="0" marL="0">
              <a:spcAft>
                <a:spcPts val="1600"/>
              </a:spcAft>
              <a:buNone/>
            </a:pPr>
            <a:r>
              <a:rPr lang="en-US" sz="1800" dirty="0">
                <a:solidFill>
                  <a:srgbClr val="1B2B3A"/>
                </a:solidFill>
              </a:rPr>
              <a:t> ansehen: Ticketpreis stark schief</a:t>
            </a:r>
            <a:endParaRPr lang="en-US" sz="18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4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4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4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01 · DATEN VERSTEHEN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Schritt 2: Ein Merkmal nach dem anderen</a:t>
            </a:r>
            <a:endParaRPr lang="en-US" sz="3200" dirty="0"/>
          </a:p>
        </p:txBody>
      </p:sp>
      <p:pic>
        <p:nvPicPr>
          <p:cNvPr id="4" name="nb_plot" descr="/home/claude/work/nbhd/c026_1.png">    </p:cNvPr>
          <p:cNvPicPr>
            <a:picLocks noChangeAspect="1"/>
          </p:cNvPicPr>
          <p:nvPr/>
        </p:nvPicPr>
        <p:blipFill>
          <a:blip r:embed="rId1"/>
          <a:stretch>
            <a:fillRect/>
          </a:stretch>
        </p:blipFill>
        <p:spPr>
          <a:xfrm>
            <a:off x="758249" y="1691640"/>
            <a:ext cx="4975743" cy="3291840"/>
          </a:xfrm>
          <a:prstGeom prst="rect">
            <a:avLst/>
          </a:prstGeom>
        </p:spPr>
      </p:pic>
      <p:pic>
        <p:nvPicPr>
          <p:cNvPr id="5" name="nb_plot" descr="/home/claude/work/nbhd/c028_1.png">    </p:cNvPr>
          <p:cNvPicPr>
            <a:picLocks noChangeAspect="1"/>
          </p:cNvPicPr>
          <p:nvPr/>
        </p:nvPicPr>
        <p:blipFill>
          <a:blip r:embed="rId2"/>
          <a:stretch>
            <a:fillRect/>
          </a:stretch>
        </p:blipFill>
        <p:spPr>
          <a:xfrm>
            <a:off x="6427529" y="1691640"/>
            <a:ext cx="4975743" cy="3291840"/>
          </a:xfrm>
          <a:prstGeom prst="rect">
            <a:avLst/>
          </a:prstGeom>
        </p:spPr>
      </p:pic>
      <p:sp>
        <p:nvSpPr>
          <p:cNvPr id="6" name="anim_lines"/>
          <p:cNvSpPr txBox="1"/>
          <p:nvPr/>
        </p:nvSpPr>
        <p:spPr>
          <a:xfrm>
            <a:off x="640080" y="5166360"/>
            <a:ext cx="10881360" cy="1097280"/>
          </a:xfrm>
          <a:prstGeom prst="rect">
            <a:avLst/>
          </a:prstGeom>
          <a:noFill/>
          <a:ln/>
        </p:spPr>
        <p:txBody>
          <a:bodyPr wrap="square" lIns="0" tIns="0" rIns="0" bIns="0" rtlCol="0" anchor="t"/>
          <a:lstStyle/>
          <a:p>
            <a:pPr indent="0" marL="0">
              <a:spcAft>
                <a:spcPts val="1000"/>
              </a:spcAft>
              <a:buNone/>
            </a:pPr>
            <a:r>
              <a:rPr lang="en-US" sz="1900" dirty="0">
                <a:solidFill>
                  <a:srgbClr val="1B2B3A"/>
                </a:solidFill>
              </a:rPr>
              <a:t>Überlebensrate je Gruppe – </a:t>
            </a:r>
            <a:pPr indent="0" marL="0">
              <a:spcAft>
                <a:spcPts val="1000"/>
              </a:spcAft>
              <a:buNone/>
            </a:pPr>
            <a:r>
              <a:rPr lang="en-US" sz="1900" b="1" dirty="0">
                <a:solidFill>
                  <a:srgbClr val="1B2B3A"/>
                </a:solidFill>
              </a:rPr>
              <a:t>immer mit Fallzahl n</a:t>
            </a:r>
            <a:endParaRPr lang="en-US" sz="1900" dirty="0"/>
          </a:p>
          <a:p>
            <a:pPr indent="0" marL="0">
              <a:spcAft>
                <a:spcPts val="1000"/>
              </a:spcAft>
              <a:buNone/>
            </a:pPr>
            <a:r>
              <a:rPr lang="en-US" sz="1900" dirty="0">
                <a:solidFill>
                  <a:srgbClr val="1B2B3A"/>
                </a:solidFill>
              </a:rPr>
              <a:t>So sieht man sofort, welche Gruppen </a:t>
            </a:r>
            <a:pPr indent="0" marL="0">
              <a:spcAft>
                <a:spcPts val="1000"/>
              </a:spcAft>
              <a:buNone/>
            </a:pPr>
            <a:r>
              <a:rPr lang="en-US" sz="1900" b="1" dirty="0">
                <a:solidFill>
                  <a:srgbClr val="1B2B3A"/>
                </a:solidFill>
              </a:rPr>
              <a:t>zu klein</a:t>
            </a:r>
            <a:pPr indent="0" marL="0">
              <a:spcAft>
                <a:spcPts val="1000"/>
              </a:spcAft>
              <a:buNone/>
            </a:pPr>
            <a:r>
              <a:rPr lang="en-US" sz="1900" dirty="0">
                <a:solidFill>
                  <a:srgbClr val="1B2B3A"/>
                </a:solidFill>
              </a:rPr>
              <a:t> für Aussagen sind</a:t>
            </a:r>
            <a:endParaRPr lang="en-US" sz="19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4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4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01 · DATEN VERSTEHEN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Schritt 3: Kombinationen statt Einzelmerkmale</a:t>
            </a:r>
            <a:endParaRPr lang="en-US" sz="3200" dirty="0"/>
          </a:p>
        </p:txBody>
      </p:sp>
      <p:pic>
        <p:nvPicPr>
          <p:cNvPr id="4" name="nb_plot" descr="/home/claude/work/nbhd/c047_1.png">    </p:cNvPr>
          <p:cNvPicPr>
            <a:picLocks noChangeAspect="1"/>
          </p:cNvPicPr>
          <p:nvPr/>
        </p:nvPicPr>
        <p:blipFill>
          <a:blip r:embed="rId1"/>
          <a:stretch>
            <a:fillRect/>
          </a:stretch>
        </p:blipFill>
        <p:spPr>
          <a:xfrm>
            <a:off x="548640" y="2154504"/>
            <a:ext cx="7223760" cy="3371953"/>
          </a:xfrm>
          <a:prstGeom prst="rect">
            <a:avLst/>
          </a:prstGeom>
        </p:spPr>
      </p:pic>
      <p:sp>
        <p:nvSpPr>
          <p:cNvPr id="5" name="anim_lines"/>
          <p:cNvSpPr txBox="1"/>
          <p:nvPr/>
        </p:nvSpPr>
        <p:spPr>
          <a:xfrm>
            <a:off x="8046720" y="2103120"/>
            <a:ext cx="3566160" cy="3840480"/>
          </a:xfrm>
          <a:prstGeom prst="rect">
            <a:avLst/>
          </a:prstGeom>
          <a:noFill/>
          <a:ln/>
        </p:spPr>
        <p:txBody>
          <a:bodyPr wrap="square" lIns="0" tIns="0" rIns="0" bIns="0" rtlCol="0" anchor="t"/>
          <a:lstStyle/>
          <a:p>
            <a:pPr indent="0" marL="0">
              <a:spcAft>
                <a:spcPts val="1600"/>
              </a:spcAft>
              <a:buNone/>
            </a:pPr>
            <a:r>
              <a:rPr lang="en-US" sz="1800" b="1" dirty="0">
                <a:solidFill>
                  <a:srgbClr val="1B2B3A"/>
                </a:solidFill>
              </a:rPr>
              <a:t>Heatmaps</a:t>
            </a:r>
            <a:pPr indent="0" marL="0">
              <a:spcAft>
                <a:spcPts val="1600"/>
              </a:spcAft>
              <a:buNone/>
            </a:pPr>
            <a:r>
              <a:rPr lang="en-US" sz="1800" dirty="0">
                <a:solidFill>
                  <a:srgbClr val="1B2B3A"/>
                </a:solidFill>
              </a:rPr>
              <a:t> für zwei Merkmale gleichzeitig</a:t>
            </a:r>
            <a:endParaRPr lang="en-US" sz="1800" dirty="0"/>
          </a:p>
          <a:p>
            <a:pPr indent="0" marL="0">
              <a:spcAft>
                <a:spcPts val="1600"/>
              </a:spcAft>
              <a:buNone/>
            </a:pPr>
            <a:r>
              <a:rPr lang="en-US" sz="1800" dirty="0">
                <a:solidFill>
                  <a:srgbClr val="1B2B3A"/>
                </a:solidFill>
              </a:rPr>
              <a:t>Familiengröße wirkt je nach Klasse anders – </a:t>
            </a:r>
            <a:pPr indent="0" marL="0">
              <a:spcAft>
                <a:spcPts val="1600"/>
              </a:spcAft>
              <a:buNone/>
            </a:pPr>
            <a:r>
              <a:rPr lang="en-US" sz="1800" b="1" dirty="0">
                <a:solidFill>
                  <a:srgbClr val="1B2B3A"/>
                </a:solidFill>
              </a:rPr>
              <a:t>nicht linear</a:t>
            </a:r>
            <a:endParaRPr lang="en-US" sz="1800" dirty="0"/>
          </a:p>
          <a:p>
            <a:pPr indent="0" marL="0">
              <a:spcAft>
                <a:spcPts val="1600"/>
              </a:spcAft>
              <a:buNone/>
            </a:pPr>
            <a:r>
              <a:rPr lang="en-US" sz="1800" dirty="0">
                <a:solidFill>
                  <a:srgbClr val="1B2B3A"/>
                </a:solidFill>
              </a:rPr>
              <a:t>Vorsicht: </a:t>
            </a:r>
            <a:pPr indent="0" marL="0">
              <a:spcAft>
                <a:spcPts val="1600"/>
              </a:spcAft>
              <a:buNone/>
            </a:pPr>
            <a:r>
              <a:rPr lang="en-US" sz="1800" b="1" dirty="0">
                <a:solidFill>
                  <a:srgbClr val="C4452D"/>
                </a:solidFill>
              </a:rPr>
              <a:t>100 %</a:t>
            </a:r>
            <a:pPr indent="0" marL="0">
              <a:spcAft>
                <a:spcPts val="1600"/>
              </a:spcAft>
              <a:buNone/>
            </a:pPr>
            <a:r>
              <a:rPr lang="en-US" sz="1800" dirty="0">
                <a:solidFill>
                  <a:srgbClr val="1B2B3A"/>
                </a:solidFill>
              </a:rPr>
              <a:t> bei n = 1 sagt nichts</a:t>
            </a:r>
            <a:endParaRPr lang="en-US" sz="18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4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4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4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01 · DATEN VERSTEHEN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Schritt 4: Mit Statistik absichern</a:t>
            </a:r>
            <a:endParaRPr lang="en-US" sz="3200" dirty="0"/>
          </a:p>
        </p:txBody>
      </p:sp>
      <p:pic>
        <p:nvPicPr>
          <p:cNvPr id="4" name="nb_plot" descr="/home/claude/work/nbhd/c049_pearson.png">    </p:cNvPr>
          <p:cNvPicPr>
            <a:picLocks noChangeAspect="1"/>
          </p:cNvPicPr>
          <p:nvPr/>
        </p:nvPicPr>
        <p:blipFill>
          <a:blip r:embed="rId1"/>
          <a:stretch>
            <a:fillRect/>
          </a:stretch>
        </p:blipFill>
        <p:spPr>
          <a:xfrm>
            <a:off x="825916" y="1645920"/>
            <a:ext cx="4931848" cy="4572000"/>
          </a:xfrm>
          <a:prstGeom prst="rect">
            <a:avLst/>
          </a:prstGeom>
        </p:spPr>
      </p:pic>
      <p:sp>
        <p:nvSpPr>
          <p:cNvPr id="5" name="anim_lines"/>
          <p:cNvSpPr txBox="1"/>
          <p:nvPr/>
        </p:nvSpPr>
        <p:spPr>
          <a:xfrm>
            <a:off x="6492240" y="2103120"/>
            <a:ext cx="5120640" cy="3840480"/>
          </a:xfrm>
          <a:prstGeom prst="rect">
            <a:avLst/>
          </a:prstGeom>
          <a:noFill/>
          <a:ln/>
        </p:spPr>
        <p:txBody>
          <a:bodyPr wrap="square" lIns="0" tIns="0" rIns="0" bIns="0" rtlCol="0" anchor="t"/>
          <a:lstStyle/>
          <a:p>
            <a:pPr indent="0" marL="0">
              <a:spcAft>
                <a:spcPts val="1600"/>
              </a:spcAft>
              <a:buNone/>
            </a:pPr>
            <a:r>
              <a:rPr lang="en-US" sz="1800" b="1" dirty="0">
                <a:solidFill>
                  <a:srgbClr val="1B2B3A"/>
                </a:solidFill>
              </a:rPr>
              <a:t>Korrelationen</a:t>
            </a:r>
            <a:pPr indent="0" marL="0">
              <a:spcAft>
                <a:spcPts val="1600"/>
              </a:spcAft>
              <a:buNone/>
            </a:pPr>
            <a:r>
              <a:rPr lang="en-US" sz="1800" dirty="0">
                <a:solidFill>
                  <a:srgbClr val="1B2B3A"/>
                </a:solidFill>
              </a:rPr>
              <a:t> für Zahlen: Pearson und Spearman (wegen der Schiefe)</a:t>
            </a:r>
            <a:endParaRPr lang="en-US" sz="1800" dirty="0"/>
          </a:p>
          <a:p>
            <a:pPr indent="0" marL="0">
              <a:spcAft>
                <a:spcPts val="1600"/>
              </a:spcAft>
              <a:buNone/>
            </a:pPr>
            <a:r>
              <a:rPr lang="en-US" sz="1800" b="1" dirty="0">
                <a:solidFill>
                  <a:srgbClr val="1B2B3A"/>
                </a:solidFill>
              </a:rPr>
              <a:t>Chi²-Test</a:t>
            </a:r>
            <a:pPr indent="0" marL="0">
              <a:spcAft>
                <a:spcPts val="1600"/>
              </a:spcAft>
              <a:buNone/>
            </a:pPr>
            <a:r>
              <a:rPr lang="en-US" sz="1800" dirty="0">
                <a:solidFill>
                  <a:srgbClr val="1B2B3A"/>
                </a:solidFill>
              </a:rPr>
              <a:t> für Kategorien</a:t>
            </a:r>
            <a:endParaRPr lang="en-US" sz="1800" dirty="0"/>
          </a:p>
          <a:p>
            <a:pPr indent="0" marL="0">
              <a:spcAft>
                <a:spcPts val="1600"/>
              </a:spcAft>
              <a:buNone/>
            </a:pPr>
            <a:r>
              <a:rPr lang="en-US" sz="1800" dirty="0">
                <a:solidFill>
                  <a:srgbClr val="1B2B3A"/>
                </a:solidFill>
              </a:rPr>
              <a:t>Geschlecht, Klasse, Titel, Fahrpreis, Familie: alle </a:t>
            </a:r>
            <a:pPr indent="0" marL="0">
              <a:spcAft>
                <a:spcPts val="1600"/>
              </a:spcAft>
              <a:buNone/>
            </a:pPr>
            <a:r>
              <a:rPr lang="en-US" sz="1800" b="1" dirty="0">
                <a:solidFill>
                  <a:srgbClr val="1B2B3A"/>
                </a:solidFill>
              </a:rPr>
              <a:t>signifikant</a:t>
            </a:r>
            <a:pPr indent="0" marL="0">
              <a:spcAft>
                <a:spcPts val="1600"/>
              </a:spcAft>
              <a:buNone/>
            </a:pPr>
            <a:r>
              <a:rPr lang="en-US" sz="1800" dirty="0">
                <a:solidFill>
                  <a:srgbClr val="1B2B3A"/>
                </a:solidFill>
              </a:rPr>
              <a:t> (p &lt; 0,001)</a:t>
            </a:r>
            <a:endParaRPr lang="en-US" sz="18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4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4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4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01 · DATEN VERSTEHEN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Was die EDA für später entschieden hat</a:t>
            </a:r>
            <a:endParaRPr lang="en-US" sz="3200" dirty="0"/>
          </a:p>
        </p:txBody>
      </p:sp>
      <p:sp>
        <p:nvSpPr>
          <p:cNvPr id="4" name="num_circle"/>
          <p:cNvSpPr/>
          <p:nvPr/>
        </p:nvSpPr>
        <p:spPr>
          <a:xfrm>
            <a:off x="640080" y="1938528"/>
            <a:ext cx="420624" cy="420624"/>
          </a:xfrm>
          <a:prstGeom prst="ellipse">
            <a:avLst/>
          </a:prstGeom>
          <a:solidFill>
            <a:srgbClr val="EEF2F5"/>
          </a:solidFill>
          <a:ln/>
        </p:spPr>
        <p:txBody>
          <a:bodyPr wrap="square" lIns="0" tIns="0" rIns="0" bIns="0" rtlCol="0" anchor="ctr"/>
          <a:lstStyle/>
          <a:p>
            <a:pPr algn="ctr" indent="0" marL="0">
              <a:buNone/>
            </a:pPr>
            <a:r>
              <a:rPr lang="en-US" sz="1600" dirty="0">
                <a:solidFill>
                  <a:srgbClr val="3E6E8E"/>
                </a:solidFill>
                <a:latin typeface="Cambria" pitchFamily="34" charset="0"/>
                <a:ea typeface="Cambria" pitchFamily="34" charset="-122"/>
                <a:cs typeface="Cambria" pitchFamily="34" charset="-120"/>
              </a:rPr>
              <a:t>1</a:t>
            </a:r>
            <a:endParaRPr lang="en-US" sz="1600" dirty="0"/>
          </a:p>
        </p:txBody>
      </p:sp>
      <p:sp>
        <p:nvSpPr>
          <p:cNvPr id="5" name="animw_row"/>
          <p:cNvSpPr txBox="1"/>
          <p:nvPr/>
        </p:nvSpPr>
        <p:spPr>
          <a:xfrm>
            <a:off x="1280160" y="1920240"/>
            <a:ext cx="10241280" cy="548640"/>
          </a:xfrm>
          <a:prstGeom prst="rect">
            <a:avLst/>
          </a:prstGeom>
          <a:noFill/>
          <a:ln/>
        </p:spPr>
        <p:txBody>
          <a:bodyPr wrap="square" lIns="0" tIns="0" rIns="0" bIns="0" rtlCol="0" anchor="t"/>
          <a:lstStyle/>
          <a:p>
            <a:pPr indent="0" marL="0">
              <a:buNone/>
            </a:pPr>
            <a:r>
              <a:rPr lang="en-US" sz="2200" b="1" dirty="0">
                <a:solidFill>
                  <a:srgbClr val="1B2B3A"/>
                </a:solidFill>
              </a:rPr>
              <a:t>Kabine zu 77 % leer</a:t>
            </a:r>
            <a:pPr indent="0" marL="0">
              <a:buNone/>
            </a:pPr>
            <a:r>
              <a:rPr lang="en-US" sz="2200" dirty="0">
                <a:solidFill>
                  <a:srgbClr val="1B2B3A"/>
                </a:solidFill>
              </a:rPr>
              <a:t>  →  nicht verwenden</a:t>
            </a:r>
            <a:endParaRPr lang="en-US" sz="2200" dirty="0"/>
          </a:p>
        </p:txBody>
      </p:sp>
      <p:sp>
        <p:nvSpPr>
          <p:cNvPr id="6" name="num_circle"/>
          <p:cNvSpPr/>
          <p:nvPr/>
        </p:nvSpPr>
        <p:spPr>
          <a:xfrm>
            <a:off x="640080" y="2962656"/>
            <a:ext cx="420624" cy="420624"/>
          </a:xfrm>
          <a:prstGeom prst="ellipse">
            <a:avLst/>
          </a:prstGeom>
          <a:solidFill>
            <a:srgbClr val="EEF2F5"/>
          </a:solidFill>
          <a:ln/>
        </p:spPr>
        <p:txBody>
          <a:bodyPr wrap="square" lIns="0" tIns="0" rIns="0" bIns="0" rtlCol="0" anchor="ctr"/>
          <a:lstStyle/>
          <a:p>
            <a:pPr algn="ctr" indent="0" marL="0">
              <a:buNone/>
            </a:pPr>
            <a:r>
              <a:rPr lang="en-US" sz="1600" dirty="0">
                <a:solidFill>
                  <a:srgbClr val="3E6E8E"/>
                </a:solidFill>
                <a:latin typeface="Cambria" pitchFamily="34" charset="0"/>
                <a:ea typeface="Cambria" pitchFamily="34" charset="-122"/>
                <a:cs typeface="Cambria" pitchFamily="34" charset="-120"/>
              </a:rPr>
              <a:t>2</a:t>
            </a:r>
            <a:endParaRPr lang="en-US" sz="1600" dirty="0"/>
          </a:p>
        </p:txBody>
      </p:sp>
      <p:sp>
        <p:nvSpPr>
          <p:cNvPr id="7" name="animw_row"/>
          <p:cNvSpPr txBox="1"/>
          <p:nvPr/>
        </p:nvSpPr>
        <p:spPr>
          <a:xfrm>
            <a:off x="1280160" y="2944368"/>
            <a:ext cx="10241280" cy="548640"/>
          </a:xfrm>
          <a:prstGeom prst="rect">
            <a:avLst/>
          </a:prstGeom>
          <a:noFill/>
          <a:ln/>
        </p:spPr>
        <p:txBody>
          <a:bodyPr wrap="square" lIns="0" tIns="0" rIns="0" bIns="0" rtlCol="0" anchor="t"/>
          <a:lstStyle/>
          <a:p>
            <a:pPr indent="0" marL="0">
              <a:buNone/>
            </a:pPr>
            <a:r>
              <a:rPr lang="en-US" sz="2200" b="1" dirty="0">
                <a:solidFill>
                  <a:srgbClr val="1B2B3A"/>
                </a:solidFill>
              </a:rPr>
              <a:t>Alter lückenhaft, Ticketpreis schief</a:t>
            </a:r>
            <a:pPr indent="0" marL="0">
              <a:buNone/>
            </a:pPr>
            <a:r>
              <a:rPr lang="en-US" sz="2200" dirty="0">
                <a:solidFill>
                  <a:srgbClr val="1B2B3A"/>
                </a:solidFill>
              </a:rPr>
              <a:t>  →  Median statt Mittelwert</a:t>
            </a:r>
            <a:endParaRPr lang="en-US" sz="2200" dirty="0"/>
          </a:p>
        </p:txBody>
      </p:sp>
      <p:sp>
        <p:nvSpPr>
          <p:cNvPr id="8" name="num_circle"/>
          <p:cNvSpPr/>
          <p:nvPr/>
        </p:nvSpPr>
        <p:spPr>
          <a:xfrm>
            <a:off x="640080" y="3986784"/>
            <a:ext cx="420624" cy="420624"/>
          </a:xfrm>
          <a:prstGeom prst="ellipse">
            <a:avLst/>
          </a:prstGeom>
          <a:solidFill>
            <a:srgbClr val="EEF2F5"/>
          </a:solidFill>
          <a:ln/>
        </p:spPr>
        <p:txBody>
          <a:bodyPr wrap="square" lIns="0" tIns="0" rIns="0" bIns="0" rtlCol="0" anchor="ctr"/>
          <a:lstStyle/>
          <a:p>
            <a:pPr algn="ctr" indent="0" marL="0">
              <a:buNone/>
            </a:pPr>
            <a:r>
              <a:rPr lang="en-US" sz="1600" dirty="0">
                <a:solidFill>
                  <a:srgbClr val="3E6E8E"/>
                </a:solidFill>
                <a:latin typeface="Cambria" pitchFamily="34" charset="0"/>
                <a:ea typeface="Cambria" pitchFamily="34" charset="-122"/>
                <a:cs typeface="Cambria" pitchFamily="34" charset="-120"/>
              </a:rPr>
              <a:t>3</a:t>
            </a:r>
            <a:endParaRPr lang="en-US" sz="1600" dirty="0"/>
          </a:p>
        </p:txBody>
      </p:sp>
      <p:sp>
        <p:nvSpPr>
          <p:cNvPr id="9" name="animw_row"/>
          <p:cNvSpPr txBox="1"/>
          <p:nvPr/>
        </p:nvSpPr>
        <p:spPr>
          <a:xfrm>
            <a:off x="1280160" y="3968496"/>
            <a:ext cx="10241280" cy="548640"/>
          </a:xfrm>
          <a:prstGeom prst="rect">
            <a:avLst/>
          </a:prstGeom>
          <a:noFill/>
          <a:ln/>
        </p:spPr>
        <p:txBody>
          <a:bodyPr wrap="square" lIns="0" tIns="0" rIns="0" bIns="0" rtlCol="0" anchor="t"/>
          <a:lstStyle/>
          <a:p>
            <a:pPr indent="0" marL="0">
              <a:buNone/>
            </a:pPr>
            <a:r>
              <a:rPr lang="en-US" sz="2200" b="1" dirty="0">
                <a:solidFill>
                  <a:srgbClr val="1B2B3A"/>
                </a:solidFill>
              </a:rPr>
              <a:t>Titel hängt stark am Geschlecht</a:t>
            </a:r>
            <a:pPr indent="0" marL="0">
              <a:buNone/>
            </a:pPr>
            <a:r>
              <a:rPr lang="en-US" sz="2200" dirty="0">
                <a:solidFill>
                  <a:srgbClr val="1B2B3A"/>
                </a:solidFill>
              </a:rPr>
              <a:t>  →  vorerst kein eigenes Merkmal</a:t>
            </a:r>
            <a:endParaRPr lang="en-US" sz="2200" dirty="0"/>
          </a:p>
        </p:txBody>
      </p:sp>
      <p:sp>
        <p:nvSpPr>
          <p:cNvPr id="10" name="num_circle"/>
          <p:cNvSpPr/>
          <p:nvPr/>
        </p:nvSpPr>
        <p:spPr>
          <a:xfrm>
            <a:off x="640080" y="5010912"/>
            <a:ext cx="420624" cy="420624"/>
          </a:xfrm>
          <a:prstGeom prst="ellipse">
            <a:avLst/>
          </a:prstGeom>
          <a:solidFill>
            <a:srgbClr val="EEF2F5"/>
          </a:solidFill>
          <a:ln/>
        </p:spPr>
        <p:txBody>
          <a:bodyPr wrap="square" lIns="0" tIns="0" rIns="0" bIns="0" rtlCol="0" anchor="ctr"/>
          <a:lstStyle/>
          <a:p>
            <a:pPr algn="ctr" indent="0" marL="0">
              <a:buNone/>
            </a:pPr>
            <a:r>
              <a:rPr lang="en-US" sz="1600" dirty="0">
                <a:solidFill>
                  <a:srgbClr val="3E6E8E"/>
                </a:solidFill>
                <a:latin typeface="Cambria" pitchFamily="34" charset="0"/>
                <a:ea typeface="Cambria" pitchFamily="34" charset="-122"/>
                <a:cs typeface="Cambria" pitchFamily="34" charset="-120"/>
              </a:rPr>
              <a:t>4</a:t>
            </a:r>
            <a:endParaRPr lang="en-US" sz="1600" dirty="0"/>
          </a:p>
        </p:txBody>
      </p:sp>
      <p:sp>
        <p:nvSpPr>
          <p:cNvPr id="11" name="animw_row"/>
          <p:cNvSpPr txBox="1"/>
          <p:nvPr/>
        </p:nvSpPr>
        <p:spPr>
          <a:xfrm>
            <a:off x="1280160" y="4992624"/>
            <a:ext cx="10241280" cy="548640"/>
          </a:xfrm>
          <a:prstGeom prst="rect">
            <a:avLst/>
          </a:prstGeom>
          <a:noFill/>
          <a:ln/>
        </p:spPr>
        <p:txBody>
          <a:bodyPr wrap="square" lIns="0" tIns="0" rIns="0" bIns="0" rtlCol="0" anchor="t"/>
          <a:lstStyle/>
          <a:p>
            <a:pPr indent="0" marL="0">
              <a:buNone/>
            </a:pPr>
            <a:r>
              <a:rPr lang="en-US" sz="2200" b="1" dirty="0">
                <a:solidFill>
                  <a:srgbClr val="1B2B3A"/>
                </a:solidFill>
              </a:rPr>
              <a:t>Familiengröße wirkt nicht linear</a:t>
            </a:r>
            <a:pPr indent="0" marL="0">
              <a:buNone/>
            </a:pPr>
            <a:r>
              <a:rPr lang="en-US" sz="2200" dirty="0">
                <a:solidFill>
                  <a:srgbClr val="1B2B3A"/>
                </a:solidFill>
              </a:rPr>
              <a:t>  →  auch Baum-Modelle testen</a:t>
            </a:r>
            <a:endParaRPr lang="en-US" sz="22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822960" y="1965960"/>
            <a:ext cx="2743200" cy="457200"/>
          </a:xfrm>
          <a:prstGeom prst="rect">
            <a:avLst/>
          </a:prstGeom>
          <a:noFill/>
          <a:ln/>
        </p:spPr>
        <p:txBody>
          <a:bodyPr wrap="square" lIns="0" tIns="0" rIns="0" bIns="0" rtlCol="0" anchor="b"/>
          <a:lstStyle/>
          <a:p>
            <a:pPr indent="0" marL="0">
              <a:buNone/>
            </a:pPr>
            <a:r>
              <a:rPr lang="en-US" sz="1800" b="1" spc="300" kern="0" dirty="0">
                <a:solidFill>
                  <a:schemeClr val="accent1"/>
                </a:solidFill>
              </a:rPr>
              <a:t>02</a:t>
            </a:r>
            <a:endParaRPr lang="en-US" sz="1800" dirty="0"/>
          </a:p>
        </p:txBody>
      </p:sp>
      <p:sp>
        <p:nvSpPr>
          <p:cNvPr id="3" name="Text 0"/>
          <p:cNvSpPr/>
          <p:nvPr>
            <p:ph idx="101" type="title" hasCustomPrompt="1"/>
          </p:nvPr>
        </p:nvSpPr>
        <p:spPr>
          <a:xfrm>
            <a:off x="822960" y="2514600"/>
            <a:ext cx="7315200" cy="1097280"/>
          </a:xfrm>
          <a:prstGeom prst="rect">
            <a:avLst/>
          </a:prstGeom>
          <a:noFill/>
          <a:ln/>
        </p:spPr>
        <p:txBody>
          <a:bodyPr wrap="square" lIns="0" tIns="0" rIns="0" bIns="0" rtlCol="0" anchor="t"/>
          <a:lstStyle/>
          <a:p>
            <a:pPr algn="l" indent="0" marL="0">
              <a:buNone/>
            </a:pPr>
            <a:r>
              <a:rPr lang="en-US" sz="4800" dirty="0">
                <a:solidFill>
                  <a:schemeClr val="bg1"/>
                </a:solidFill>
              </a:rPr>
              <a:t>Daten aufbereiten</a:t>
            </a:r>
            <a:endParaRPr lang="en-US" sz="4800" dirty="0"/>
          </a:p>
        </p:txBody>
      </p:sp>
      <p:sp>
        <p:nvSpPr>
          <p:cNvPr id="4" name="Text 0"/>
          <p:cNvSpPr/>
          <p:nvPr>
            <p:ph idx="102" type="body" hasCustomPrompt="1"/>
          </p:nvPr>
        </p:nvSpPr>
        <p:spPr>
          <a:xfrm>
            <a:off x="822960" y="3703320"/>
            <a:ext cx="7315200" cy="640080"/>
          </a:xfrm>
          <a:prstGeom prst="rect">
            <a:avLst/>
          </a:prstGeom>
          <a:noFill/>
          <a:ln/>
        </p:spPr>
        <p:txBody>
          <a:bodyPr wrap="square" lIns="0" tIns="0" rIns="0" bIns="0" rtlCol="0" anchor="t"/>
          <a:lstStyle/>
          <a:p>
            <a:pPr indent="0" marL="0">
              <a:buNone/>
            </a:pPr>
            <a:r>
              <a:rPr lang="en-US" sz="2200" dirty="0">
                <a:solidFill>
                  <a:schemeClr val="accent4"/>
                </a:solidFill>
              </a:rPr>
              <a:t>Eine Pipeline für alle Modelle</a:t>
            </a:r>
            <a:endParaRPr lang="en-US" sz="2200" dirty="0"/>
          </a:p>
        </p:txBody>
      </p:sp>
      <p:pic>
        <p:nvPicPr>
          <p:cNvPr id="5" name="divider_icon" descr="preencoded.png">    </p:cNvPr>
          <p:cNvPicPr>
            <a:picLocks noChangeAspect="1"/>
          </p:cNvPicPr>
          <p:nvPr/>
        </p:nvPicPr>
        <p:blipFill>
          <a:blip r:embed="rId1"/>
          <a:stretch>
            <a:fillRect/>
          </a:stretch>
        </p:blipFill>
        <p:spPr>
          <a:xfrm>
            <a:off x="8412480" y="1783080"/>
            <a:ext cx="2926080" cy="2926080"/>
          </a:xfrm>
          <a:prstGeom prst="rect">
            <a:avLst/>
          </a:prstGeom>
        </p:spPr>
      </p:pic>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C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02 · DATEN AUFBEREITEN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Eine Pipeline statt Einzelschritte</a:t>
            </a:r>
            <a:endParaRPr lang="en-US" sz="3200" dirty="0"/>
          </a:p>
        </p:txBody>
      </p:sp>
      <p:sp>
        <p:nvSpPr>
          <p:cNvPr id="4" name="code_box"/>
          <p:cNvSpPr/>
          <p:nvPr/>
        </p:nvSpPr>
        <p:spPr>
          <a:xfrm>
            <a:off x="640080" y="1783080"/>
            <a:ext cx="6675120" cy="4206240"/>
          </a:xfrm>
          <a:prstGeom prst="roundRect">
            <a:avLst>
              <a:gd name="adj" fmla="val 1304"/>
            </a:avLst>
          </a:prstGeom>
          <a:solidFill>
            <a:srgbClr val="F4F6F8"/>
          </a:solidFill>
          <a:ln/>
        </p:spPr>
        <p:txBody>
          <a:bodyPr wrap="square" lIns="203200" tIns="203200" rIns="203200" bIns="203200" rtlCol="0" anchor="ctr"/>
          <a:lstStyle/>
          <a:p>
            <a:pPr indent="0" marL="0">
              <a:buNone/>
            </a:pPr>
            <a:r>
              <a:rPr lang="en-US" sz="1250" dirty="0">
                <a:solidFill>
                  <a:srgbClr val="1B2B3A"/>
                </a:solidFill>
                <a:latin typeface="Courier New" pitchFamily="34" charset="0"/>
                <a:ea typeface="Courier New" pitchFamily="34" charset="-122"/>
                <a:cs typeface="Courier New" pitchFamily="34" charset="-120"/>
              </a:rPr>
              <a:t>preprocessing = ColumnTransformer([</a:t>
            </a:r>
            <a:endParaRPr lang="en-US" sz="1250" dirty="0"/>
          </a:p>
          <a:p>
            <a:pPr indent="0" marL="0">
              <a:buNone/>
            </a:pPr>
            <a:r>
              <a:rPr lang="en-US" sz="1250" dirty="0">
                <a:solidFill>
                  <a:srgbClr val="1B2B3A"/>
                </a:solidFill>
                <a:latin typeface="Courier New" pitchFamily="34" charset="0"/>
                <a:ea typeface="Courier New" pitchFamily="34" charset="-122"/>
                <a:cs typeface="Courier New" pitchFamily="34" charset="-120"/>
              </a:rPr>
              <a:t>  ("numeric", Pipeline([</a:t>
            </a:r>
            <a:endParaRPr lang="en-US" sz="1250" dirty="0"/>
          </a:p>
          <a:p>
            <a:pPr indent="0" marL="0">
              <a:buNone/>
            </a:pPr>
            <a:r>
              <a:rPr lang="en-US" sz="1250" dirty="0">
                <a:solidFill>
                  <a:srgbClr val="1B2B3A"/>
                </a:solidFill>
                <a:latin typeface="Courier New" pitchFamily="34" charset="0"/>
                <a:ea typeface="Courier New" pitchFamily="34" charset="-122"/>
                <a:cs typeface="Courier New" pitchFamily="34" charset="-120"/>
              </a:rPr>
              <a:t>      ("imputer", SimpleImputer(strategy="median")),</a:t>
            </a:r>
            <a:endParaRPr lang="en-US" sz="1250" dirty="0"/>
          </a:p>
          <a:p>
            <a:pPr indent="0" marL="0">
              <a:buNone/>
            </a:pPr>
            <a:r>
              <a:rPr lang="en-US" sz="1250" dirty="0">
                <a:solidFill>
                  <a:srgbClr val="1B2B3A"/>
                </a:solidFill>
                <a:latin typeface="Courier New" pitchFamily="34" charset="0"/>
                <a:ea typeface="Courier New" pitchFamily="34" charset="-122"/>
                <a:cs typeface="Courier New" pitchFamily="34" charset="-120"/>
              </a:rPr>
              <a:t>      ("scaler",  StandardScaler())</a:t>
            </a:r>
            <a:endParaRPr lang="en-US" sz="1250" dirty="0"/>
          </a:p>
          <a:p>
            <a:pPr indent="0" marL="0">
              <a:buNone/>
            </a:pPr>
            <a:r>
              <a:rPr lang="en-US" sz="1250" dirty="0">
                <a:solidFill>
                  <a:srgbClr val="1B2B3A"/>
                </a:solidFill>
                <a:latin typeface="Courier New" pitchFamily="34" charset="0"/>
                <a:ea typeface="Courier New" pitchFamily="34" charset="-122"/>
                <a:cs typeface="Courier New" pitchFamily="34" charset="-120"/>
              </a:rPr>
              <a:t>  ]), ["Age", "Fare", "FamilySize"]),</a:t>
            </a:r>
            <a:endParaRPr lang="en-US" sz="1250" dirty="0"/>
          </a:p>
          <a:p>
            <a:pPr indent="0" marL="0">
              <a:buNone/>
            </a:pPr>
            <a:r>
              <a:rPr lang="en-US" sz="1250" dirty="0">
                <a:solidFill>
                  <a:srgbClr val="1B2B3A"/>
                </a:solidFill>
                <a:latin typeface="Courier New" pitchFamily="34" charset="0"/>
                <a:ea typeface="Courier New" pitchFamily="34" charset="-122"/>
                <a:cs typeface="Courier New" pitchFamily="34" charset="-120"/>
              </a:rPr>
              <a:t>  ("categorical", Pipeline([</a:t>
            </a:r>
            <a:endParaRPr lang="en-US" sz="1250" dirty="0"/>
          </a:p>
          <a:p>
            <a:pPr indent="0" marL="0">
              <a:buNone/>
            </a:pPr>
            <a:r>
              <a:rPr lang="en-US" sz="1250" dirty="0">
                <a:solidFill>
                  <a:srgbClr val="1B2B3A"/>
                </a:solidFill>
                <a:latin typeface="Courier New" pitchFamily="34" charset="0"/>
                <a:ea typeface="Courier New" pitchFamily="34" charset="-122"/>
                <a:cs typeface="Courier New" pitchFamily="34" charset="-120"/>
              </a:rPr>
              <a:t>      ("imputer", SimpleImputer(strategy="most_frequent")),</a:t>
            </a:r>
            <a:endParaRPr lang="en-US" sz="1250" dirty="0"/>
          </a:p>
          <a:p>
            <a:pPr indent="0" marL="0">
              <a:buNone/>
            </a:pPr>
            <a:r>
              <a:rPr lang="en-US" sz="1250" dirty="0">
                <a:solidFill>
                  <a:srgbClr val="1B2B3A"/>
                </a:solidFill>
                <a:latin typeface="Courier New" pitchFamily="34" charset="0"/>
                <a:ea typeface="Courier New" pitchFamily="34" charset="-122"/>
                <a:cs typeface="Courier New" pitchFamily="34" charset="-120"/>
              </a:rPr>
              <a:t>      ("encoder", OneHotEncoder(handle_unknown="ignore"))</a:t>
            </a:r>
            <a:endParaRPr lang="en-US" sz="1250" dirty="0"/>
          </a:p>
          <a:p>
            <a:pPr indent="0" marL="0">
              <a:buNone/>
            </a:pPr>
            <a:r>
              <a:rPr lang="en-US" sz="1250" dirty="0">
                <a:solidFill>
                  <a:srgbClr val="1B2B3A"/>
                </a:solidFill>
                <a:latin typeface="Courier New" pitchFamily="34" charset="0"/>
                <a:ea typeface="Courier New" pitchFamily="34" charset="-122"/>
                <a:cs typeface="Courier New" pitchFamily="34" charset="-120"/>
              </a:rPr>
              <a:t>  ]), ["Sex", "Pclass", "Embarked"])</a:t>
            </a:r>
            <a:endParaRPr lang="en-US" sz="1250" dirty="0"/>
          </a:p>
          <a:p>
            <a:pPr indent="0" marL="0">
              <a:buNone/>
            </a:pPr>
            <a:r>
              <a:rPr lang="en-US" sz="1250" dirty="0">
                <a:solidFill>
                  <a:srgbClr val="1B2B3A"/>
                </a:solidFill>
                <a:latin typeface="Courier New" pitchFamily="34" charset="0"/>
                <a:ea typeface="Courier New" pitchFamily="34" charset="-122"/>
                <a:cs typeface="Courier New" pitchFamily="34" charset="-120"/>
              </a:rPr>
              <a:t>])</a:t>
            </a:r>
            <a:endParaRPr lang="en-US" sz="1250" dirty="0"/>
          </a:p>
          <a:p>
            <a:pPr indent="0" marL="0">
              <a:buNone/>
            </a:pPr>
            <a:endParaRPr lang="en-US" sz="1250" dirty="0"/>
          </a:p>
          <a:p>
            <a:pPr indent="0" marL="0">
              <a:buNone/>
            </a:pPr>
            <a:r>
              <a:rPr lang="en-US" sz="1250" dirty="0">
                <a:solidFill>
                  <a:srgbClr val="1B2B3A"/>
                </a:solidFill>
                <a:latin typeface="Courier New" pitchFamily="34" charset="0"/>
                <a:ea typeface="Courier New" pitchFamily="34" charset="-122"/>
                <a:cs typeface="Courier New" pitchFamily="34" charset="-120"/>
              </a:rPr>
              <a:t>model = Pipeline([("preprocessing", preprocessing),</a:t>
            </a:r>
            <a:endParaRPr lang="en-US" sz="1250" dirty="0"/>
          </a:p>
          <a:p>
            <a:pPr indent="0" marL="0">
              <a:buNone/>
            </a:pPr>
            <a:r>
              <a:rPr lang="en-US" sz="1250" dirty="0">
                <a:solidFill>
                  <a:srgbClr val="1B2B3A"/>
                </a:solidFill>
                <a:latin typeface="Courier New" pitchFamily="34" charset="0"/>
                <a:ea typeface="Courier New" pitchFamily="34" charset="-122"/>
                <a:cs typeface="Courier New" pitchFamily="34" charset="-120"/>
              </a:rPr>
              <a:t>                  ("classifier", ...)])</a:t>
            </a:r>
            <a:endParaRPr lang="en-US" sz="1250" dirty="0"/>
          </a:p>
        </p:txBody>
      </p:sp>
      <p:sp>
        <p:nvSpPr>
          <p:cNvPr id="5" name="anim_lines"/>
          <p:cNvSpPr txBox="1"/>
          <p:nvPr/>
        </p:nvSpPr>
        <p:spPr>
          <a:xfrm>
            <a:off x="7772400" y="2103120"/>
            <a:ext cx="3840480" cy="3840480"/>
          </a:xfrm>
          <a:prstGeom prst="rect">
            <a:avLst/>
          </a:prstGeom>
          <a:noFill/>
          <a:ln/>
        </p:spPr>
        <p:txBody>
          <a:bodyPr wrap="square" lIns="0" tIns="0" rIns="0" bIns="0" rtlCol="0" anchor="t"/>
          <a:lstStyle/>
          <a:p>
            <a:pPr indent="0" marL="0">
              <a:spcAft>
                <a:spcPts val="1600"/>
              </a:spcAft>
              <a:buNone/>
            </a:pPr>
            <a:r>
              <a:rPr lang="en-US" sz="1800" dirty="0">
                <a:solidFill>
                  <a:srgbClr val="1B2B3A"/>
                </a:solidFill>
              </a:rPr>
              <a:t>Lücken füllen, skalieren, kodieren – </a:t>
            </a:r>
            <a:pPr indent="0" marL="0">
              <a:spcAft>
                <a:spcPts val="1600"/>
              </a:spcAft>
              <a:buNone/>
            </a:pPr>
            <a:r>
              <a:rPr lang="en-US" sz="1800" b="1" dirty="0">
                <a:solidFill>
                  <a:srgbClr val="1B2B3A"/>
                </a:solidFill>
              </a:rPr>
              <a:t>in einem Objekt</a:t>
            </a:r>
            <a:endParaRPr lang="en-US" sz="1800" dirty="0"/>
          </a:p>
          <a:p>
            <a:pPr indent="0" marL="0">
              <a:spcAft>
                <a:spcPts val="1600"/>
              </a:spcAft>
              <a:buNone/>
            </a:pPr>
            <a:r>
              <a:rPr lang="en-US" sz="1800" dirty="0">
                <a:solidFill>
                  <a:srgbClr val="1B2B3A"/>
                </a:solidFill>
              </a:rPr>
              <a:t>Lernt nur aus den Trainingsdaten → </a:t>
            </a:r>
            <a:pPr indent="0" marL="0">
              <a:spcAft>
                <a:spcPts val="1600"/>
              </a:spcAft>
              <a:buNone/>
            </a:pPr>
            <a:r>
              <a:rPr lang="en-US" sz="1800" b="1" dirty="0">
                <a:solidFill>
                  <a:srgbClr val="1B2B3A"/>
                </a:solidFill>
              </a:rPr>
              <a:t>kein Data Leakage</a:t>
            </a:r>
            <a:endParaRPr lang="en-US" sz="1800" dirty="0"/>
          </a:p>
          <a:p>
            <a:pPr indent="0" marL="0">
              <a:spcAft>
                <a:spcPts val="1600"/>
              </a:spcAft>
              <a:buNone/>
            </a:pPr>
            <a:r>
              <a:rPr lang="en-US" sz="1800" dirty="0">
                <a:solidFill>
                  <a:srgbClr val="1B2B3A"/>
                </a:solidFill>
              </a:rPr>
              <a:t>Jedes Modell hängt sich hinten an → </a:t>
            </a:r>
            <a:pPr indent="0" marL="0">
              <a:spcAft>
                <a:spcPts val="1600"/>
              </a:spcAft>
              <a:buNone/>
            </a:pPr>
            <a:r>
              <a:rPr lang="en-US" sz="1800" b="1" dirty="0">
                <a:solidFill>
                  <a:srgbClr val="1B2B3A"/>
                </a:solidFill>
              </a:rPr>
              <a:t>exakt dieselbe Eingabe</a:t>
            </a:r>
            <a:endParaRPr lang="en-US" sz="18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4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4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4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02 · DATEN AUFBEREITEN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Erst die Spielregeln, dann die Modelle</a:t>
            </a:r>
            <a:endParaRPr lang="en-US" sz="3200" dirty="0"/>
          </a:p>
        </p:txBody>
      </p:sp>
      <p:pic>
        <p:nvPicPr>
          <p:cNvPr id="4" name="nb_plot" descr="/home/claude/work/nbhd/c024_1.png">    </p:cNvPr>
          <p:cNvPicPr>
            <a:picLocks noChangeAspect="1"/>
          </p:cNvPicPr>
          <p:nvPr/>
        </p:nvPicPr>
        <p:blipFill>
          <a:blip r:embed="rId1"/>
          <a:stretch>
            <a:fillRect/>
          </a:stretch>
        </p:blipFill>
        <p:spPr>
          <a:xfrm>
            <a:off x="548640" y="2027178"/>
            <a:ext cx="5486400" cy="3626603"/>
          </a:xfrm>
          <a:prstGeom prst="rect">
            <a:avLst/>
          </a:prstGeom>
        </p:spPr>
      </p:pic>
      <p:sp>
        <p:nvSpPr>
          <p:cNvPr id="5" name="anim_lines"/>
          <p:cNvSpPr txBox="1"/>
          <p:nvPr/>
        </p:nvSpPr>
        <p:spPr>
          <a:xfrm>
            <a:off x="6400800" y="1920240"/>
            <a:ext cx="5212080" cy="4206240"/>
          </a:xfrm>
          <a:prstGeom prst="rect">
            <a:avLst/>
          </a:prstGeom>
          <a:noFill/>
          <a:ln/>
        </p:spPr>
        <p:txBody>
          <a:bodyPr wrap="square" lIns="0" tIns="0" rIns="0" bIns="0" rtlCol="0" anchor="t"/>
          <a:lstStyle/>
          <a:p>
            <a:pPr indent="0" marL="0">
              <a:spcAft>
                <a:spcPts val="1600"/>
              </a:spcAft>
              <a:buNone/>
            </a:pPr>
            <a:r>
              <a:rPr lang="en-US" sz="1800" dirty="0">
                <a:solidFill>
                  <a:srgbClr val="1B2B3A"/>
                </a:solidFill>
              </a:rPr>
              <a:t>Baseline: immer „nicht überlebt“ = </a:t>
            </a:r>
            <a:pPr indent="0" marL="0">
              <a:spcAft>
                <a:spcPts val="1600"/>
              </a:spcAft>
              <a:buNone/>
            </a:pPr>
            <a:r>
              <a:rPr lang="en-US" sz="1800" b="1" dirty="0">
                <a:solidFill>
                  <a:srgbClr val="C4452D"/>
                </a:solidFill>
              </a:rPr>
              <a:t>62 %</a:t>
            </a:r>
            <a:pPr indent="0" marL="0">
              <a:spcAft>
                <a:spcPts val="1600"/>
              </a:spcAft>
              <a:buNone/>
            </a:pPr>
            <a:r>
              <a:rPr lang="en-US" sz="1800" dirty="0">
                <a:solidFill>
                  <a:srgbClr val="1B2B3A"/>
                </a:solidFill>
              </a:rPr>
              <a:t> richtig</a:t>
            </a:r>
            <a:endParaRPr lang="en-US" sz="1800" dirty="0"/>
          </a:p>
          <a:p>
            <a:pPr indent="0" marL="0">
              <a:spcAft>
                <a:spcPts val="1600"/>
              </a:spcAft>
              <a:buNone/>
            </a:pPr>
            <a:r>
              <a:rPr lang="en-US" sz="1800" dirty="0">
                <a:solidFill>
                  <a:srgbClr val="1B2B3A"/>
                </a:solidFill>
              </a:rPr>
              <a:t>Darum nicht nur Accuracy: </a:t>
            </a:r>
            <a:pPr indent="0" marL="0">
              <a:spcAft>
                <a:spcPts val="1600"/>
              </a:spcAft>
              <a:buNone/>
            </a:pPr>
            <a:r>
              <a:rPr lang="en-US" sz="1800" b="1" dirty="0">
                <a:solidFill>
                  <a:srgbClr val="1B2B3A"/>
                </a:solidFill>
              </a:rPr>
              <a:t>Precision, Recall, F1, ROC-AUC</a:t>
            </a:r>
            <a:endParaRPr lang="en-US" sz="1800" dirty="0"/>
          </a:p>
          <a:p>
            <a:pPr indent="0" marL="0">
              <a:spcAft>
                <a:spcPts val="1600"/>
              </a:spcAft>
              <a:buNone/>
            </a:pPr>
            <a:r>
              <a:rPr lang="en-US" sz="1800" b="1" dirty="0">
                <a:solidFill>
                  <a:srgbClr val="1B2B3A"/>
                </a:solidFill>
              </a:rPr>
              <a:t>Stratifizierter Split</a:t>
            </a:r>
            <a:pPr indent="0" marL="0">
              <a:spcAft>
                <a:spcPts val="1600"/>
              </a:spcAft>
              <a:buNone/>
            </a:pPr>
            <a:r>
              <a:rPr lang="en-US" sz="1800" dirty="0">
                <a:solidFill>
                  <a:srgbClr val="1B2B3A"/>
                </a:solidFill>
              </a:rPr>
              <a:t> 80 / 20 mit festem Seed</a:t>
            </a:r>
            <a:endParaRPr lang="en-US" sz="1800" dirty="0"/>
          </a:p>
          <a:p>
            <a:pPr indent="0" marL="0">
              <a:spcAft>
                <a:spcPts val="1600"/>
              </a:spcAft>
              <a:buNone/>
            </a:pPr>
            <a:r>
              <a:rPr lang="en-US" sz="1800" dirty="0">
                <a:solidFill>
                  <a:srgbClr val="1B2B3A"/>
                </a:solidFill>
              </a:rPr>
              <a:t>Zusätzlich </a:t>
            </a:r>
            <a:pPr indent="0" marL="0">
              <a:spcAft>
                <a:spcPts val="1600"/>
              </a:spcAft>
              <a:buNone/>
            </a:pPr>
            <a:r>
              <a:rPr lang="en-US" sz="1800" b="1" dirty="0">
                <a:solidFill>
                  <a:srgbClr val="1B2B3A"/>
                </a:solidFill>
              </a:rPr>
              <a:t>5-fold Cross-Validation</a:t>
            </a:r>
            <a:pPr indent="0" marL="0">
              <a:spcAft>
                <a:spcPts val="1600"/>
              </a:spcAft>
              <a:buNone/>
            </a:pPr>
            <a:r>
              <a:rPr lang="en-US" sz="1800" dirty="0">
                <a:solidFill>
                  <a:srgbClr val="1B2B3A"/>
                </a:solidFill>
              </a:rPr>
              <a:t> – 179 Validierungsfälle sind wenig</a:t>
            </a:r>
            <a:endParaRPr lang="en-US" sz="18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4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4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4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4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822960" y="1965960"/>
            <a:ext cx="2743200" cy="457200"/>
          </a:xfrm>
          <a:prstGeom prst="rect">
            <a:avLst/>
          </a:prstGeom>
          <a:noFill/>
          <a:ln/>
        </p:spPr>
        <p:txBody>
          <a:bodyPr wrap="square" lIns="0" tIns="0" rIns="0" bIns="0" rtlCol="0" anchor="b"/>
          <a:lstStyle/>
          <a:p>
            <a:pPr indent="0" marL="0">
              <a:buNone/>
            </a:pPr>
            <a:r>
              <a:rPr lang="en-US" sz="1800" b="1" spc="300" kern="0" dirty="0">
                <a:solidFill>
                  <a:schemeClr val="accent1"/>
                </a:solidFill>
              </a:rPr>
              <a:t>03</a:t>
            </a:r>
            <a:endParaRPr lang="en-US" sz="1800" dirty="0"/>
          </a:p>
        </p:txBody>
      </p:sp>
      <p:sp>
        <p:nvSpPr>
          <p:cNvPr id="3" name="Text 0"/>
          <p:cNvSpPr/>
          <p:nvPr>
            <p:ph idx="101" type="title" hasCustomPrompt="1"/>
          </p:nvPr>
        </p:nvSpPr>
        <p:spPr>
          <a:xfrm>
            <a:off x="822960" y="2514600"/>
            <a:ext cx="7315200" cy="1097280"/>
          </a:xfrm>
          <a:prstGeom prst="rect">
            <a:avLst/>
          </a:prstGeom>
          <a:noFill/>
          <a:ln/>
        </p:spPr>
        <p:txBody>
          <a:bodyPr wrap="square" lIns="0" tIns="0" rIns="0" bIns="0" rtlCol="0" anchor="t"/>
          <a:lstStyle/>
          <a:p>
            <a:pPr algn="l" indent="0" marL="0">
              <a:buNone/>
            </a:pPr>
            <a:r>
              <a:rPr lang="en-US" sz="4800" dirty="0">
                <a:solidFill>
                  <a:schemeClr val="bg1"/>
                </a:solidFill>
              </a:rPr>
              <a:t>Logistische Regression</a:t>
            </a:r>
            <a:endParaRPr lang="en-US" sz="4800" dirty="0"/>
          </a:p>
        </p:txBody>
      </p:sp>
      <p:sp>
        <p:nvSpPr>
          <p:cNvPr id="4" name="Text 0"/>
          <p:cNvSpPr/>
          <p:nvPr>
            <p:ph idx="102" type="body" hasCustomPrompt="1"/>
          </p:nvPr>
        </p:nvSpPr>
        <p:spPr>
          <a:xfrm>
            <a:off x="822960" y="3703320"/>
            <a:ext cx="7315200" cy="640080"/>
          </a:xfrm>
          <a:prstGeom prst="rect">
            <a:avLst/>
          </a:prstGeom>
          <a:noFill/>
          <a:ln/>
        </p:spPr>
        <p:txBody>
          <a:bodyPr wrap="square" lIns="0" tIns="0" rIns="0" bIns="0" rtlCol="0" anchor="t"/>
          <a:lstStyle/>
          <a:p>
            <a:pPr indent="0" marL="0">
              <a:buNone/>
            </a:pPr>
            <a:r>
              <a:rPr lang="en-US" sz="2200" dirty="0">
                <a:solidFill>
                  <a:schemeClr val="accent4"/>
                </a:solidFill>
              </a:rPr>
              <a:t>Mit einer Referenz anfangen</a:t>
            </a:r>
            <a:endParaRPr lang="en-US" sz="2200" dirty="0"/>
          </a:p>
        </p:txBody>
      </p:sp>
      <p:pic>
        <p:nvPicPr>
          <p:cNvPr id="5" name="divider_icon" descr="preencoded.png">    </p:cNvPr>
          <p:cNvPicPr>
            <a:picLocks noChangeAspect="1"/>
          </p:cNvPicPr>
          <p:nvPr/>
        </p:nvPicPr>
        <p:blipFill>
          <a:blip r:embed="rId1"/>
          <a:stretch>
            <a:fillRect/>
          </a:stretch>
        </p:blipFill>
        <p:spPr>
          <a:xfrm>
            <a:off x="8412480" y="1783080"/>
            <a:ext cx="2926080" cy="2926080"/>
          </a:xfrm>
          <a:prstGeom prst="rect">
            <a:avLst/>
          </a:prstGeom>
        </p:spPr>
      </p:pic>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C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03 · LOGISTISCHE REGRESSION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Warum wir mit dem einfachsten Modell anfangen</a:t>
            </a:r>
            <a:endParaRPr lang="en-US" sz="3200" dirty="0"/>
          </a:p>
        </p:txBody>
      </p:sp>
      <p:pic>
        <p:nvPicPr>
          <p:cNvPr id="4" name="nb_plot" descr="/home/claude/work/nbhd/c070_1.png">    </p:cNvPr>
          <p:cNvPicPr>
            <a:picLocks noChangeAspect="1"/>
          </p:cNvPicPr>
          <p:nvPr/>
        </p:nvPicPr>
        <p:blipFill>
          <a:blip r:embed="rId1"/>
          <a:stretch>
            <a:fillRect/>
          </a:stretch>
        </p:blipFill>
        <p:spPr>
          <a:xfrm>
            <a:off x="583198" y="1691640"/>
            <a:ext cx="5600165" cy="4434840"/>
          </a:xfrm>
          <a:prstGeom prst="rect">
            <a:avLst/>
          </a:prstGeom>
        </p:spPr>
      </p:pic>
      <p:sp>
        <p:nvSpPr>
          <p:cNvPr id="5" name="anim_lines"/>
          <p:cNvSpPr txBox="1"/>
          <p:nvPr/>
        </p:nvSpPr>
        <p:spPr>
          <a:xfrm>
            <a:off x="6675120" y="2011680"/>
            <a:ext cx="4937760" cy="4023360"/>
          </a:xfrm>
          <a:prstGeom prst="rect">
            <a:avLst/>
          </a:prstGeom>
          <a:noFill/>
          <a:ln/>
        </p:spPr>
        <p:txBody>
          <a:bodyPr wrap="square" lIns="0" tIns="0" rIns="0" bIns="0" rtlCol="0" anchor="t"/>
          <a:lstStyle/>
          <a:p>
            <a:pPr indent="0" marL="0">
              <a:spcAft>
                <a:spcPts val="1600"/>
              </a:spcAft>
              <a:buNone/>
            </a:pPr>
            <a:r>
              <a:rPr lang="en-US" sz="2000" dirty="0">
                <a:solidFill>
                  <a:srgbClr val="1B2B3A"/>
                </a:solidFill>
              </a:rPr>
              <a:t>Schnell, robust und </a:t>
            </a:r>
            <a:pPr indent="0" marL="0">
              <a:spcAft>
                <a:spcPts val="1600"/>
              </a:spcAft>
              <a:buNone/>
            </a:pPr>
            <a:r>
              <a:rPr lang="en-US" sz="2000" b="1" dirty="0">
                <a:solidFill>
                  <a:srgbClr val="1B2B3A"/>
                </a:solidFill>
              </a:rPr>
              <a:t>gut nachvollziehbar</a:t>
            </a:r>
            <a:endParaRPr lang="en-US" sz="2000" dirty="0"/>
          </a:p>
          <a:p>
            <a:pPr indent="0" marL="0">
              <a:spcAft>
                <a:spcPts val="1600"/>
              </a:spcAft>
              <a:buNone/>
            </a:pPr>
            <a:r>
              <a:rPr lang="en-US" sz="2000" dirty="0">
                <a:solidFill>
                  <a:srgbClr val="1B2B3A"/>
                </a:solidFill>
              </a:rPr>
              <a:t>Bewusst </a:t>
            </a:r>
            <a:pPr indent="0" marL="0">
              <a:spcAft>
                <a:spcPts val="1600"/>
              </a:spcAft>
              <a:buNone/>
            </a:pPr>
            <a:r>
              <a:rPr lang="en-US" sz="2000" b="1" dirty="0">
                <a:solidFill>
                  <a:srgbClr val="1B2B3A"/>
                </a:solidFill>
              </a:rPr>
              <a:t>Standardwerte</a:t>
            </a:r>
            <a:pPr indent="0" marL="0">
              <a:spcAft>
                <a:spcPts val="1600"/>
              </a:spcAft>
              <a:buNone/>
            </a:pPr>
            <a:r>
              <a:rPr lang="en-US" sz="2000" dirty="0">
                <a:solidFill>
                  <a:srgbClr val="1B2B3A"/>
                </a:solidFill>
              </a:rPr>
              <a:t> (C = 1)</a:t>
            </a:r>
            <a:endParaRPr lang="en-US" sz="2000" dirty="0"/>
          </a:p>
          <a:p>
            <a:pPr indent="0" marL="0">
              <a:spcAft>
                <a:spcPts val="1600"/>
              </a:spcAft>
              <a:buNone/>
            </a:pPr>
            <a:r>
              <a:rPr lang="en-US" sz="2000" dirty="0">
                <a:solidFill>
                  <a:srgbClr val="1B2B3A"/>
                </a:solidFill>
              </a:rPr>
              <a:t>Setzt die Messlatte: </a:t>
            </a:r>
            <a:pPr indent="0" marL="0">
              <a:spcAft>
                <a:spcPts val="1600"/>
              </a:spcAft>
              <a:buNone/>
            </a:pPr>
            <a:r>
              <a:rPr lang="en-US" sz="2000" b="1" dirty="0">
                <a:solidFill>
                  <a:srgbClr val="1B2B3A"/>
                </a:solidFill>
              </a:rPr>
              <a:t>~80 %</a:t>
            </a:r>
            <a:pPr indent="0" marL="0">
              <a:spcAft>
                <a:spcPts val="1600"/>
              </a:spcAft>
              <a:buNone/>
            </a:pPr>
            <a:r>
              <a:rPr lang="en-US" sz="2000" dirty="0">
                <a:solidFill>
                  <a:srgbClr val="1B2B3A"/>
                </a:solidFill>
              </a:rPr>
              <a:t> Accuracy</a:t>
            </a:r>
            <a:endParaRPr lang="en-US" sz="2000" dirty="0"/>
          </a:p>
          <a:p>
            <a:pPr indent="0" marL="0">
              <a:spcAft>
                <a:spcPts val="1600"/>
              </a:spcAft>
              <a:buNone/>
            </a:pPr>
            <a:r>
              <a:rPr lang="en-US" sz="2000" dirty="0">
                <a:solidFill>
                  <a:srgbClr val="1B2B3A"/>
                </a:solidFill>
              </a:rPr>
              <a:t>Jedes komplexere Modell muss das </a:t>
            </a:r>
            <a:pPr indent="0" marL="0">
              <a:spcAft>
                <a:spcPts val="1600"/>
              </a:spcAft>
              <a:buNone/>
            </a:pPr>
            <a:r>
              <a:rPr lang="en-US" sz="2000" b="1" dirty="0">
                <a:solidFill>
                  <a:srgbClr val="C4452D"/>
                </a:solidFill>
              </a:rPr>
              <a:t>erst schlagen</a:t>
            </a:r>
            <a:endParaRPr lang="en-US" sz="20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4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4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4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4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822960" y="1965960"/>
            <a:ext cx="2743200" cy="457200"/>
          </a:xfrm>
          <a:prstGeom prst="rect">
            <a:avLst/>
          </a:prstGeom>
          <a:noFill/>
          <a:ln/>
        </p:spPr>
        <p:txBody>
          <a:bodyPr wrap="square" lIns="0" tIns="0" rIns="0" bIns="0" rtlCol="0" anchor="b"/>
          <a:lstStyle/>
          <a:p>
            <a:pPr indent="0" marL="0">
              <a:buNone/>
            </a:pPr>
            <a:r>
              <a:rPr lang="en-US" sz="1800" b="1" spc="300" kern="0" dirty="0">
                <a:solidFill>
                  <a:schemeClr val="accent1"/>
                </a:solidFill>
              </a:rPr>
              <a:t>04</a:t>
            </a:r>
            <a:endParaRPr lang="en-US" sz="1800" dirty="0"/>
          </a:p>
        </p:txBody>
      </p:sp>
      <p:sp>
        <p:nvSpPr>
          <p:cNvPr id="3" name="Text 0"/>
          <p:cNvSpPr/>
          <p:nvPr>
            <p:ph idx="101" type="title" hasCustomPrompt="1"/>
          </p:nvPr>
        </p:nvSpPr>
        <p:spPr>
          <a:xfrm>
            <a:off x="822960" y="2514600"/>
            <a:ext cx="7315200" cy="1097280"/>
          </a:xfrm>
          <a:prstGeom prst="rect">
            <a:avLst/>
          </a:prstGeom>
          <a:noFill/>
          <a:ln/>
        </p:spPr>
        <p:txBody>
          <a:bodyPr wrap="square" lIns="0" tIns="0" rIns="0" bIns="0" rtlCol="0" anchor="t"/>
          <a:lstStyle/>
          <a:p>
            <a:pPr algn="l" indent="0" marL="0">
              <a:buNone/>
            </a:pPr>
            <a:r>
              <a:rPr lang="en-US" sz="4800" dirty="0">
                <a:solidFill>
                  <a:schemeClr val="bg1"/>
                </a:solidFill>
              </a:rPr>
              <a:t>Support Vector Machine</a:t>
            </a:r>
            <a:endParaRPr lang="en-US" sz="4800" dirty="0"/>
          </a:p>
        </p:txBody>
      </p:sp>
      <p:sp>
        <p:nvSpPr>
          <p:cNvPr id="4" name="Text 0"/>
          <p:cNvSpPr/>
          <p:nvPr>
            <p:ph idx="102" type="body" hasCustomPrompt="1"/>
          </p:nvPr>
        </p:nvSpPr>
        <p:spPr>
          <a:xfrm>
            <a:off x="822960" y="3703320"/>
            <a:ext cx="7315200" cy="640080"/>
          </a:xfrm>
          <a:prstGeom prst="rect">
            <a:avLst/>
          </a:prstGeom>
          <a:noFill/>
          <a:ln/>
        </p:spPr>
        <p:txBody>
          <a:bodyPr wrap="square" lIns="0" tIns="0" rIns="0" bIns="0" rtlCol="0" anchor="t"/>
          <a:lstStyle/>
          <a:p>
            <a:pPr indent="0" marL="0">
              <a:buNone/>
            </a:pPr>
            <a:r>
              <a:rPr lang="en-US" sz="2200" dirty="0">
                <a:solidFill>
                  <a:schemeClr val="accent4"/>
                </a:solidFill>
              </a:rPr>
              <a:t>Hyperparameter systematisch variieren</a:t>
            </a:r>
            <a:endParaRPr lang="en-US" sz="2200" dirty="0"/>
          </a:p>
        </p:txBody>
      </p:sp>
      <p:pic>
        <p:nvPicPr>
          <p:cNvPr id="5" name="divider_icon" descr="preencoded.png">    </p:cNvPr>
          <p:cNvPicPr>
            <a:picLocks noChangeAspect="1"/>
          </p:cNvPicPr>
          <p:nvPr/>
        </p:nvPicPr>
        <p:blipFill>
          <a:blip r:embed="rId1"/>
          <a:stretch>
            <a:fillRect/>
          </a:stretch>
        </p:blipFill>
        <p:spPr>
          <a:xfrm>
            <a:off x="8412480" y="1783080"/>
            <a:ext cx="2926080" cy="2926080"/>
          </a:xfrm>
          <a:prstGeom prst="rect">
            <a:avLst/>
          </a:prstGeom>
        </p:spPr>
      </p:pic>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C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04 · SUPPORT VECTOR MACHINE</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Kernel und C systematisch variieren</a:t>
            </a:r>
            <a:endParaRPr lang="en-US" sz="3200" dirty="0"/>
          </a:p>
        </p:txBody>
      </p:sp>
      <p:pic>
        <p:nvPicPr>
          <p:cNvPr id="4" name="nb_plot" descr="/home/claude/work/nbhd/c082_rbf.png">    </p:cNvPr>
          <p:cNvPicPr>
            <a:picLocks noChangeAspect="1"/>
          </p:cNvPicPr>
          <p:nvPr/>
        </p:nvPicPr>
        <p:blipFill>
          <a:blip r:embed="rId1"/>
          <a:stretch>
            <a:fillRect/>
          </a:stretch>
        </p:blipFill>
        <p:spPr>
          <a:xfrm>
            <a:off x="640080" y="1679646"/>
            <a:ext cx="10881360" cy="3178668"/>
          </a:xfrm>
          <a:prstGeom prst="rect">
            <a:avLst/>
          </a:prstGeom>
        </p:spPr>
      </p:pic>
      <p:sp>
        <p:nvSpPr>
          <p:cNvPr id="5" name="anim_lines"/>
          <p:cNvSpPr txBox="1"/>
          <p:nvPr/>
        </p:nvSpPr>
        <p:spPr>
          <a:xfrm>
            <a:off x="640080" y="5120640"/>
            <a:ext cx="10881360" cy="1097280"/>
          </a:xfrm>
          <a:prstGeom prst="rect">
            <a:avLst/>
          </a:prstGeom>
          <a:noFill/>
          <a:ln/>
        </p:spPr>
        <p:txBody>
          <a:bodyPr wrap="square" lIns="0" tIns="0" rIns="0" bIns="0" rtlCol="0" anchor="t"/>
          <a:lstStyle/>
          <a:p>
            <a:pPr indent="0" marL="0">
              <a:spcAft>
                <a:spcPts val="1000"/>
              </a:spcAft>
              <a:buNone/>
            </a:pPr>
            <a:r>
              <a:rPr lang="en-US" sz="1800" b="1" dirty="0">
                <a:solidFill>
                  <a:srgbClr val="1B2B3A"/>
                </a:solidFill>
              </a:rPr>
              <a:t>2 Kernel × 3 Werte für C</a:t>
            </a:r>
            <a:pPr indent="0" marL="0">
              <a:spcAft>
                <a:spcPts val="1000"/>
              </a:spcAft>
              <a:buNone/>
            </a:pPr>
            <a:r>
              <a:rPr lang="en-US" sz="1800" dirty="0">
                <a:solidFill>
                  <a:srgbClr val="1B2B3A"/>
                </a:solidFill>
              </a:rPr>
              <a:t> – jede Variante mit Confusion Matrix, nicht nur einer Zahl</a:t>
            </a:r>
            <a:endParaRPr lang="en-US" sz="1800" dirty="0"/>
          </a:p>
          <a:p>
            <a:pPr indent="0" marL="0">
              <a:spcAft>
                <a:spcPts val="1000"/>
              </a:spcAft>
              <a:buNone/>
            </a:pPr>
            <a:r>
              <a:rPr lang="en-US" sz="1800" dirty="0">
                <a:solidFill>
                  <a:srgbClr val="1B2B3A"/>
                </a:solidFill>
              </a:rPr>
              <a:t>RBF, C = 0,01: höchste ROC-AUC, sagt aber </a:t>
            </a:r>
            <a:pPr indent="0" marL="0">
              <a:spcAft>
                <a:spcPts val="1000"/>
              </a:spcAft>
              <a:buNone/>
            </a:pPr>
            <a:r>
              <a:rPr lang="en-US" sz="1800" b="1" dirty="0">
                <a:solidFill>
                  <a:srgbClr val="C4452D"/>
                </a:solidFill>
              </a:rPr>
              <a:t>nur „nicht überlebt“</a:t>
            </a:r>
            <a:pPr indent="0" marL="0">
              <a:spcAft>
                <a:spcPts val="1000"/>
              </a:spcAft>
              <a:buNone/>
            </a:pPr>
            <a:r>
              <a:rPr lang="en-US" sz="1800" dirty="0">
                <a:solidFill>
                  <a:srgbClr val="1B2B3A"/>
                </a:solidFill>
              </a:rPr>
              <a:t> → eine Kennzahl allein täuscht</a:t>
            </a:r>
            <a:endParaRPr lang="en-US" sz="18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4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4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04 · SUPPORT VECTOR MACHINE</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Fehleranalyse: Wo liegt das Modell daneben?</a:t>
            </a:r>
            <a:endParaRPr lang="en-US" sz="3200" dirty="0"/>
          </a:p>
        </p:txBody>
      </p:sp>
      <p:pic>
        <p:nvPicPr>
          <p:cNvPr id="4" name="nb_plot" descr="/home/claude/work/nbhd/c089_crop.png">    </p:cNvPr>
          <p:cNvPicPr>
            <a:picLocks noChangeAspect="1"/>
          </p:cNvPicPr>
          <p:nvPr/>
        </p:nvPicPr>
        <p:blipFill>
          <a:blip r:embed="rId1"/>
          <a:stretch>
            <a:fillRect/>
          </a:stretch>
        </p:blipFill>
        <p:spPr>
          <a:xfrm>
            <a:off x="548640" y="2205189"/>
            <a:ext cx="7223760" cy="3362021"/>
          </a:xfrm>
          <a:prstGeom prst="rect">
            <a:avLst/>
          </a:prstGeom>
        </p:spPr>
      </p:pic>
      <p:sp>
        <p:nvSpPr>
          <p:cNvPr id="5" name="anim_lines"/>
          <p:cNvSpPr txBox="1"/>
          <p:nvPr/>
        </p:nvSpPr>
        <p:spPr>
          <a:xfrm>
            <a:off x="8046720" y="2103120"/>
            <a:ext cx="3566160" cy="3840480"/>
          </a:xfrm>
          <a:prstGeom prst="rect">
            <a:avLst/>
          </a:prstGeom>
          <a:noFill/>
          <a:ln/>
        </p:spPr>
        <p:txBody>
          <a:bodyPr wrap="square" lIns="0" tIns="0" rIns="0" bIns="0" rtlCol="0" anchor="t"/>
          <a:lstStyle/>
          <a:p>
            <a:pPr indent="0" marL="0">
              <a:spcAft>
                <a:spcPts val="1600"/>
              </a:spcAft>
              <a:buNone/>
            </a:pPr>
            <a:r>
              <a:rPr lang="en-US" sz="1800" dirty="0">
                <a:solidFill>
                  <a:srgbClr val="1B2B3A"/>
                </a:solidFill>
              </a:rPr>
              <a:t>Fehler nach Gruppen </a:t>
            </a:r>
            <a:pPr indent="0" marL="0">
              <a:spcAft>
                <a:spcPts val="1600"/>
              </a:spcAft>
              <a:buNone/>
            </a:pPr>
            <a:r>
              <a:rPr lang="en-US" sz="1800" b="1" dirty="0">
                <a:solidFill>
                  <a:srgbClr val="1B2B3A"/>
                </a:solidFill>
              </a:rPr>
              <a:t>aufschlüsseln</a:t>
            </a:r>
            <a:pPr indent="0" marL="0">
              <a:spcAft>
                <a:spcPts val="1600"/>
              </a:spcAft>
              <a:buNone/>
            </a:pPr>
            <a:r>
              <a:rPr lang="en-US" sz="1800" dirty="0">
                <a:solidFill>
                  <a:srgbClr val="1B2B3A"/>
                </a:solidFill>
              </a:rPr>
              <a:t>, nicht nur zählen</a:t>
            </a:r>
            <a:endParaRPr lang="en-US" sz="1800" dirty="0"/>
          </a:p>
          <a:p>
            <a:pPr indent="0" marL="0">
              <a:spcAft>
                <a:spcPts val="1600"/>
              </a:spcAft>
              <a:buNone/>
            </a:pPr>
            <a:r>
              <a:rPr lang="en-US" sz="1800" dirty="0">
                <a:solidFill>
                  <a:srgbClr val="1B2B3A"/>
                </a:solidFill>
              </a:rPr>
              <a:t>Übersehen: vor allem </a:t>
            </a:r>
            <a:pPr indent="0" marL="0">
              <a:spcAft>
                <a:spcPts val="1600"/>
              </a:spcAft>
              <a:buNone/>
            </a:pPr>
            <a:r>
              <a:rPr lang="en-US" sz="1800" b="1" dirty="0">
                <a:solidFill>
                  <a:srgbClr val="1B2B3A"/>
                </a:solidFill>
              </a:rPr>
              <a:t>Männer</a:t>
            </a:r>
            <a:pPr indent="0" marL="0">
              <a:spcAft>
                <a:spcPts val="1600"/>
              </a:spcAft>
              <a:buNone/>
            </a:pPr>
            <a:r>
              <a:rPr lang="en-US" sz="1800" dirty="0">
                <a:solidFill>
                  <a:srgbClr val="1B2B3A"/>
                </a:solidFill>
              </a:rPr>
              <a:t> und </a:t>
            </a:r>
            <a:pPr indent="0" marL="0">
              <a:spcAft>
                <a:spcPts val="1600"/>
              </a:spcAft>
              <a:buNone/>
            </a:pPr>
            <a:r>
              <a:rPr lang="en-US" sz="1800" b="1" dirty="0">
                <a:solidFill>
                  <a:srgbClr val="1B2B3A"/>
                </a:solidFill>
              </a:rPr>
              <a:t>3. Klasse</a:t>
            </a:r>
            <a:endParaRPr lang="en-US" sz="1800" dirty="0"/>
          </a:p>
          <a:p>
            <a:pPr indent="0" marL="0">
              <a:spcAft>
                <a:spcPts val="1600"/>
              </a:spcAft>
              <a:buNone/>
            </a:pPr>
            <a:r>
              <a:rPr lang="en-US" sz="1800" dirty="0">
                <a:solidFill>
                  <a:srgbClr val="1B2B3A"/>
                </a:solidFill>
              </a:rPr>
              <a:t>Dem Modell fehlt </a:t>
            </a:r>
            <a:pPr indent="0" marL="0">
              <a:spcAft>
                <a:spcPts val="1600"/>
              </a:spcAft>
              <a:buNone/>
            </a:pPr>
            <a:r>
              <a:rPr lang="en-US" sz="1800" b="1" dirty="0">
                <a:solidFill>
                  <a:srgbClr val="C4452D"/>
                </a:solidFill>
              </a:rPr>
              <a:t>Information</a:t>
            </a:r>
            <a:pPr indent="0" marL="0">
              <a:spcAft>
                <a:spcPts val="1600"/>
              </a:spcAft>
              <a:buNone/>
            </a:pPr>
            <a:r>
              <a:rPr lang="en-US" sz="1800" dirty="0">
                <a:solidFill>
                  <a:srgbClr val="1B2B3A"/>
                </a:solidFill>
              </a:rPr>
              <a:t> – nicht Komplexität</a:t>
            </a:r>
            <a:endParaRPr lang="en-US" sz="18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4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4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4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822960" y="1965960"/>
            <a:ext cx="2743200" cy="457200"/>
          </a:xfrm>
          <a:prstGeom prst="rect">
            <a:avLst/>
          </a:prstGeom>
          <a:noFill/>
          <a:ln/>
        </p:spPr>
        <p:txBody>
          <a:bodyPr wrap="square" lIns="0" tIns="0" rIns="0" bIns="0" rtlCol="0" anchor="b"/>
          <a:lstStyle/>
          <a:p>
            <a:pPr indent="0" marL="0">
              <a:buNone/>
            </a:pPr>
            <a:r>
              <a:rPr lang="en-US" sz="1800" b="1" spc="300" kern="0" dirty="0">
                <a:solidFill>
                  <a:schemeClr val="accent1"/>
                </a:solidFill>
              </a:rPr>
              <a:t>05</a:t>
            </a:r>
            <a:endParaRPr lang="en-US" sz="1800" dirty="0"/>
          </a:p>
        </p:txBody>
      </p:sp>
      <p:sp>
        <p:nvSpPr>
          <p:cNvPr id="3" name="Text 0"/>
          <p:cNvSpPr/>
          <p:nvPr>
            <p:ph idx="101" type="title" hasCustomPrompt="1"/>
          </p:nvPr>
        </p:nvSpPr>
        <p:spPr>
          <a:xfrm>
            <a:off x="822960" y="2514600"/>
            <a:ext cx="7315200" cy="1097280"/>
          </a:xfrm>
          <a:prstGeom prst="rect">
            <a:avLst/>
          </a:prstGeom>
          <a:noFill/>
          <a:ln/>
        </p:spPr>
        <p:txBody>
          <a:bodyPr wrap="square" lIns="0" tIns="0" rIns="0" bIns="0" rtlCol="0" anchor="t"/>
          <a:lstStyle/>
          <a:p>
            <a:pPr algn="l" indent="0" marL="0">
              <a:buNone/>
            </a:pPr>
            <a:r>
              <a:rPr lang="en-US" sz="4800" dirty="0">
                <a:solidFill>
                  <a:schemeClr val="bg1"/>
                </a:solidFill>
              </a:rPr>
              <a:t>Random Forest</a:t>
            </a:r>
            <a:endParaRPr lang="en-US" sz="4800" dirty="0"/>
          </a:p>
        </p:txBody>
      </p:sp>
      <p:sp>
        <p:nvSpPr>
          <p:cNvPr id="4" name="Text 0"/>
          <p:cNvSpPr/>
          <p:nvPr>
            <p:ph idx="102" type="body" hasCustomPrompt="1"/>
          </p:nvPr>
        </p:nvSpPr>
        <p:spPr>
          <a:xfrm>
            <a:off x="822960" y="3703320"/>
            <a:ext cx="7315200" cy="640080"/>
          </a:xfrm>
          <a:prstGeom prst="rect">
            <a:avLst/>
          </a:prstGeom>
          <a:noFill/>
          <a:ln/>
        </p:spPr>
        <p:txBody>
          <a:bodyPr wrap="square" lIns="0" tIns="0" rIns="0" bIns="0" rtlCol="0" anchor="t"/>
          <a:lstStyle/>
          <a:p>
            <a:pPr indent="0" marL="0">
              <a:buNone/>
            </a:pPr>
            <a:r>
              <a:rPr lang="en-US" sz="2200" dirty="0">
                <a:solidFill>
                  <a:schemeClr val="accent4"/>
                </a:solidFill>
              </a:rPr>
              <a:t>Erst diagnostizieren, dann tunen</a:t>
            </a:r>
            <a:endParaRPr lang="en-US" sz="2200" dirty="0"/>
          </a:p>
        </p:txBody>
      </p:sp>
      <p:pic>
        <p:nvPicPr>
          <p:cNvPr id="5" name="divider_icon" descr="preencoded.png">    </p:cNvPr>
          <p:cNvPicPr>
            <a:picLocks noChangeAspect="1"/>
          </p:cNvPicPr>
          <p:nvPr/>
        </p:nvPicPr>
        <p:blipFill>
          <a:blip r:embed="rId1"/>
          <a:stretch>
            <a:fillRect/>
          </a:stretch>
        </p:blipFill>
        <p:spPr>
          <a:xfrm>
            <a:off x="8412480" y="1783080"/>
            <a:ext cx="2926080" cy="2926080"/>
          </a:xfrm>
          <a:prstGeom prst="rect">
            <a:avLst/>
          </a:prstGeom>
        </p:spPr>
      </p:pic>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C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05 · RANDOM FOREST</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Gezielt tunen statt alles durchprobieren</a:t>
            </a:r>
            <a:endParaRPr lang="en-US" sz="3200" dirty="0"/>
          </a:p>
        </p:txBody>
      </p:sp>
      <p:sp>
        <p:nvSpPr>
          <p:cNvPr id="4" name="flow_box"/>
          <p:cNvSpPr/>
          <p:nvPr/>
        </p:nvSpPr>
        <p:spPr>
          <a:xfrm>
            <a:off x="640080" y="2011680"/>
            <a:ext cx="1898294" cy="868680"/>
          </a:xfrm>
          <a:prstGeom prst="roundRect">
            <a:avLst>
              <a:gd name="adj" fmla="val 10526"/>
            </a:avLst>
          </a:prstGeom>
          <a:solidFill>
            <a:srgbClr val="EEF2F5"/>
          </a:solidFill>
          <a:ln/>
        </p:spPr>
        <p:txBody>
          <a:bodyPr wrap="square" lIns="635" tIns="635" rIns="635" bIns="635" rtlCol="0" anchor="ctr"/>
          <a:lstStyle/>
          <a:p>
            <a:pPr algn="ctr" indent="0" marL="0">
              <a:buNone/>
            </a:pPr>
            <a:r>
              <a:rPr lang="en-US" sz="1800" dirty="0">
                <a:solidFill>
                  <a:srgbClr val="1B2B3A"/>
                </a:solidFill>
                <a:latin typeface="Cambria" pitchFamily="34" charset="0"/>
                <a:ea typeface="Cambria" pitchFamily="34" charset="-122"/>
                <a:cs typeface="Cambria" pitchFamily="34" charset="-120"/>
              </a:rPr>
              <a:t>1  Standard</a:t>
            </a:r>
            <a:endParaRPr lang="en-US" sz="1800" dirty="0"/>
          </a:p>
        </p:txBody>
      </p:sp>
      <p:sp>
        <p:nvSpPr>
          <p:cNvPr id="5" name="flow_sub"/>
          <p:cNvSpPr txBox="1"/>
          <p:nvPr/>
        </p:nvSpPr>
        <p:spPr>
          <a:xfrm>
            <a:off x="640080" y="2990088"/>
            <a:ext cx="1898294" cy="685800"/>
          </a:xfrm>
          <a:prstGeom prst="rect">
            <a:avLst/>
          </a:prstGeom>
          <a:noFill/>
          <a:ln/>
        </p:spPr>
        <p:txBody>
          <a:bodyPr wrap="square" lIns="0" tIns="0" rIns="0" bIns="0" rtlCol="0" anchor="t"/>
          <a:lstStyle/>
          <a:p>
            <a:pPr algn="ctr" indent="0" marL="0">
              <a:buNone/>
            </a:pPr>
            <a:r>
              <a:rPr lang="en-US" sz="1300" dirty="0">
                <a:solidFill>
                  <a:srgbClr val="5A6B7B"/>
                </a:solidFill>
              </a:rPr>
              <a:t>300 Bäume, keine Grenzen</a:t>
            </a:r>
            <a:endParaRPr lang="en-US" sz="1300" dirty="0"/>
          </a:p>
        </p:txBody>
      </p:sp>
      <p:sp>
        <p:nvSpPr>
          <p:cNvPr id="6" name="flow_arrow"/>
          <p:cNvSpPr/>
          <p:nvPr/>
        </p:nvSpPr>
        <p:spPr>
          <a:xfrm>
            <a:off x="2602382" y="2446020"/>
            <a:ext cx="219456" cy="0"/>
          </a:xfrm>
          <a:prstGeom prst="line">
            <a:avLst/>
          </a:prstGeom>
          <a:noFill/>
          <a:ln w="15875">
            <a:solidFill>
              <a:srgbClr val="8FA9BE"/>
            </a:solidFill>
            <a:prstDash val="solid"/>
            <a:tailEnd type="triangle"/>
          </a:ln>
        </p:spPr>
      </p:sp>
      <p:sp>
        <p:nvSpPr>
          <p:cNvPr id="7" name="flow_box"/>
          <p:cNvSpPr/>
          <p:nvPr/>
        </p:nvSpPr>
        <p:spPr>
          <a:xfrm>
            <a:off x="2885846" y="2011680"/>
            <a:ext cx="1898294" cy="868680"/>
          </a:xfrm>
          <a:prstGeom prst="roundRect">
            <a:avLst>
              <a:gd name="adj" fmla="val 10526"/>
            </a:avLst>
          </a:prstGeom>
          <a:solidFill>
            <a:srgbClr val="EEF2F5"/>
          </a:solidFill>
          <a:ln/>
        </p:spPr>
        <p:txBody>
          <a:bodyPr wrap="square" lIns="635" tIns="635" rIns="635" bIns="635" rtlCol="0" anchor="ctr"/>
          <a:lstStyle/>
          <a:p>
            <a:pPr algn="ctr" indent="0" marL="0">
              <a:buNone/>
            </a:pPr>
            <a:r>
              <a:rPr lang="en-US" sz="1800" dirty="0">
                <a:solidFill>
                  <a:srgbClr val="1B2B3A"/>
                </a:solidFill>
                <a:latin typeface="Cambria" pitchFamily="34" charset="0"/>
                <a:ea typeface="Cambria" pitchFamily="34" charset="-122"/>
                <a:cs typeface="Cambria" pitchFamily="34" charset="-120"/>
              </a:rPr>
              <a:t>2  Diagnose</a:t>
            </a:r>
            <a:endParaRPr lang="en-US" sz="1800" dirty="0"/>
          </a:p>
        </p:txBody>
      </p:sp>
      <p:sp>
        <p:nvSpPr>
          <p:cNvPr id="8" name="flow_sub"/>
          <p:cNvSpPr txBox="1"/>
          <p:nvPr/>
        </p:nvSpPr>
        <p:spPr>
          <a:xfrm>
            <a:off x="2885846" y="2990088"/>
            <a:ext cx="1898294" cy="685800"/>
          </a:xfrm>
          <a:prstGeom prst="rect">
            <a:avLst/>
          </a:prstGeom>
          <a:noFill/>
          <a:ln/>
        </p:spPr>
        <p:txBody>
          <a:bodyPr wrap="square" lIns="0" tIns="0" rIns="0" bIns="0" rtlCol="0" anchor="t"/>
          <a:lstStyle/>
          <a:p>
            <a:pPr algn="ctr" indent="0" marL="0">
              <a:buNone/>
            </a:pPr>
            <a:r>
              <a:rPr lang="en-US" sz="1300" dirty="0">
                <a:solidFill>
                  <a:srgbClr val="5A6B7B"/>
                </a:solidFill>
              </a:rPr>
              <a:t>98 % Training, 81 % Validierung</a:t>
            </a:r>
            <a:endParaRPr lang="en-US" sz="1300" dirty="0"/>
          </a:p>
        </p:txBody>
      </p:sp>
      <p:sp>
        <p:nvSpPr>
          <p:cNvPr id="9" name="flow_arrow"/>
          <p:cNvSpPr/>
          <p:nvPr/>
        </p:nvSpPr>
        <p:spPr>
          <a:xfrm>
            <a:off x="4848149" y="2446020"/>
            <a:ext cx="219456" cy="0"/>
          </a:xfrm>
          <a:prstGeom prst="line">
            <a:avLst/>
          </a:prstGeom>
          <a:noFill/>
          <a:ln w="15875">
            <a:solidFill>
              <a:srgbClr val="8FA9BE"/>
            </a:solidFill>
            <a:prstDash val="solid"/>
            <a:tailEnd type="triangle"/>
          </a:ln>
        </p:spPr>
      </p:sp>
      <p:sp>
        <p:nvSpPr>
          <p:cNvPr id="10" name="flow_box"/>
          <p:cNvSpPr/>
          <p:nvPr/>
        </p:nvSpPr>
        <p:spPr>
          <a:xfrm>
            <a:off x="5131613" y="2011680"/>
            <a:ext cx="1898294" cy="868680"/>
          </a:xfrm>
          <a:prstGeom prst="roundRect">
            <a:avLst>
              <a:gd name="adj" fmla="val 10526"/>
            </a:avLst>
          </a:prstGeom>
          <a:solidFill>
            <a:srgbClr val="EEF2F5"/>
          </a:solidFill>
          <a:ln/>
        </p:spPr>
        <p:txBody>
          <a:bodyPr wrap="square" lIns="635" tIns="635" rIns="635" bIns="635" rtlCol="0" anchor="ctr"/>
          <a:lstStyle/>
          <a:p>
            <a:pPr algn="ctr" indent="0" marL="0">
              <a:buNone/>
            </a:pPr>
            <a:r>
              <a:rPr lang="en-US" sz="1800" dirty="0">
                <a:solidFill>
                  <a:srgbClr val="1B2B3A"/>
                </a:solidFill>
                <a:latin typeface="Cambria" pitchFamily="34" charset="0"/>
                <a:ea typeface="Cambria" pitchFamily="34" charset="-122"/>
                <a:cs typeface="Cambria" pitchFamily="34" charset="-120"/>
              </a:rPr>
              <a:t>3  Hypothese</a:t>
            </a:r>
            <a:endParaRPr lang="en-US" sz="1800" dirty="0"/>
          </a:p>
        </p:txBody>
      </p:sp>
      <p:sp>
        <p:nvSpPr>
          <p:cNvPr id="11" name="flow_sub"/>
          <p:cNvSpPr txBox="1"/>
          <p:nvPr/>
        </p:nvSpPr>
        <p:spPr>
          <a:xfrm>
            <a:off x="5131613" y="2990088"/>
            <a:ext cx="1898294" cy="685800"/>
          </a:xfrm>
          <a:prstGeom prst="rect">
            <a:avLst/>
          </a:prstGeom>
          <a:noFill/>
          <a:ln/>
        </p:spPr>
        <p:txBody>
          <a:bodyPr wrap="square" lIns="0" tIns="0" rIns="0" bIns="0" rtlCol="0" anchor="t"/>
          <a:lstStyle/>
          <a:p>
            <a:pPr algn="ctr" indent="0" marL="0">
              <a:buNone/>
            </a:pPr>
            <a:r>
              <a:rPr lang="en-US" sz="1300" dirty="0">
                <a:solidFill>
                  <a:srgbClr val="5A6B7B"/>
                </a:solidFill>
              </a:rPr>
              <a:t>Blätter zu klein → Auswendiglernen</a:t>
            </a:r>
            <a:endParaRPr lang="en-US" sz="1300" dirty="0"/>
          </a:p>
        </p:txBody>
      </p:sp>
      <p:sp>
        <p:nvSpPr>
          <p:cNvPr id="12" name="flow_arrow"/>
          <p:cNvSpPr/>
          <p:nvPr/>
        </p:nvSpPr>
        <p:spPr>
          <a:xfrm>
            <a:off x="7093915" y="2446020"/>
            <a:ext cx="219456" cy="0"/>
          </a:xfrm>
          <a:prstGeom prst="line">
            <a:avLst/>
          </a:prstGeom>
          <a:noFill/>
          <a:ln w="15875">
            <a:solidFill>
              <a:srgbClr val="8FA9BE"/>
            </a:solidFill>
            <a:prstDash val="solid"/>
            <a:tailEnd type="triangle"/>
          </a:ln>
        </p:spPr>
      </p:sp>
      <p:sp>
        <p:nvSpPr>
          <p:cNvPr id="13" name="flow_box"/>
          <p:cNvSpPr/>
          <p:nvPr/>
        </p:nvSpPr>
        <p:spPr>
          <a:xfrm>
            <a:off x="7377379" y="2011680"/>
            <a:ext cx="1898294" cy="868680"/>
          </a:xfrm>
          <a:prstGeom prst="roundRect">
            <a:avLst>
              <a:gd name="adj" fmla="val 10526"/>
            </a:avLst>
          </a:prstGeom>
          <a:solidFill>
            <a:srgbClr val="EEF2F5"/>
          </a:solidFill>
          <a:ln/>
        </p:spPr>
        <p:txBody>
          <a:bodyPr wrap="square" lIns="635" tIns="635" rIns="635" bIns="635" rtlCol="0" anchor="ctr"/>
          <a:lstStyle/>
          <a:p>
            <a:pPr algn="ctr" indent="0" marL="0">
              <a:buNone/>
            </a:pPr>
            <a:r>
              <a:rPr lang="en-US" sz="1800" dirty="0">
                <a:solidFill>
                  <a:srgbClr val="1B2B3A"/>
                </a:solidFill>
                <a:latin typeface="Cambria" pitchFamily="34" charset="0"/>
                <a:ea typeface="Cambria" pitchFamily="34" charset="-122"/>
                <a:cs typeface="Cambria" pitchFamily="34" charset="-120"/>
              </a:rPr>
              <a:t>4  Tuning</a:t>
            </a:r>
            <a:endParaRPr lang="en-US" sz="1800" dirty="0"/>
          </a:p>
        </p:txBody>
      </p:sp>
      <p:sp>
        <p:nvSpPr>
          <p:cNvPr id="14" name="flow_sub"/>
          <p:cNvSpPr txBox="1"/>
          <p:nvPr/>
        </p:nvSpPr>
        <p:spPr>
          <a:xfrm>
            <a:off x="7377379" y="2990088"/>
            <a:ext cx="1898294" cy="685800"/>
          </a:xfrm>
          <a:prstGeom prst="rect">
            <a:avLst/>
          </a:prstGeom>
          <a:noFill/>
          <a:ln/>
        </p:spPr>
        <p:txBody>
          <a:bodyPr wrap="square" lIns="0" tIns="0" rIns="0" bIns="0" rtlCol="0" anchor="t"/>
          <a:lstStyle/>
          <a:p>
            <a:pPr algn="ctr" indent="0" marL="0">
              <a:buNone/>
            </a:pPr>
            <a:r>
              <a:rPr lang="en-US" sz="1300" dirty="0">
                <a:solidFill>
                  <a:srgbClr val="5A6B7B"/>
                </a:solidFill>
              </a:rPr>
              <a:t>Grid Search mit 5-fold CV</a:t>
            </a:r>
            <a:endParaRPr lang="en-US" sz="1300" dirty="0"/>
          </a:p>
        </p:txBody>
      </p:sp>
      <p:sp>
        <p:nvSpPr>
          <p:cNvPr id="15" name="flow_arrow"/>
          <p:cNvSpPr/>
          <p:nvPr/>
        </p:nvSpPr>
        <p:spPr>
          <a:xfrm>
            <a:off x="9339682" y="2446020"/>
            <a:ext cx="219456" cy="0"/>
          </a:xfrm>
          <a:prstGeom prst="line">
            <a:avLst/>
          </a:prstGeom>
          <a:noFill/>
          <a:ln w="15875">
            <a:solidFill>
              <a:srgbClr val="8FA9BE"/>
            </a:solidFill>
            <a:prstDash val="solid"/>
            <a:tailEnd type="triangle"/>
          </a:ln>
        </p:spPr>
      </p:sp>
      <p:sp>
        <p:nvSpPr>
          <p:cNvPr id="16" name="flow_box"/>
          <p:cNvSpPr/>
          <p:nvPr/>
        </p:nvSpPr>
        <p:spPr>
          <a:xfrm>
            <a:off x="9623146" y="2011680"/>
            <a:ext cx="1898294" cy="868680"/>
          </a:xfrm>
          <a:prstGeom prst="roundRect">
            <a:avLst>
              <a:gd name="adj" fmla="val 10526"/>
            </a:avLst>
          </a:prstGeom>
          <a:solidFill>
            <a:srgbClr val="3E6E8E"/>
          </a:solidFill>
          <a:ln/>
        </p:spPr>
        <p:txBody>
          <a:bodyPr wrap="square" lIns="635" tIns="635" rIns="635" bIns="635"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5  Prüfen</a:t>
            </a:r>
            <a:endParaRPr lang="en-US" sz="1800" dirty="0"/>
          </a:p>
        </p:txBody>
      </p:sp>
      <p:sp>
        <p:nvSpPr>
          <p:cNvPr id="17" name="flow_sub"/>
          <p:cNvSpPr txBox="1"/>
          <p:nvPr/>
        </p:nvSpPr>
        <p:spPr>
          <a:xfrm>
            <a:off x="9623146" y="2990088"/>
            <a:ext cx="1898294" cy="685800"/>
          </a:xfrm>
          <a:prstGeom prst="rect">
            <a:avLst/>
          </a:prstGeom>
          <a:noFill/>
          <a:ln/>
        </p:spPr>
        <p:txBody>
          <a:bodyPr wrap="square" lIns="0" tIns="0" rIns="0" bIns="0" rtlCol="0" anchor="t"/>
          <a:lstStyle/>
          <a:p>
            <a:pPr algn="ctr" indent="0" marL="0">
              <a:buNone/>
            </a:pPr>
            <a:r>
              <a:rPr lang="en-US" sz="1300" dirty="0">
                <a:solidFill>
                  <a:srgbClr val="5A6B7B"/>
                </a:solidFill>
              </a:rPr>
              <a:t>Lücke 17 → 10 Prozentpunkte</a:t>
            </a:r>
            <a:endParaRPr lang="en-US" sz="1300" dirty="0"/>
          </a:p>
        </p:txBody>
      </p:sp>
      <p:sp>
        <p:nvSpPr>
          <p:cNvPr id="18" name="anim_lines"/>
          <p:cNvSpPr txBox="1"/>
          <p:nvPr/>
        </p:nvSpPr>
        <p:spPr>
          <a:xfrm>
            <a:off x="640080" y="4297680"/>
            <a:ext cx="10881360" cy="1463040"/>
          </a:xfrm>
          <a:prstGeom prst="rect">
            <a:avLst/>
          </a:prstGeom>
          <a:noFill/>
          <a:ln/>
        </p:spPr>
        <p:txBody>
          <a:bodyPr wrap="square" lIns="0" tIns="0" rIns="0" bIns="0" rtlCol="0" anchor="t"/>
          <a:lstStyle/>
          <a:p>
            <a:pPr indent="0" marL="0">
              <a:spcAft>
                <a:spcPts val="1600"/>
              </a:spcAft>
              <a:buNone/>
            </a:pPr>
            <a:r>
              <a:rPr lang="en-US" sz="2000" dirty="0">
                <a:solidFill>
                  <a:srgbClr val="1B2B3A"/>
                </a:solidFill>
              </a:rPr>
              <a:t>An der </a:t>
            </a:r>
            <a:pPr indent="0" marL="0">
              <a:spcAft>
                <a:spcPts val="1600"/>
              </a:spcAft>
              <a:buNone/>
            </a:pPr>
            <a:r>
              <a:rPr lang="en-US" sz="2000" b="1" dirty="0">
                <a:solidFill>
                  <a:srgbClr val="1B2B3A"/>
                </a:solidFill>
              </a:rPr>
              <a:t>Ursache</a:t>
            </a:r>
            <a:pPr indent="0" marL="0">
              <a:spcAft>
                <a:spcPts val="1600"/>
              </a:spcAft>
              <a:buNone/>
            </a:pPr>
            <a:r>
              <a:rPr lang="en-US" sz="2000" dirty="0">
                <a:solidFill>
                  <a:srgbClr val="1B2B3A"/>
                </a:solidFill>
              </a:rPr>
              <a:t> ansetzen, nicht blind alles tunen</a:t>
            </a:r>
            <a:endParaRPr lang="en-US" sz="2000" dirty="0"/>
          </a:p>
          <a:p>
            <a:pPr indent="0" marL="0">
              <a:spcAft>
                <a:spcPts val="1600"/>
              </a:spcAft>
              <a:buNone/>
            </a:pPr>
            <a:r>
              <a:rPr lang="en-US" sz="2000" dirty="0">
                <a:solidFill>
                  <a:srgbClr val="1B2B3A"/>
                </a:solidFill>
              </a:rPr>
              <a:t>Darum nur zwei Hyperparameter: </a:t>
            </a:r>
            <a:pPr indent="0" marL="0">
              <a:spcAft>
                <a:spcPts val="1600"/>
              </a:spcAft>
              <a:buNone/>
            </a:pPr>
            <a:r>
              <a:rPr lang="en-US" sz="2000" b="1" dirty="0">
                <a:solidFill>
                  <a:srgbClr val="1B2B3A"/>
                </a:solidFill>
              </a:rPr>
              <a:t>Tiefe</a:t>
            </a:r>
            <a:pPr indent="0" marL="0">
              <a:spcAft>
                <a:spcPts val="1600"/>
              </a:spcAft>
              <a:buNone/>
            </a:pPr>
            <a:r>
              <a:rPr lang="en-US" sz="2000" dirty="0">
                <a:solidFill>
                  <a:srgbClr val="1B2B3A"/>
                </a:solidFill>
              </a:rPr>
              <a:t> und </a:t>
            </a:r>
            <a:pPr indent="0" marL="0">
              <a:spcAft>
                <a:spcPts val="1600"/>
              </a:spcAft>
              <a:buNone/>
            </a:pPr>
            <a:r>
              <a:rPr lang="en-US" sz="2000" b="1" dirty="0">
                <a:solidFill>
                  <a:srgbClr val="1B2B3A"/>
                </a:solidFill>
              </a:rPr>
              <a:t>Mindestgröße der Blätter</a:t>
            </a:r>
            <a:endParaRPr lang="en-US" sz="20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4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4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05 · RANDOM FOREST</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Tuning mit Cross-Validation statt Ausprobieren</a:t>
            </a:r>
            <a:endParaRPr lang="en-US" sz="3200" dirty="0"/>
          </a:p>
        </p:txBody>
      </p:sp>
      <p:pic>
        <p:nvPicPr>
          <p:cNvPr id="4" name="nb_plot" descr="/home/claude/work/nbhd/c098_1.png">    </p:cNvPr>
          <p:cNvPicPr>
            <a:picLocks noChangeAspect="1"/>
          </p:cNvPicPr>
          <p:nvPr/>
        </p:nvPicPr>
        <p:blipFill>
          <a:blip r:embed="rId1"/>
          <a:stretch>
            <a:fillRect/>
          </a:stretch>
        </p:blipFill>
        <p:spPr>
          <a:xfrm>
            <a:off x="627507" y="1645920"/>
            <a:ext cx="5328666" cy="4526280"/>
          </a:xfrm>
          <a:prstGeom prst="rect">
            <a:avLst/>
          </a:prstGeom>
        </p:spPr>
      </p:pic>
      <p:sp>
        <p:nvSpPr>
          <p:cNvPr id="5" name="anim_lines"/>
          <p:cNvSpPr txBox="1"/>
          <p:nvPr/>
        </p:nvSpPr>
        <p:spPr>
          <a:xfrm>
            <a:off x="6492240" y="2011680"/>
            <a:ext cx="5120640" cy="4023360"/>
          </a:xfrm>
          <a:prstGeom prst="rect">
            <a:avLst/>
          </a:prstGeom>
          <a:noFill/>
          <a:ln/>
        </p:spPr>
        <p:txBody>
          <a:bodyPr wrap="square" lIns="0" tIns="0" rIns="0" bIns="0" rtlCol="0" anchor="t"/>
          <a:lstStyle/>
          <a:p>
            <a:pPr indent="0" marL="0">
              <a:spcAft>
                <a:spcPts val="1600"/>
              </a:spcAft>
              <a:buNone/>
            </a:pPr>
            <a:r>
              <a:rPr lang="en-US" sz="2000" b="1" dirty="0">
                <a:solidFill>
                  <a:srgbClr val="1B2B3A"/>
                </a:solidFill>
              </a:rPr>
              <a:t>GridSearchCV</a:t>
            </a:r>
            <a:pPr indent="0" marL="0">
              <a:spcAft>
                <a:spcPts val="1600"/>
              </a:spcAft>
              <a:buNone/>
            </a:pPr>
            <a:r>
              <a:rPr lang="en-US" sz="2000" dirty="0">
                <a:solidFill>
                  <a:srgbClr val="1B2B3A"/>
                </a:solidFill>
              </a:rPr>
              <a:t>: 20 Kombinationen × 5 Folds</a:t>
            </a:r>
            <a:endParaRPr lang="en-US" sz="2000" dirty="0"/>
          </a:p>
          <a:p>
            <a:pPr indent="0" marL="0">
              <a:spcAft>
                <a:spcPts val="1600"/>
              </a:spcAft>
              <a:buNone/>
            </a:pPr>
            <a:r>
              <a:rPr lang="en-US" sz="2000" dirty="0">
                <a:solidFill>
                  <a:srgbClr val="1B2B3A"/>
                </a:solidFill>
              </a:rPr>
              <a:t>Nur auf den Trainingsdaten – Validierung bleibt </a:t>
            </a:r>
            <a:pPr indent="0" marL="0">
              <a:spcAft>
                <a:spcPts val="1600"/>
              </a:spcAft>
              <a:buNone/>
            </a:pPr>
            <a:r>
              <a:rPr lang="en-US" sz="2000" b="1" dirty="0">
                <a:solidFill>
                  <a:srgbClr val="1B2B3A"/>
                </a:solidFill>
              </a:rPr>
              <a:t>unberührt</a:t>
            </a:r>
            <a:endParaRPr lang="en-US" sz="2000" dirty="0"/>
          </a:p>
          <a:p>
            <a:pPr indent="0" marL="0">
              <a:spcAft>
                <a:spcPts val="1600"/>
              </a:spcAft>
              <a:buNone/>
            </a:pPr>
            <a:r>
              <a:rPr lang="en-US" sz="2000" dirty="0">
                <a:solidFill>
                  <a:srgbClr val="1B2B3A"/>
                </a:solidFill>
              </a:rPr>
              <a:t>Gewinner: mind. </a:t>
            </a:r>
            <a:pPr indent="0" marL="0">
              <a:spcAft>
                <a:spcPts val="1600"/>
              </a:spcAft>
              <a:buNone/>
            </a:pPr>
            <a:r>
              <a:rPr lang="en-US" sz="2000" b="1" dirty="0">
                <a:solidFill>
                  <a:srgbClr val="C4452D"/>
                </a:solidFill>
              </a:rPr>
              <a:t>3 Passagiere pro Blatt</a:t>
            </a:r>
            <a:endParaRPr lang="en-US" sz="2000" dirty="0"/>
          </a:p>
          <a:p>
            <a:pPr indent="0" marL="0">
              <a:spcAft>
                <a:spcPts val="1600"/>
              </a:spcAft>
              <a:buNone/>
            </a:pPr>
            <a:r>
              <a:rPr lang="en-US" sz="2000" dirty="0">
                <a:solidFill>
                  <a:srgbClr val="1B2B3A"/>
                </a:solidFill>
              </a:rPr>
              <a:t>Kleine Unterschiede → das Modell ist </a:t>
            </a:r>
            <a:pPr indent="0" marL="0">
              <a:spcAft>
                <a:spcPts val="1600"/>
              </a:spcAft>
              <a:buNone/>
            </a:pPr>
            <a:r>
              <a:rPr lang="en-US" sz="2000" b="1" dirty="0">
                <a:solidFill>
                  <a:srgbClr val="1B2B3A"/>
                </a:solidFill>
              </a:rPr>
              <a:t>robust</a:t>
            </a:r>
            <a:endParaRPr lang="en-US" sz="20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4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4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4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4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822960" y="1965960"/>
            <a:ext cx="2743200" cy="457200"/>
          </a:xfrm>
          <a:prstGeom prst="rect">
            <a:avLst/>
          </a:prstGeom>
          <a:noFill/>
          <a:ln/>
        </p:spPr>
        <p:txBody>
          <a:bodyPr wrap="square" lIns="0" tIns="0" rIns="0" bIns="0" rtlCol="0" anchor="b"/>
          <a:lstStyle/>
          <a:p>
            <a:pPr indent="0" marL="0">
              <a:buNone/>
            </a:pPr>
            <a:r>
              <a:rPr lang="en-US" sz="1800" b="1" spc="300" kern="0" dirty="0">
                <a:solidFill>
                  <a:schemeClr val="accent1"/>
                </a:solidFill>
              </a:rPr>
              <a:t>06</a:t>
            </a:r>
            <a:endParaRPr lang="en-US" sz="1800" dirty="0"/>
          </a:p>
        </p:txBody>
      </p:sp>
      <p:sp>
        <p:nvSpPr>
          <p:cNvPr id="3" name="Text 0"/>
          <p:cNvSpPr/>
          <p:nvPr>
            <p:ph idx="101" type="title" hasCustomPrompt="1"/>
          </p:nvPr>
        </p:nvSpPr>
        <p:spPr>
          <a:xfrm>
            <a:off x="822960" y="2514600"/>
            <a:ext cx="7315200" cy="1097280"/>
          </a:xfrm>
          <a:prstGeom prst="rect">
            <a:avLst/>
          </a:prstGeom>
          <a:noFill/>
          <a:ln/>
        </p:spPr>
        <p:txBody>
          <a:bodyPr wrap="square" lIns="0" tIns="0" rIns="0" bIns="0" rtlCol="0" anchor="t"/>
          <a:lstStyle/>
          <a:p>
            <a:pPr algn="l" indent="0" marL="0">
              <a:buNone/>
            </a:pPr>
            <a:r>
              <a:rPr lang="en-US" sz="4800" dirty="0">
                <a:solidFill>
                  <a:schemeClr val="bg1"/>
                </a:solidFill>
              </a:rPr>
              <a:t>Gradient Boosting</a:t>
            </a:r>
            <a:endParaRPr lang="en-US" sz="4800" dirty="0"/>
          </a:p>
        </p:txBody>
      </p:sp>
      <p:sp>
        <p:nvSpPr>
          <p:cNvPr id="4" name="Text 0"/>
          <p:cNvSpPr/>
          <p:nvPr>
            <p:ph idx="102" type="body" hasCustomPrompt="1"/>
          </p:nvPr>
        </p:nvSpPr>
        <p:spPr>
          <a:xfrm>
            <a:off x="822960" y="3703320"/>
            <a:ext cx="7315200" cy="640080"/>
          </a:xfrm>
          <a:prstGeom prst="rect">
            <a:avLst/>
          </a:prstGeom>
          <a:noFill/>
          <a:ln/>
        </p:spPr>
        <p:txBody>
          <a:bodyPr wrap="square" lIns="0" tIns="0" rIns="0" bIns="0" rtlCol="0" anchor="t"/>
          <a:lstStyle/>
          <a:p>
            <a:pPr indent="0" marL="0">
              <a:buNone/>
            </a:pPr>
            <a:r>
              <a:rPr lang="en-US" sz="2200" dirty="0">
                <a:solidFill>
                  <a:schemeClr val="accent4"/>
                </a:solidFill>
              </a:rPr>
              <a:t>Bewusst vorsichtig einstellen</a:t>
            </a:r>
            <a:endParaRPr lang="en-US" sz="2200" dirty="0"/>
          </a:p>
        </p:txBody>
      </p:sp>
      <p:pic>
        <p:nvPicPr>
          <p:cNvPr id="5" name="divider_icon" descr="preencoded.png">    </p:cNvPr>
          <p:cNvPicPr>
            <a:picLocks noChangeAspect="1"/>
          </p:cNvPicPr>
          <p:nvPr/>
        </p:nvPicPr>
        <p:blipFill>
          <a:blip r:embed="rId1"/>
          <a:stretch>
            <a:fillRect/>
          </a:stretch>
        </p:blipFill>
        <p:spPr>
          <a:xfrm>
            <a:off x="8412480" y="1783080"/>
            <a:ext cx="2926080" cy="2926080"/>
          </a:xfrm>
          <a:prstGeom prst="rect">
            <a:avLst/>
          </a:prstGeom>
        </p:spPr>
      </p:pic>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C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06 · GRADIENT BOOSTING</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Hyperparameter aus Überlegungen gesetzt</a:t>
            </a:r>
            <a:endParaRPr lang="en-US" sz="3200" dirty="0"/>
          </a:p>
        </p:txBody>
      </p:sp>
      <p:pic>
        <p:nvPicPr>
          <p:cNvPr id="4" name="nb_plot" descr="/home/claude/work/nbhd/c109_1.png">    </p:cNvPr>
          <p:cNvPicPr>
            <a:picLocks noChangeAspect="1"/>
          </p:cNvPicPr>
          <p:nvPr/>
        </p:nvPicPr>
        <p:blipFill>
          <a:blip r:embed="rId1"/>
          <a:stretch>
            <a:fillRect/>
          </a:stretch>
        </p:blipFill>
        <p:spPr>
          <a:xfrm>
            <a:off x="578968" y="1691640"/>
            <a:ext cx="5608624" cy="4434840"/>
          </a:xfrm>
          <a:prstGeom prst="rect">
            <a:avLst/>
          </a:prstGeom>
        </p:spPr>
      </p:pic>
      <p:sp>
        <p:nvSpPr>
          <p:cNvPr id="5" name="anim_lines"/>
          <p:cNvSpPr txBox="1"/>
          <p:nvPr/>
        </p:nvSpPr>
        <p:spPr>
          <a:xfrm>
            <a:off x="6675120" y="2011680"/>
            <a:ext cx="4937760" cy="4023360"/>
          </a:xfrm>
          <a:prstGeom prst="rect">
            <a:avLst/>
          </a:prstGeom>
          <a:noFill/>
          <a:ln/>
        </p:spPr>
        <p:txBody>
          <a:bodyPr wrap="square" lIns="0" tIns="0" rIns="0" bIns="0" rtlCol="0" anchor="t"/>
          <a:lstStyle/>
          <a:p>
            <a:pPr indent="0" marL="0">
              <a:spcAft>
                <a:spcPts val="1600"/>
              </a:spcAft>
              <a:buNone/>
            </a:pPr>
            <a:r>
              <a:rPr lang="en-US" sz="1900" b="1" dirty="0">
                <a:solidFill>
                  <a:srgbClr val="1B2B3A"/>
                </a:solidFill>
              </a:rPr>
              <a:t>Lernrate 0,05</a:t>
            </a:r>
            <a:pPr indent="0" marL="0">
              <a:spcAft>
                <a:spcPts val="1600"/>
              </a:spcAft>
              <a:buNone/>
            </a:pPr>
            <a:r>
              <a:rPr lang="en-US" sz="1900" dirty="0">
                <a:solidFill>
                  <a:srgbClr val="1B2B3A"/>
                </a:solidFill>
              </a:rPr>
              <a:t>: kleine Schritte gegen Overfitting</a:t>
            </a:r>
            <a:endParaRPr lang="en-US" sz="1900" dirty="0"/>
          </a:p>
          <a:p>
            <a:pPr indent="0" marL="0">
              <a:spcAft>
                <a:spcPts val="1600"/>
              </a:spcAft>
              <a:buNone/>
            </a:pPr>
            <a:r>
              <a:rPr lang="en-US" sz="1900" b="1" dirty="0">
                <a:solidFill>
                  <a:srgbClr val="1B2B3A"/>
                </a:solidFill>
              </a:rPr>
              <a:t>100 Bäume</a:t>
            </a:r>
            <a:pPr indent="0" marL="0">
              <a:spcAft>
                <a:spcPts val="1600"/>
              </a:spcAft>
              <a:buNone/>
            </a:pPr>
            <a:r>
              <a:rPr lang="en-US" sz="1900" dirty="0">
                <a:solidFill>
                  <a:srgbClr val="1B2B3A"/>
                </a:solidFill>
              </a:rPr>
              <a:t>, max. 15 Blätter, mind. 10 Passagiere pro Blatt</a:t>
            </a:r>
            <a:endParaRPr lang="en-US" sz="1900" dirty="0"/>
          </a:p>
          <a:p>
            <a:pPr indent="0" marL="0">
              <a:spcAft>
                <a:spcPts val="1600"/>
              </a:spcAft>
              <a:buNone/>
            </a:pPr>
            <a:r>
              <a:rPr lang="en-US" sz="1900" b="1" dirty="0">
                <a:solidFill>
                  <a:srgbClr val="1B2B3A"/>
                </a:solidFill>
              </a:rPr>
              <a:t>L2-Regularisierung</a:t>
            </a:r>
            <a:pPr indent="0" marL="0">
              <a:spcAft>
                <a:spcPts val="1600"/>
              </a:spcAft>
              <a:buNone/>
            </a:pPr>
            <a:r>
              <a:rPr lang="en-US" sz="1900" dirty="0">
                <a:solidFill>
                  <a:srgbClr val="1B2B3A"/>
                </a:solidFill>
              </a:rPr>
              <a:t> dämpft extreme Werte</a:t>
            </a:r>
            <a:endParaRPr lang="en-US" sz="1900" dirty="0"/>
          </a:p>
          <a:p>
            <a:pPr indent="0" marL="0">
              <a:spcAft>
                <a:spcPts val="1600"/>
              </a:spcAft>
              <a:buNone/>
            </a:pPr>
            <a:r>
              <a:rPr lang="en-US" sz="1900" dirty="0">
                <a:solidFill>
                  <a:srgbClr val="1B2B3A"/>
                </a:solidFill>
              </a:rPr>
              <a:t>Bewertet </a:t>
            </a:r>
            <a:pPr indent="0" marL="0">
              <a:spcAft>
                <a:spcPts val="1600"/>
              </a:spcAft>
              <a:buNone/>
            </a:pPr>
            <a:r>
              <a:rPr lang="en-US" sz="1900" b="1" dirty="0">
                <a:solidFill>
                  <a:srgbClr val="C4452D"/>
                </a:solidFill>
              </a:rPr>
              <a:t>genau wie alle anderen</a:t>
            </a:r>
            <a:endParaRPr lang="en-US" sz="19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4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4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4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4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822960" y="1965960"/>
            <a:ext cx="2743200" cy="457200"/>
          </a:xfrm>
          <a:prstGeom prst="rect">
            <a:avLst/>
          </a:prstGeom>
          <a:noFill/>
          <a:ln/>
        </p:spPr>
        <p:txBody>
          <a:bodyPr wrap="square" lIns="0" tIns="0" rIns="0" bIns="0" rtlCol="0" anchor="b"/>
          <a:lstStyle/>
          <a:p>
            <a:pPr indent="0" marL="0">
              <a:buNone/>
            </a:pPr>
            <a:r>
              <a:rPr lang="en-US" sz="1800" b="1" spc="300" kern="0" dirty="0">
                <a:solidFill>
                  <a:schemeClr val="accent1"/>
                </a:solidFill>
              </a:rPr>
              <a:t>07</a:t>
            </a:r>
            <a:endParaRPr lang="en-US" sz="1800" dirty="0"/>
          </a:p>
        </p:txBody>
      </p:sp>
      <p:sp>
        <p:nvSpPr>
          <p:cNvPr id="3" name="Text 0"/>
          <p:cNvSpPr/>
          <p:nvPr>
            <p:ph idx="101" type="title" hasCustomPrompt="1"/>
          </p:nvPr>
        </p:nvSpPr>
        <p:spPr>
          <a:xfrm>
            <a:off x="822960" y="2514600"/>
            <a:ext cx="7315200" cy="1097280"/>
          </a:xfrm>
          <a:prstGeom prst="rect">
            <a:avLst/>
          </a:prstGeom>
          <a:noFill/>
          <a:ln/>
        </p:spPr>
        <p:txBody>
          <a:bodyPr wrap="square" lIns="0" tIns="0" rIns="0" bIns="0" rtlCol="0" anchor="t"/>
          <a:lstStyle/>
          <a:p>
            <a:pPr algn="l" indent="0" marL="0">
              <a:buNone/>
            </a:pPr>
            <a:r>
              <a:rPr lang="en-US" sz="4800" dirty="0">
                <a:solidFill>
                  <a:schemeClr val="bg1"/>
                </a:solidFill>
              </a:rPr>
              <a:t>Bewerten und entscheiden</a:t>
            </a:r>
            <a:endParaRPr lang="en-US" sz="4800" dirty="0"/>
          </a:p>
        </p:txBody>
      </p:sp>
      <p:sp>
        <p:nvSpPr>
          <p:cNvPr id="4" name="Text 0"/>
          <p:cNvSpPr/>
          <p:nvPr>
            <p:ph idx="102" type="body" hasCustomPrompt="1"/>
          </p:nvPr>
        </p:nvSpPr>
        <p:spPr>
          <a:xfrm>
            <a:off x="822960" y="3703320"/>
            <a:ext cx="7315200" cy="640080"/>
          </a:xfrm>
          <a:prstGeom prst="rect">
            <a:avLst/>
          </a:prstGeom>
          <a:noFill/>
          <a:ln/>
        </p:spPr>
        <p:txBody>
          <a:bodyPr wrap="square" lIns="0" tIns="0" rIns="0" bIns="0" rtlCol="0" anchor="t"/>
          <a:lstStyle/>
          <a:p>
            <a:pPr indent="0" marL="0">
              <a:buNone/>
            </a:pPr>
            <a:r>
              <a:rPr lang="en-US" sz="2200" dirty="0">
                <a:solidFill>
                  <a:schemeClr val="accent4"/>
                </a:solidFill>
              </a:rPr>
              <a:t>Verstehen, vergleichen, auswählen</a:t>
            </a:r>
            <a:endParaRPr lang="en-US" sz="2200" dirty="0"/>
          </a:p>
        </p:txBody>
      </p:sp>
      <p:pic>
        <p:nvPicPr>
          <p:cNvPr id="5" name="divider_icon" descr="preencoded.png">    </p:cNvPr>
          <p:cNvPicPr>
            <a:picLocks noChangeAspect="1"/>
          </p:cNvPicPr>
          <p:nvPr/>
        </p:nvPicPr>
        <p:blipFill>
          <a:blip r:embed="rId1"/>
          <a:stretch>
            <a:fillRect/>
          </a:stretch>
        </p:blipFill>
        <p:spPr>
          <a:xfrm>
            <a:off x="8412480" y="1783080"/>
            <a:ext cx="2926080" cy="2926080"/>
          </a:xfrm>
          <a:prstGeom prst="rect">
            <a:avLst/>
          </a:prstGeom>
        </p:spPr>
      </p:pic>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C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07 · BEWERTEN UND ENTSCHEIDEN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Modelle erklären – und gegenprüfen</a:t>
            </a:r>
            <a:endParaRPr lang="en-US" sz="3200" dirty="0"/>
          </a:p>
        </p:txBody>
      </p:sp>
      <p:pic>
        <p:nvPicPr>
          <p:cNvPr id="4" name="nb_plot" descr="/home/claude/work/nbhd/c105_1.png">    </p:cNvPr>
          <p:cNvPicPr>
            <a:picLocks noChangeAspect="1"/>
          </p:cNvPicPr>
          <p:nvPr/>
        </p:nvPicPr>
        <p:blipFill>
          <a:blip r:embed="rId1"/>
          <a:stretch>
            <a:fillRect/>
          </a:stretch>
        </p:blipFill>
        <p:spPr>
          <a:xfrm>
            <a:off x="548640" y="1812897"/>
            <a:ext cx="5394960" cy="3049325"/>
          </a:xfrm>
          <a:prstGeom prst="rect">
            <a:avLst/>
          </a:prstGeom>
        </p:spPr>
      </p:pic>
      <p:pic>
        <p:nvPicPr>
          <p:cNvPr id="5" name="nb_plot" descr="/home/claude/work/nbhd/c110_1.png">    </p:cNvPr>
          <p:cNvPicPr>
            <a:picLocks noChangeAspect="1"/>
          </p:cNvPicPr>
          <p:nvPr/>
        </p:nvPicPr>
        <p:blipFill>
          <a:blip r:embed="rId2"/>
          <a:stretch>
            <a:fillRect/>
          </a:stretch>
        </p:blipFill>
        <p:spPr>
          <a:xfrm>
            <a:off x="6217920" y="2005893"/>
            <a:ext cx="5394960" cy="2663335"/>
          </a:xfrm>
          <a:prstGeom prst="rect">
            <a:avLst/>
          </a:prstGeom>
        </p:spPr>
      </p:pic>
      <p:sp>
        <p:nvSpPr>
          <p:cNvPr id="6" name="anim_lines"/>
          <p:cNvSpPr txBox="1"/>
          <p:nvPr/>
        </p:nvSpPr>
        <p:spPr>
          <a:xfrm>
            <a:off x="640080" y="5166360"/>
            <a:ext cx="10881360" cy="1097280"/>
          </a:xfrm>
          <a:prstGeom prst="rect">
            <a:avLst/>
          </a:prstGeom>
          <a:noFill/>
          <a:ln/>
        </p:spPr>
        <p:txBody>
          <a:bodyPr wrap="square" lIns="0" tIns="0" rIns="0" bIns="0" rtlCol="0" anchor="t"/>
          <a:lstStyle/>
          <a:p>
            <a:pPr indent="0" marL="0">
              <a:spcAft>
                <a:spcPts val="1000"/>
              </a:spcAft>
              <a:buNone/>
            </a:pPr>
            <a:r>
              <a:rPr lang="en-US" sz="1800" b="1" dirty="0">
                <a:solidFill>
                  <a:srgbClr val="1B2B3A"/>
                </a:solidFill>
              </a:rPr>
              <a:t>Permutation Importance</a:t>
            </a:r>
            <a:pPr indent="0" marL="0">
              <a:spcAft>
                <a:spcPts val="1000"/>
              </a:spcAft>
              <a:buNone/>
            </a:pPr>
            <a:r>
              <a:rPr lang="en-US" sz="1800" dirty="0">
                <a:solidFill>
                  <a:srgbClr val="1B2B3A"/>
                </a:solidFill>
              </a:rPr>
              <a:t>: Merkmal durchmischen, Verlust messen – für jedes Modell gleich</a:t>
            </a:r>
            <a:endParaRPr lang="en-US" sz="1800" dirty="0"/>
          </a:p>
          <a:p>
            <a:pPr indent="0" marL="0">
              <a:spcAft>
                <a:spcPts val="1000"/>
              </a:spcAft>
              <a:buNone/>
            </a:pPr>
            <a:r>
              <a:rPr lang="en-US" sz="1800" dirty="0">
                <a:solidFill>
                  <a:srgbClr val="1B2B3A"/>
                </a:solidFill>
              </a:rPr>
              <a:t>Zwei Verfahren, </a:t>
            </a:r>
            <a:pPr indent="0" marL="0">
              <a:spcAft>
                <a:spcPts val="1000"/>
              </a:spcAft>
              <a:buNone/>
            </a:pPr>
            <a:r>
              <a:rPr lang="en-US" sz="1800" b="1" dirty="0">
                <a:solidFill>
                  <a:srgbClr val="C4452D"/>
                </a:solidFill>
              </a:rPr>
              <a:t>ein Muster</a:t>
            </a:r>
            <a:pPr indent="0" marL="0">
              <a:spcAft>
                <a:spcPts val="1000"/>
              </a:spcAft>
              <a:buNone/>
            </a:pPr>
            <a:r>
              <a:rPr lang="en-US" sz="1800" dirty="0">
                <a:solidFill>
                  <a:srgbClr val="1B2B3A"/>
                </a:solidFill>
              </a:rPr>
              <a:t> → das Ergebnis hängt an den Daten, nicht am Modell</a:t>
            </a:r>
            <a:endParaRPr lang="en-US" sz="18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4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4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07 · BEWERTEN UND ENTSCHEIDEN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Alle vier auf derselben Bühne</a:t>
            </a:r>
            <a:endParaRPr lang="en-US" sz="3200" dirty="0"/>
          </a:p>
        </p:txBody>
      </p:sp>
      <p:pic>
        <p:nvPicPr>
          <p:cNvPr id="4" name="nb_plot" descr="/home/claude/work/nbhd/c116_1.png">    </p:cNvPr>
          <p:cNvPicPr>
            <a:picLocks noChangeAspect="1"/>
          </p:cNvPicPr>
          <p:nvPr/>
        </p:nvPicPr>
        <p:blipFill>
          <a:blip r:embed="rId1"/>
          <a:stretch>
            <a:fillRect/>
          </a:stretch>
        </p:blipFill>
        <p:spPr>
          <a:xfrm>
            <a:off x="548640" y="2170797"/>
            <a:ext cx="8138160" cy="3339367"/>
          </a:xfrm>
          <a:prstGeom prst="rect">
            <a:avLst/>
          </a:prstGeom>
        </p:spPr>
      </p:pic>
      <p:sp>
        <p:nvSpPr>
          <p:cNvPr id="5" name="anim_lines"/>
          <p:cNvSpPr txBox="1"/>
          <p:nvPr/>
        </p:nvSpPr>
        <p:spPr>
          <a:xfrm>
            <a:off x="8869680" y="2103120"/>
            <a:ext cx="2743200" cy="3840480"/>
          </a:xfrm>
          <a:prstGeom prst="rect">
            <a:avLst/>
          </a:prstGeom>
          <a:noFill/>
          <a:ln/>
        </p:spPr>
        <p:txBody>
          <a:bodyPr wrap="square" lIns="0" tIns="0" rIns="0" bIns="0" rtlCol="0" anchor="t"/>
          <a:lstStyle/>
          <a:p>
            <a:pPr indent="0" marL="0">
              <a:spcAft>
                <a:spcPts val="1600"/>
              </a:spcAft>
              <a:buNone/>
            </a:pPr>
            <a:r>
              <a:rPr lang="en-US" sz="1700" dirty="0">
                <a:solidFill>
                  <a:srgbClr val="1B2B3A"/>
                </a:solidFill>
              </a:rPr>
              <a:t>Gleicher Split, gleiche Kennzahlen, </a:t>
            </a:r>
            <a:pPr indent="0" marL="0">
              <a:spcAft>
                <a:spcPts val="1600"/>
              </a:spcAft>
              <a:buNone/>
            </a:pPr>
            <a:r>
              <a:rPr lang="en-US" sz="1700" b="1" dirty="0">
                <a:solidFill>
                  <a:srgbClr val="1B2B3A"/>
                </a:solidFill>
              </a:rPr>
              <a:t>plus CV</a:t>
            </a:r>
            <a:endParaRPr lang="en-US" sz="1700" dirty="0"/>
          </a:p>
          <a:p>
            <a:pPr indent="0" marL="0">
              <a:spcAft>
                <a:spcPts val="1600"/>
              </a:spcAft>
              <a:buNone/>
            </a:pPr>
            <a:r>
              <a:rPr lang="en-US" sz="1700" dirty="0">
                <a:solidFill>
                  <a:srgbClr val="1B2B3A"/>
                </a:solidFill>
              </a:rPr>
              <a:t>ROC-Kurven fast deckungsgleich, AUC überall </a:t>
            </a:r>
            <a:pPr indent="0" marL="0">
              <a:spcAft>
                <a:spcPts val="1600"/>
              </a:spcAft>
              <a:buNone/>
            </a:pPr>
            <a:r>
              <a:rPr lang="en-US" sz="1700" b="1" dirty="0">
                <a:solidFill>
                  <a:srgbClr val="1B2B3A"/>
                </a:solidFill>
              </a:rPr>
              <a:t>0,84</a:t>
            </a:r>
            <a:endParaRPr lang="en-US" sz="1700" dirty="0"/>
          </a:p>
          <a:p>
            <a:pPr indent="0" marL="0">
              <a:spcAft>
                <a:spcPts val="1600"/>
              </a:spcAft>
              <a:buNone/>
            </a:pPr>
            <a:r>
              <a:rPr lang="en-US" sz="1700" dirty="0">
                <a:solidFill>
                  <a:srgbClr val="1B2B3A"/>
                </a:solidFill>
              </a:rPr>
              <a:t>Unterschiede </a:t>
            </a:r>
            <a:pPr indent="0" marL="0">
              <a:spcAft>
                <a:spcPts val="1600"/>
              </a:spcAft>
              <a:buNone/>
            </a:pPr>
            <a:r>
              <a:rPr lang="en-US" sz="1700" b="1" dirty="0">
                <a:solidFill>
                  <a:srgbClr val="C4452D"/>
                </a:solidFill>
              </a:rPr>
              <a:t>kleiner als die Schwankung</a:t>
            </a:r>
            <a:pPr indent="0" marL="0">
              <a:spcAft>
                <a:spcPts val="1600"/>
              </a:spcAft>
              <a:buNone/>
            </a:pPr>
            <a:r>
              <a:rPr lang="en-US" sz="1700" dirty="0">
                <a:solidFill>
                  <a:srgbClr val="1B2B3A"/>
                </a:solidFill>
              </a:rPr>
              <a:t> der CV</a:t>
            </a:r>
            <a:endParaRPr lang="en-US" sz="17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25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4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4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4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07 · BEWERTEN UND ENTSCHEIDEN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Wie wir entschieden haben</a:t>
            </a:r>
            <a:endParaRPr lang="en-US" sz="3200" dirty="0"/>
          </a:p>
        </p:txBody>
      </p:sp>
      <p:sp>
        <p:nvSpPr>
          <p:cNvPr id="4" name="num_circle"/>
          <p:cNvSpPr/>
          <p:nvPr/>
        </p:nvSpPr>
        <p:spPr>
          <a:xfrm>
            <a:off x="640080" y="1892808"/>
            <a:ext cx="420624" cy="420624"/>
          </a:xfrm>
          <a:prstGeom prst="ellipse">
            <a:avLst/>
          </a:prstGeom>
          <a:solidFill>
            <a:srgbClr val="EEF2F5"/>
          </a:solidFill>
          <a:ln/>
        </p:spPr>
        <p:txBody>
          <a:bodyPr wrap="square" lIns="0" tIns="0" rIns="0" bIns="0" rtlCol="0" anchor="ctr"/>
          <a:lstStyle/>
          <a:p>
            <a:pPr algn="ctr" indent="0" marL="0">
              <a:buNone/>
            </a:pPr>
            <a:r>
              <a:rPr lang="en-US" sz="1600" dirty="0">
                <a:solidFill>
                  <a:srgbClr val="3E6E8E"/>
                </a:solidFill>
                <a:latin typeface="Cambria" pitchFamily="34" charset="0"/>
                <a:ea typeface="Cambria" pitchFamily="34" charset="-122"/>
                <a:cs typeface="Cambria" pitchFamily="34" charset="-120"/>
              </a:rPr>
              <a:t>1</a:t>
            </a:r>
            <a:endParaRPr lang="en-US" sz="1600" dirty="0"/>
          </a:p>
        </p:txBody>
      </p:sp>
      <p:sp>
        <p:nvSpPr>
          <p:cNvPr id="5" name="animw_row"/>
          <p:cNvSpPr txBox="1"/>
          <p:nvPr/>
        </p:nvSpPr>
        <p:spPr>
          <a:xfrm>
            <a:off x="1280160" y="1874520"/>
            <a:ext cx="10241280" cy="548640"/>
          </a:xfrm>
          <a:prstGeom prst="rect">
            <a:avLst/>
          </a:prstGeom>
          <a:noFill/>
          <a:ln/>
        </p:spPr>
        <p:txBody>
          <a:bodyPr wrap="square" lIns="0" tIns="0" rIns="0" bIns="0" rtlCol="0" anchor="t"/>
          <a:lstStyle/>
          <a:p>
            <a:pPr indent="0" marL="0">
              <a:buNone/>
            </a:pPr>
            <a:r>
              <a:rPr lang="en-US" sz="2000" b="1" dirty="0">
                <a:solidFill>
                  <a:srgbClr val="1B2B3A"/>
                </a:solidFill>
              </a:rPr>
              <a:t>Accuracy und F1</a:t>
            </a:r>
            <a:pPr indent="0" marL="0">
              <a:buNone/>
            </a:pPr>
            <a:r>
              <a:rPr lang="en-US" sz="2000" dirty="0">
                <a:solidFill>
                  <a:srgbClr val="1B2B3A"/>
                </a:solidFill>
              </a:rPr>
              <a:t> auf den Validierungsdaten</a:t>
            </a:r>
            <a:endParaRPr lang="en-US" sz="2000" dirty="0"/>
          </a:p>
        </p:txBody>
      </p:sp>
      <p:sp>
        <p:nvSpPr>
          <p:cNvPr id="6" name="num_circle"/>
          <p:cNvSpPr/>
          <p:nvPr/>
        </p:nvSpPr>
        <p:spPr>
          <a:xfrm>
            <a:off x="640080" y="2761488"/>
            <a:ext cx="420624" cy="420624"/>
          </a:xfrm>
          <a:prstGeom prst="ellipse">
            <a:avLst/>
          </a:prstGeom>
          <a:solidFill>
            <a:srgbClr val="EEF2F5"/>
          </a:solidFill>
          <a:ln/>
        </p:spPr>
        <p:txBody>
          <a:bodyPr wrap="square" lIns="0" tIns="0" rIns="0" bIns="0" rtlCol="0" anchor="ctr"/>
          <a:lstStyle/>
          <a:p>
            <a:pPr algn="ctr" indent="0" marL="0">
              <a:buNone/>
            </a:pPr>
            <a:r>
              <a:rPr lang="en-US" sz="1600" dirty="0">
                <a:solidFill>
                  <a:srgbClr val="3E6E8E"/>
                </a:solidFill>
                <a:latin typeface="Cambria" pitchFamily="34" charset="0"/>
                <a:ea typeface="Cambria" pitchFamily="34" charset="-122"/>
                <a:cs typeface="Cambria" pitchFamily="34" charset="-120"/>
              </a:rPr>
              <a:t>2</a:t>
            </a:r>
            <a:endParaRPr lang="en-US" sz="1600" dirty="0"/>
          </a:p>
        </p:txBody>
      </p:sp>
      <p:sp>
        <p:nvSpPr>
          <p:cNvPr id="7" name="animw_row"/>
          <p:cNvSpPr txBox="1"/>
          <p:nvPr/>
        </p:nvSpPr>
        <p:spPr>
          <a:xfrm>
            <a:off x="1280160" y="2743200"/>
            <a:ext cx="10241280" cy="548640"/>
          </a:xfrm>
          <a:prstGeom prst="rect">
            <a:avLst/>
          </a:prstGeom>
          <a:noFill/>
          <a:ln/>
        </p:spPr>
        <p:txBody>
          <a:bodyPr wrap="square" lIns="0" tIns="0" rIns="0" bIns="0" rtlCol="0" anchor="t"/>
          <a:lstStyle/>
          <a:p>
            <a:pPr indent="0" marL="0">
              <a:buNone/>
            </a:pPr>
            <a:r>
              <a:rPr lang="en-US" sz="2000" b="1" dirty="0">
                <a:solidFill>
                  <a:srgbClr val="1B2B3A"/>
                </a:solidFill>
              </a:rPr>
              <a:t>Stabilität</a:t>
            </a:r>
            <a:pPr indent="0" marL="0">
              <a:buNone/>
            </a:pPr>
            <a:r>
              <a:rPr lang="en-US" sz="2000" dirty="0">
                <a:solidFill>
                  <a:srgbClr val="1B2B3A"/>
                </a:solidFill>
              </a:rPr>
              <a:t> in der Cross-Validation</a:t>
            </a:r>
            <a:endParaRPr lang="en-US" sz="2000" dirty="0"/>
          </a:p>
        </p:txBody>
      </p:sp>
      <p:sp>
        <p:nvSpPr>
          <p:cNvPr id="8" name="num_circle"/>
          <p:cNvSpPr/>
          <p:nvPr/>
        </p:nvSpPr>
        <p:spPr>
          <a:xfrm>
            <a:off x="640080" y="3630168"/>
            <a:ext cx="420624" cy="420624"/>
          </a:xfrm>
          <a:prstGeom prst="ellipse">
            <a:avLst/>
          </a:prstGeom>
          <a:solidFill>
            <a:srgbClr val="EEF2F5"/>
          </a:solidFill>
          <a:ln/>
        </p:spPr>
        <p:txBody>
          <a:bodyPr wrap="square" lIns="0" tIns="0" rIns="0" bIns="0" rtlCol="0" anchor="ctr"/>
          <a:lstStyle/>
          <a:p>
            <a:pPr algn="ctr" indent="0" marL="0">
              <a:buNone/>
            </a:pPr>
            <a:r>
              <a:rPr lang="en-US" sz="1600" dirty="0">
                <a:solidFill>
                  <a:srgbClr val="3E6E8E"/>
                </a:solidFill>
                <a:latin typeface="Cambria" pitchFamily="34" charset="0"/>
                <a:ea typeface="Cambria" pitchFamily="34" charset="-122"/>
                <a:cs typeface="Cambria" pitchFamily="34" charset="-120"/>
              </a:rPr>
              <a:t>3</a:t>
            </a:r>
            <a:endParaRPr lang="en-US" sz="1600" dirty="0"/>
          </a:p>
        </p:txBody>
      </p:sp>
      <p:sp>
        <p:nvSpPr>
          <p:cNvPr id="9" name="animw_row"/>
          <p:cNvSpPr txBox="1"/>
          <p:nvPr/>
        </p:nvSpPr>
        <p:spPr>
          <a:xfrm>
            <a:off x="1280160" y="3611880"/>
            <a:ext cx="10241280" cy="548640"/>
          </a:xfrm>
          <a:prstGeom prst="rect">
            <a:avLst/>
          </a:prstGeom>
          <a:noFill/>
          <a:ln/>
        </p:spPr>
        <p:txBody>
          <a:bodyPr wrap="square" lIns="0" tIns="0" rIns="0" bIns="0" rtlCol="0" anchor="t"/>
          <a:lstStyle/>
          <a:p>
            <a:pPr indent="0" marL="0">
              <a:buNone/>
            </a:pPr>
            <a:r>
              <a:rPr lang="en-US" sz="2000" b="1" dirty="0">
                <a:solidFill>
                  <a:srgbClr val="1B2B3A"/>
                </a:solidFill>
              </a:rPr>
              <a:t>Wenig Overfitting</a:t>
            </a:r>
            <a:pPr indent="0" marL="0">
              <a:buNone/>
            </a:pPr>
            <a:r>
              <a:rPr lang="en-US" sz="2000" dirty="0">
                <a:solidFill>
                  <a:srgbClr val="1B2B3A"/>
                </a:solidFill>
              </a:rPr>
              <a:t>: Lücke zwischen Training und Validierung</a:t>
            </a:r>
            <a:endParaRPr lang="en-US" sz="2000" dirty="0"/>
          </a:p>
        </p:txBody>
      </p:sp>
      <p:sp>
        <p:nvSpPr>
          <p:cNvPr id="10" name="animw_choice"/>
          <p:cNvSpPr txBox="1"/>
          <p:nvPr/>
        </p:nvSpPr>
        <p:spPr>
          <a:xfrm>
            <a:off x="640080" y="4663440"/>
            <a:ext cx="10881360" cy="1097280"/>
          </a:xfrm>
          <a:prstGeom prst="rect">
            <a:avLst/>
          </a:prstGeom>
          <a:noFill/>
          <a:ln/>
        </p:spPr>
        <p:txBody>
          <a:bodyPr wrap="square" lIns="0" tIns="0" rIns="0" bIns="0" rtlCol="0" anchor="t"/>
          <a:lstStyle/>
          <a:p>
            <a:pPr indent="0" marL="0">
              <a:spcAft>
                <a:spcPts val="600"/>
              </a:spcAft>
              <a:buNone/>
            </a:pPr>
            <a:r>
              <a:rPr lang="en-US" sz="2200" b="1" dirty="0">
                <a:solidFill>
                  <a:srgbClr val="C4452D"/>
                </a:solidFill>
              </a:rPr>
              <a:t>→  SVM mit RBF-Kernel (C = 1)</a:t>
            </a:r>
            <a:endParaRPr lang="en-US" sz="2200" dirty="0"/>
          </a:p>
          <a:p>
            <a:pPr indent="0" marL="0">
              <a:spcAft>
                <a:spcPts val="600"/>
              </a:spcAft>
              <a:buNone/>
            </a:pPr>
            <a:r>
              <a:rPr lang="en-US" sz="1600" dirty="0">
                <a:solidFill>
                  <a:srgbClr val="5A6B7B"/>
                </a:solidFill>
              </a:rPr>
              <a:t>Random Forest knapp dahinter, lernt aber mehr auswendig · danach neu trainiert auf allen 891 Passagieren</a:t>
            </a:r>
            <a:endParaRPr lang="en-US" sz="22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26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07 · BEWERTEN UND ENTSCHEIDEN</a:t>
            </a:r>
            <a:endParaRPr lang="en-US" sz="1200" dirty="0"/>
          </a:p>
        </p:txBody>
      </p:sp>
      <p:sp>
        <p:nvSpPr>
          <p:cNvPr id="3" name="Text 0"/>
          <p:cNvSpPr/>
          <p:nvPr>
            <p:ph idx="101" type="title" hasCustomPrompt="1"/>
          </p:nvPr>
        </p:nvSpPr>
        <p:spPr>
          <a:xfrm>
            <a:off x="640080" y="749808"/>
            <a:ext cx="10881360" cy="731520"/>
          </a:xfrm>
          <a:prstGeom prst="rect">
            <a:avLst/>
          </a:prstGeom>
          <a:noFill/>
          <a:ln/>
        </p:spPr>
        <p:txBody>
          <a:bodyPr wrap="square" lIns="0" tIns="0" rIns="0" bIns="0" rtlCol="0" anchor="t"/>
          <a:lstStyle/>
          <a:p>
            <a:pPr algn="l" indent="0" marL="0">
              <a:buNone/>
            </a:pPr>
            <a:r>
              <a:rPr lang="en-US" sz="3200" dirty="0">
                <a:solidFill>
                  <a:schemeClr val="tx1"/>
                </a:solidFill>
              </a:rPr>
              <a:t>Was wir heute anders machen würden</a:t>
            </a:r>
            <a:endParaRPr lang="en-US" sz="3200" dirty="0"/>
          </a:p>
        </p:txBody>
      </p:sp>
      <p:sp>
        <p:nvSpPr>
          <p:cNvPr id="4" name="num_circle"/>
          <p:cNvSpPr/>
          <p:nvPr/>
        </p:nvSpPr>
        <p:spPr>
          <a:xfrm>
            <a:off x="640080" y="1892808"/>
            <a:ext cx="420624" cy="420624"/>
          </a:xfrm>
          <a:prstGeom prst="ellipse">
            <a:avLst/>
          </a:prstGeom>
          <a:solidFill>
            <a:srgbClr val="EEF2F5"/>
          </a:solidFill>
          <a:ln/>
        </p:spPr>
        <p:txBody>
          <a:bodyPr wrap="square" lIns="0" tIns="0" rIns="0" bIns="0" rtlCol="0" anchor="ctr"/>
          <a:lstStyle/>
          <a:p>
            <a:pPr algn="ctr" indent="0" marL="0">
              <a:buNone/>
            </a:pPr>
            <a:r>
              <a:rPr lang="en-US" sz="1600" dirty="0">
                <a:solidFill>
                  <a:srgbClr val="3E6E8E"/>
                </a:solidFill>
                <a:latin typeface="Cambria" pitchFamily="34" charset="0"/>
                <a:ea typeface="Cambria" pitchFamily="34" charset="-122"/>
                <a:cs typeface="Cambria" pitchFamily="34" charset="-120"/>
              </a:rPr>
              <a:t>1</a:t>
            </a:r>
            <a:endParaRPr lang="en-US" sz="1600" dirty="0"/>
          </a:p>
        </p:txBody>
      </p:sp>
      <p:sp>
        <p:nvSpPr>
          <p:cNvPr id="5" name="animw_row"/>
          <p:cNvSpPr txBox="1"/>
          <p:nvPr/>
        </p:nvSpPr>
        <p:spPr>
          <a:xfrm>
            <a:off x="1280160" y="1874520"/>
            <a:ext cx="5212080" cy="914400"/>
          </a:xfrm>
          <a:prstGeom prst="rect">
            <a:avLst/>
          </a:prstGeom>
          <a:noFill/>
          <a:ln/>
        </p:spPr>
        <p:txBody>
          <a:bodyPr wrap="square" lIns="0" tIns="0" rIns="0" bIns="0" rtlCol="0" anchor="t"/>
          <a:lstStyle/>
          <a:p>
            <a:pPr indent="0" marL="0">
              <a:buNone/>
            </a:pPr>
            <a:r>
              <a:rPr lang="en-US" sz="1900" b="1" dirty="0">
                <a:solidFill>
                  <a:srgbClr val="1B2B3A"/>
                </a:solidFill>
              </a:rPr>
              <a:t>Alle Modelle gleich tunen</a:t>
            </a:r>
            <a:pPr indent="0" marL="0">
              <a:buNone/>
            </a:pPr>
            <a:r>
              <a:rPr lang="en-US" sz="1900" dirty="0">
                <a:solidFill>
                  <a:srgbClr val="1B2B3A"/>
                </a:solidFill>
              </a:rPr>
              <a:t> – einheitlich per Cross-Validation</a:t>
            </a:r>
            <a:endParaRPr lang="en-US" sz="1900" dirty="0"/>
          </a:p>
        </p:txBody>
      </p:sp>
      <p:sp>
        <p:nvSpPr>
          <p:cNvPr id="6" name="num_circle"/>
          <p:cNvSpPr/>
          <p:nvPr/>
        </p:nvSpPr>
        <p:spPr>
          <a:xfrm>
            <a:off x="640080" y="3127248"/>
            <a:ext cx="420624" cy="420624"/>
          </a:xfrm>
          <a:prstGeom prst="ellipse">
            <a:avLst/>
          </a:prstGeom>
          <a:solidFill>
            <a:srgbClr val="EEF2F5"/>
          </a:solidFill>
          <a:ln/>
        </p:spPr>
        <p:txBody>
          <a:bodyPr wrap="square" lIns="0" tIns="0" rIns="0" bIns="0" rtlCol="0" anchor="ctr"/>
          <a:lstStyle/>
          <a:p>
            <a:pPr algn="ctr" indent="0" marL="0">
              <a:buNone/>
            </a:pPr>
            <a:r>
              <a:rPr lang="en-US" sz="1600" dirty="0">
                <a:solidFill>
                  <a:srgbClr val="3E6E8E"/>
                </a:solidFill>
                <a:latin typeface="Cambria" pitchFamily="34" charset="0"/>
                <a:ea typeface="Cambria" pitchFamily="34" charset="-122"/>
                <a:cs typeface="Cambria" pitchFamily="34" charset="-120"/>
              </a:rPr>
              <a:t>2</a:t>
            </a:r>
            <a:endParaRPr lang="en-US" sz="1600" dirty="0"/>
          </a:p>
        </p:txBody>
      </p:sp>
      <p:sp>
        <p:nvSpPr>
          <p:cNvPr id="7" name="animw_row"/>
          <p:cNvSpPr txBox="1"/>
          <p:nvPr/>
        </p:nvSpPr>
        <p:spPr>
          <a:xfrm>
            <a:off x="1280160" y="3108960"/>
            <a:ext cx="5212080" cy="914400"/>
          </a:xfrm>
          <a:prstGeom prst="rect">
            <a:avLst/>
          </a:prstGeom>
          <a:noFill/>
          <a:ln/>
        </p:spPr>
        <p:txBody>
          <a:bodyPr wrap="square" lIns="0" tIns="0" rIns="0" bIns="0" rtlCol="0" anchor="t"/>
          <a:lstStyle/>
          <a:p>
            <a:pPr indent="0" marL="0">
              <a:buNone/>
            </a:pPr>
            <a:r>
              <a:rPr lang="en-US" sz="1900" b="1" dirty="0">
                <a:solidFill>
                  <a:srgbClr val="1B2B3A"/>
                </a:solidFill>
              </a:rPr>
              <a:t>Validierungsdaten</a:t>
            </a:r>
            <a:pPr indent="0" marL="0">
              <a:buNone/>
            </a:pPr>
            <a:r>
              <a:rPr lang="en-US" sz="1900" dirty="0">
                <a:solidFill>
                  <a:srgbClr val="1B2B3A"/>
                </a:solidFill>
              </a:rPr>
              <a:t> nur für die Endauswahl verwenden</a:t>
            </a:r>
            <a:endParaRPr lang="en-US" sz="1900" dirty="0"/>
          </a:p>
        </p:txBody>
      </p:sp>
      <p:sp>
        <p:nvSpPr>
          <p:cNvPr id="8" name="num_circle"/>
          <p:cNvSpPr/>
          <p:nvPr/>
        </p:nvSpPr>
        <p:spPr>
          <a:xfrm>
            <a:off x="640080" y="4361688"/>
            <a:ext cx="420624" cy="420624"/>
          </a:xfrm>
          <a:prstGeom prst="ellipse">
            <a:avLst/>
          </a:prstGeom>
          <a:solidFill>
            <a:srgbClr val="EEF2F5"/>
          </a:solidFill>
          <a:ln/>
        </p:spPr>
        <p:txBody>
          <a:bodyPr wrap="square" lIns="0" tIns="0" rIns="0" bIns="0" rtlCol="0" anchor="ctr"/>
          <a:lstStyle/>
          <a:p>
            <a:pPr algn="ctr" indent="0" marL="0">
              <a:buNone/>
            </a:pPr>
            <a:r>
              <a:rPr lang="en-US" sz="1600" dirty="0">
                <a:solidFill>
                  <a:srgbClr val="3E6E8E"/>
                </a:solidFill>
                <a:latin typeface="Cambria" pitchFamily="34" charset="0"/>
                <a:ea typeface="Cambria" pitchFamily="34" charset="-122"/>
                <a:cs typeface="Cambria" pitchFamily="34" charset="-120"/>
              </a:rPr>
              <a:t>3</a:t>
            </a:r>
            <a:endParaRPr lang="en-US" sz="1600" dirty="0"/>
          </a:p>
        </p:txBody>
      </p:sp>
      <p:sp>
        <p:nvSpPr>
          <p:cNvPr id="9" name="animw_row"/>
          <p:cNvSpPr txBox="1"/>
          <p:nvPr/>
        </p:nvSpPr>
        <p:spPr>
          <a:xfrm>
            <a:off x="1280160" y="4343400"/>
            <a:ext cx="5212080" cy="914400"/>
          </a:xfrm>
          <a:prstGeom prst="rect">
            <a:avLst/>
          </a:prstGeom>
          <a:noFill/>
          <a:ln/>
        </p:spPr>
        <p:txBody>
          <a:bodyPr wrap="square" lIns="0" tIns="0" rIns="0" bIns="0" rtlCol="0" anchor="t"/>
          <a:lstStyle/>
          <a:p>
            <a:pPr indent="0" marL="0">
              <a:buNone/>
            </a:pPr>
            <a:r>
              <a:rPr lang="en-US" sz="1900" b="1" dirty="0">
                <a:solidFill>
                  <a:srgbClr val="1B2B3A"/>
                </a:solidFill>
              </a:rPr>
              <a:t>Merkmale früher ausbauen</a:t>
            </a:r>
            <a:pPr indent="0" marL="0">
              <a:buNone/>
            </a:pPr>
            <a:r>
              <a:rPr lang="en-US" sz="1900" dirty="0">
                <a:solidFill>
                  <a:srgbClr val="1B2B3A"/>
                </a:solidFill>
              </a:rPr>
              <a:t>: der Titel bringt allen Modellen +2 bis +4 Prozentpunkte</a:t>
            </a:r>
            <a:endParaRPr lang="en-US" sz="1900" dirty="0"/>
          </a:p>
        </p:txBody>
      </p:sp>
      <p:pic>
        <p:nvPicPr>
          <p:cNvPr id="10" name="nb_plot" descr="/home/claude/work/nbhd/c033_1.png">    </p:cNvPr>
          <p:cNvPicPr>
            <a:picLocks noChangeAspect="1"/>
          </p:cNvPicPr>
          <p:nvPr/>
        </p:nvPicPr>
        <p:blipFill>
          <a:blip r:embed="rId1"/>
          <a:stretch>
            <a:fillRect/>
          </a:stretch>
        </p:blipFill>
        <p:spPr>
          <a:xfrm>
            <a:off x="6675120" y="2438014"/>
            <a:ext cx="4937760" cy="2439172"/>
          </a:xfrm>
          <a:prstGeom prst="rect">
            <a:avLst/>
          </a:prstGeom>
        </p:spPr>
      </p:pic>
      <p:sp>
        <p:nvSpPr>
          <p:cNvPr id="11" name="caption"/>
          <p:cNvSpPr txBox="1"/>
          <p:nvPr/>
        </p:nvSpPr>
        <p:spPr>
          <a:xfrm>
            <a:off x="6675120" y="4968626"/>
            <a:ext cx="4937760" cy="274320"/>
          </a:xfrm>
          <a:prstGeom prst="rect">
            <a:avLst/>
          </a:prstGeom>
          <a:noFill/>
          <a:ln/>
        </p:spPr>
        <p:txBody>
          <a:bodyPr wrap="square" lIns="0" tIns="0" rIns="0" bIns="0" rtlCol="0" anchor="ctr"/>
          <a:lstStyle/>
          <a:p>
            <a:pPr algn="ctr" indent="0" marL="0">
              <a:buNone/>
            </a:pPr>
            <a:r>
              <a:rPr lang="en-US" sz="1100" dirty="0">
                <a:solidFill>
                  <a:srgbClr val="8A96A3"/>
                </a:solidFill>
              </a:rPr>
              <a:t>„Master“ = Anrede für Jungen</a:t>
            </a:r>
            <a:endParaRPr lang="en-US" sz="11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6A3"/>
                </a:solidFill>
              </a:defRPr>
            </a:lvl1pPr>
          </a:lstStyle>
          <a:p>
            <a:pPr algn="r"/>
            <a:fld id="{F7021451-1387-4CA6-816F-3879F97B5CBC}" type="slidenum">
              <a:rPr b="0" lang="en-US"/>
              <a:t>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822960" y="822960"/>
            <a:ext cx="10515600" cy="914400"/>
          </a:xfrm>
          <a:prstGeom prst="rect">
            <a:avLst/>
          </a:prstGeom>
          <a:noFill/>
          <a:ln/>
        </p:spPr>
        <p:txBody>
          <a:bodyPr wrap="square" lIns="0" tIns="0" rIns="0" bIns="0" rtlCol="0" anchor="t"/>
          <a:lstStyle/>
          <a:p>
            <a:pPr algn="l" indent="0" marL="0">
              <a:buNone/>
            </a:pPr>
            <a:r>
              <a:rPr lang="en-US" sz="4000" dirty="0">
                <a:solidFill>
                  <a:schemeClr val="bg1"/>
                </a:solidFill>
              </a:rPr>
              <a:t>Unser Vorgehen in drei Sätzen</a:t>
            </a:r>
            <a:endParaRPr lang="en-US" sz="4000" dirty="0"/>
          </a:p>
        </p:txBody>
      </p:sp>
      <p:sp>
        <p:nvSpPr>
          <p:cNvPr id="3" name="animw_fazit"/>
          <p:cNvSpPr txBox="1"/>
          <p:nvPr/>
        </p:nvSpPr>
        <p:spPr>
          <a:xfrm>
            <a:off x="822960" y="2148840"/>
            <a:ext cx="10424160" cy="914400"/>
          </a:xfrm>
          <a:prstGeom prst="rect">
            <a:avLst/>
          </a:prstGeom>
          <a:noFill/>
          <a:ln/>
        </p:spPr>
        <p:txBody>
          <a:bodyPr wrap="square" lIns="0" tIns="0" rIns="0" bIns="0" rtlCol="0" anchor="t"/>
          <a:lstStyle/>
          <a:p>
            <a:pPr indent="0" marL="0">
              <a:buNone/>
            </a:pPr>
            <a:r>
              <a:rPr lang="en-US" sz="1800" b="1" dirty="0">
                <a:solidFill>
                  <a:srgbClr val="C4452D"/>
                </a:solidFill>
              </a:rPr>
              <a:t>01   </a:t>
            </a:r>
            <a:pPr indent="0" marL="0">
              <a:buNone/>
            </a:pPr>
            <a:r>
              <a:rPr lang="en-US" sz="2400" dirty="0">
                <a:solidFill>
                  <a:srgbClr val="FFFFFF"/>
                </a:solidFill>
              </a:rPr>
              <a:t>Erst verstehen: Jede Entscheidung lässt sich auf die Datenanalyse zurückführen.</a:t>
            </a:r>
            <a:endParaRPr lang="en-US" sz="1800" dirty="0"/>
          </a:p>
        </p:txBody>
      </p:sp>
      <p:sp>
        <p:nvSpPr>
          <p:cNvPr id="4" name="animw_fazit"/>
          <p:cNvSpPr txBox="1"/>
          <p:nvPr/>
        </p:nvSpPr>
        <p:spPr>
          <a:xfrm>
            <a:off x="822960" y="3383280"/>
            <a:ext cx="10424160" cy="914400"/>
          </a:xfrm>
          <a:prstGeom prst="rect">
            <a:avLst/>
          </a:prstGeom>
          <a:noFill/>
          <a:ln/>
        </p:spPr>
        <p:txBody>
          <a:bodyPr wrap="square" lIns="0" tIns="0" rIns="0" bIns="0" rtlCol="0" anchor="t"/>
          <a:lstStyle/>
          <a:p>
            <a:pPr indent="0" marL="0">
              <a:buNone/>
            </a:pPr>
            <a:r>
              <a:rPr lang="en-US" sz="1800" b="1" dirty="0">
                <a:solidFill>
                  <a:srgbClr val="C4452D"/>
                </a:solidFill>
              </a:rPr>
              <a:t>02   </a:t>
            </a:r>
            <a:pPr indent="0" marL="0">
              <a:buNone/>
            </a:pPr>
            <a:r>
              <a:rPr lang="en-US" sz="2400" dirty="0">
                <a:solidFill>
                  <a:srgbClr val="FFFFFF"/>
                </a:solidFill>
              </a:rPr>
              <a:t>Gleiche Spielregeln: Nur so sind vier Modelle fair vergleichbar.</a:t>
            </a:r>
            <a:endParaRPr lang="en-US" sz="1800" dirty="0"/>
          </a:p>
        </p:txBody>
      </p:sp>
      <p:sp>
        <p:nvSpPr>
          <p:cNvPr id="5" name="animw_fazit"/>
          <p:cNvSpPr txBox="1"/>
          <p:nvPr/>
        </p:nvSpPr>
        <p:spPr>
          <a:xfrm>
            <a:off x="822960" y="4617720"/>
            <a:ext cx="10424160" cy="914400"/>
          </a:xfrm>
          <a:prstGeom prst="rect">
            <a:avLst/>
          </a:prstGeom>
          <a:noFill/>
          <a:ln/>
        </p:spPr>
        <p:txBody>
          <a:bodyPr wrap="square" lIns="0" tIns="0" rIns="0" bIns="0" rtlCol="0" anchor="t"/>
          <a:lstStyle/>
          <a:p>
            <a:pPr indent="0" marL="0">
              <a:buNone/>
            </a:pPr>
            <a:r>
              <a:rPr lang="en-US" sz="1800" b="1" dirty="0">
                <a:solidFill>
                  <a:srgbClr val="C4452D"/>
                </a:solidFill>
              </a:rPr>
              <a:t>03   </a:t>
            </a:r>
            <a:pPr indent="0" marL="0">
              <a:buNone/>
            </a:pPr>
            <a:r>
              <a:rPr lang="en-US" sz="2400" dirty="0">
                <a:solidFill>
                  <a:srgbClr val="FFFFFF"/>
                </a:solidFill>
              </a:rPr>
              <a:t>Diagnose vor Tuning – und bessere Merkmale vor komplexeren Modellen.</a:t>
            </a:r>
            <a:endParaRPr lang="en-US" sz="1800" dirty="0"/>
          </a:p>
        </p:txBody>
      </p:sp>
      <p:sp>
        <p:nvSpPr>
          <p:cNvPr id="25" name="Slide Number Placeholder 0"/>
          <p:cNvSpPr>
            <a:spLocks noGrp="1"/>
          </p:cNvSpPr>
          <p:nvPr>
            <p:ph type="sldNum" sz="quarter" idx="4294967295"/>
          </p:nvPr>
        </p:nvSpPr>
        <p:spPr>
          <a:xfrm>
            <a:off x="1110996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8C6"/>
                </a:solidFill>
              </a:defRPr>
            </a:lvl1pPr>
          </a:lstStyle>
          <a:p>
            <a:pPr algn="r"/>
            <a:fld id="{F7021451-1387-4CA6-816F-3879F97B5CBC}" type="slidenum">
              <a:rPr b="0" lang="en-US"/>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7498080" cy="1737360"/>
          </a:xfrm>
          <a:prstGeom prst="rect">
            <a:avLst/>
          </a:prstGeom>
          <a:noFill/>
          <a:ln/>
        </p:spPr>
        <p:txBody>
          <a:bodyPr wrap="square" lIns="0" tIns="0" rIns="0" bIns="0" rtlCol="0" anchor="b"/>
          <a:lstStyle/>
          <a:p>
            <a:pPr algn="l" indent="0" marL="0">
              <a:buNone/>
            </a:pPr>
            <a:r>
              <a:rPr lang="en-US" sz="5400" dirty="0">
                <a:solidFill>
                  <a:schemeClr val="bg1"/>
                </a:solidFill>
              </a:rPr>
              <a:t>Danke!</a:t>
            </a:r>
            <a:endParaRPr lang="en-US" sz="5400" dirty="0"/>
          </a:p>
        </p:txBody>
      </p:sp>
      <p:sp>
        <p:nvSpPr>
          <p:cNvPr id="3" name="Text 0"/>
          <p:cNvSpPr/>
          <p:nvPr>
            <p:ph idx="101" type="body" hasCustomPrompt="1"/>
          </p:nvPr>
        </p:nvSpPr>
        <p:spPr>
          <a:xfrm>
            <a:off x="822960" y="3749040"/>
            <a:ext cx="7498080" cy="822960"/>
          </a:xfrm>
          <a:prstGeom prst="rect">
            <a:avLst/>
          </a:prstGeom>
          <a:noFill/>
          <a:ln/>
        </p:spPr>
        <p:txBody>
          <a:bodyPr wrap="square" lIns="0" tIns="0" rIns="0" bIns="0" rtlCol="0" anchor="t"/>
          <a:lstStyle/>
          <a:p>
            <a:pPr indent="0" marL="0">
              <a:buNone/>
            </a:pPr>
            <a:r>
              <a:rPr lang="en-US" sz="2200" dirty="0">
                <a:solidFill>
                  <a:schemeClr val="accent4"/>
                </a:solidFill>
              </a:rPr>
              <a:t>Wir freuen uns auf eure Fragen.</a:t>
            </a:r>
            <a:endParaRPr lang="en-US" sz="2200" dirty="0"/>
          </a:p>
        </p:txBody>
      </p:sp>
      <p:pic>
        <p:nvPicPr>
          <p:cNvPr id="4" name="title_icon" descr="preencoded.png">    </p:cNvPr>
          <p:cNvPicPr>
            <a:picLocks noChangeAspect="1"/>
          </p:cNvPicPr>
          <p:nvPr/>
        </p:nvPicPr>
        <p:blipFill>
          <a:blip r:embed="rId1"/>
          <a:stretch>
            <a:fillRect/>
          </a:stretch>
        </p:blipFill>
        <p:spPr>
          <a:xfrm>
            <a:off x="8138160" y="1097280"/>
            <a:ext cx="4206240" cy="4206240"/>
          </a:xfrm>
          <a:prstGeom prst="rect">
            <a:avLst/>
          </a:prstGeom>
        </p:spPr>
      </p:pic>
      <p:sp>
        <p:nvSpPr>
          <p:cNvPr id="5" name="Text 2"/>
          <p:cNvSpPr txBox="1"/>
          <p:nvPr/>
        </p:nvSpPr>
        <p:spPr>
          <a:xfrm>
            <a:off x="822960" y="5577840"/>
            <a:ext cx="7315200" cy="640080"/>
          </a:xfrm>
          <a:prstGeom prst="rect">
            <a:avLst/>
          </a:prstGeom>
          <a:noFill/>
          <a:ln/>
        </p:spPr>
        <p:txBody>
          <a:bodyPr wrap="square" lIns="0" tIns="0" rIns="0" bIns="0" rtlCol="0" anchor="ctr"/>
          <a:lstStyle/>
          <a:p>
            <a:pPr indent="0" marL="0">
              <a:buNone/>
            </a:pPr>
            <a:r>
              <a:rPr lang="en-US" sz="1100" dirty="0">
                <a:solidFill>
                  <a:srgbClr val="A9B8C6"/>
                </a:solidFill>
              </a:rPr>
              <a:t>Alle Grafiken stammen aus unserem Notebook. Teile von Code und Texten wurden mit KI-Unterstützung (Claude) erstellt – die Stellen und Prompts sind im Notebook gekennzeichnet.</a:t>
            </a:r>
            <a:endParaRPr lang="en-US" sz="1100" dirty="0"/>
          </a:p>
        </p:txBody>
      </p:sp>
    </p:spTree>
  </p:cSld>
  <p:clrMapOvr>
    <a:masterClrMapping/>
  </p:clrMapOvr>
</p:sld>
</file>

<file path=ppt/theme/theme1.xml><?xml version="1.0" encoding="utf-8"?>
<a:theme xmlns:a="http://schemas.openxmlformats.org/drawingml/2006/main" name="Titanic">
  <a:themeElements>
    <a:clrScheme name="Titanic">
      <a:dk1>
        <a:srgbClr val="1B2B3A"/>
      </a:dk1>
      <a:lt1>
        <a:srgbClr val="FFFFFF"/>
      </a:lt1>
      <a:dk2>
        <a:srgbClr val="13293D"/>
      </a:dk2>
      <a:lt2>
        <a:srgbClr val="EEF2F5"/>
      </a:lt2>
      <a:accent1>
        <a:srgbClr val="C4452D"/>
      </a:accent1>
      <a:accent2>
        <a:srgbClr val="3E6E8E"/>
      </a:accent2>
      <a:accent3>
        <a:srgbClr val="C3CCD4"/>
      </a:accent3>
      <a:accent4>
        <a:srgbClr val="8FA9BE"/>
      </a:accent4>
      <a:accent5>
        <a:srgbClr val="5A6B7B"/>
      </a:accent5>
      <a:accent6>
        <a:srgbClr val="D9A441"/>
      </a:accent6>
      <a:hlink>
        <a:srgbClr val="3E6E8E"/>
      </a:hlink>
      <a:folHlink>
        <a:srgbClr val="5A6B7B"/>
      </a:folHlink>
    </a:clrScheme>
    <a:fontScheme name="Titan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Titanic – unser Weg zum Modell</dc:title>
  <dc:subject>Fallstudie Data Science Management</dc:subject>
  <dc:creator>PptxGenJS</dc:creator>
  <cp:lastModifiedBy>PptxGenJS</cp:lastModifiedBy>
  <cp:revision>1</cp:revision>
  <dcterms:created xsi:type="dcterms:W3CDTF">2026-10-15T19:19:58Z</dcterms:created>
  <dcterms:modified xsi:type="dcterms:W3CDTF">2026-10-15T19:19:58Z</dcterms:modified>
</cp:coreProperties>
</file>