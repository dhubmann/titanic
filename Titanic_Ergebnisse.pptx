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1" r:id="rId15"/>
    <p:sldId id="272" r:id="rId16"/>
    <p:sldId id="273" r:id="rId17"/>
    <p:sldId id="274" r:id="rId18"/>
    <p:sldId id="275" r:id="rId19"/>
    <p:sldId id="276" r:id="rId2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90"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Überlebensrate</c:v>
          </c:tx>
          <c:spPr>
            <a:solidFill>
              <a:srgbClr val="087F8C"/>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Frauen</c:v>
                </c:pt>
                <c:pt idx="1">
                  <c:v>Männer</c:v>
                </c:pt>
              </c:strCache>
            </c:strRef>
          </c:cat>
          <c:val>
            <c:numRef>
              <c:f>'Chart Data'!$B$2:$B$3</c:f>
              <c:numCache>
                <c:formatCode>0%</c:formatCode>
                <c:ptCount val="2"/>
                <c:pt idx="0">
                  <c:v>0.74203821660000002</c:v>
                </c:pt>
                <c:pt idx="1">
                  <c:v>0.18890814559999999</c:v>
                </c:pt>
              </c:numCache>
            </c:numRef>
          </c:val>
          <c:extLst>
            <c:ext xmlns:c16="http://schemas.microsoft.com/office/drawing/2014/chart" uri="{C3380CC4-5D6E-409C-BE32-E72D297353CC}">
              <c16:uniqueId val="{00000000-DD32-4FFE-A6B3-95312EC758C4}"/>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650">
                <a:solidFill>
                  <a:srgbClr val="102A43"/>
                </a:solidFill>
                <a:latin typeface="Arial"/>
                <a:ea typeface="Arial"/>
                <a:cs typeface="Arial"/>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7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425">
                <a:solidFill>
                  <a:srgbClr val="52677B"/>
                </a:solidFill>
                <a:latin typeface="Arial"/>
                <a:ea typeface="Arial"/>
                <a:cs typeface="Arial"/>
              </a:defRPr>
            </a:pPr>
            <a:endParaRPr lang="de-DE"/>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Überlebensrate</c:v>
          </c:tx>
          <c:spPr>
            <a:solidFill>
              <a:srgbClr val="B87333"/>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1. Klasse</c:v>
                </c:pt>
                <c:pt idx="1">
                  <c:v>2. Klasse</c:v>
                </c:pt>
                <c:pt idx="2">
                  <c:v>3. Klasse</c:v>
                </c:pt>
              </c:strCache>
            </c:strRef>
          </c:cat>
          <c:val>
            <c:numRef>
              <c:f>'Chart Data'!$B$2:$B$4</c:f>
              <c:numCache>
                <c:formatCode>0%</c:formatCode>
                <c:ptCount val="3"/>
                <c:pt idx="0">
                  <c:v>0.62962962960000002</c:v>
                </c:pt>
                <c:pt idx="1">
                  <c:v>0.47282608700000001</c:v>
                </c:pt>
                <c:pt idx="2">
                  <c:v>0.24236252550000001</c:v>
                </c:pt>
              </c:numCache>
            </c:numRef>
          </c:val>
          <c:extLst>
            <c:ext xmlns:c16="http://schemas.microsoft.com/office/drawing/2014/chart" uri="{C3380CC4-5D6E-409C-BE32-E72D297353CC}">
              <c16:uniqueId val="{00000000-655A-41B9-B59A-D181449BFCD3}"/>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650">
                <a:solidFill>
                  <a:srgbClr val="102A43"/>
                </a:solidFill>
                <a:latin typeface="Arial"/>
                <a:ea typeface="Arial"/>
                <a:cs typeface="Arial"/>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7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425">
                <a:solidFill>
                  <a:srgbClr val="52677B"/>
                </a:solidFill>
                <a:latin typeface="Arial"/>
                <a:ea typeface="Arial"/>
                <a:cs typeface="Arial"/>
              </a:defRPr>
            </a:pPr>
            <a:endParaRPr lang="de-DE"/>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Überlebensrate</c:v>
          </c:tx>
          <c:spPr>
            <a:solidFill>
              <a:srgbClr val="087F8C"/>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≤12</c:v>
                </c:pt>
                <c:pt idx="1">
                  <c:v>13–18</c:v>
                </c:pt>
                <c:pt idx="2">
                  <c:v>&gt;18–35</c:v>
                </c:pt>
                <c:pt idx="3">
                  <c:v>&gt;35–60</c:v>
                </c:pt>
                <c:pt idx="4">
                  <c:v>&gt;60</c:v>
                </c:pt>
              </c:strCache>
            </c:strRef>
          </c:cat>
          <c:val>
            <c:numRef>
              <c:f>'Chart Data'!$B$2:$B$6</c:f>
              <c:numCache>
                <c:formatCode>0%</c:formatCode>
                <c:ptCount val="5"/>
                <c:pt idx="0">
                  <c:v>0.57971014489999995</c:v>
                </c:pt>
                <c:pt idx="1">
                  <c:v>0.42857142860000003</c:v>
                </c:pt>
                <c:pt idx="2">
                  <c:v>0.38268156419999999</c:v>
                </c:pt>
                <c:pt idx="3">
                  <c:v>0.4</c:v>
                </c:pt>
                <c:pt idx="4">
                  <c:v>0.2272727273</c:v>
                </c:pt>
              </c:numCache>
            </c:numRef>
          </c:val>
          <c:extLst>
            <c:ext xmlns:c16="http://schemas.microsoft.com/office/drawing/2014/chart" uri="{C3380CC4-5D6E-409C-BE32-E72D297353CC}">
              <c16:uniqueId val="{00000000-91AF-41B7-86E0-2C320AD86A0D}"/>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650">
                <a:solidFill>
                  <a:srgbClr val="102A43"/>
                </a:solidFill>
                <a:latin typeface="Arial"/>
                <a:ea typeface="Arial"/>
                <a:cs typeface="Arial"/>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7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425">
                <a:solidFill>
                  <a:srgbClr val="52677B"/>
                </a:solidFill>
                <a:latin typeface="Arial"/>
                <a:ea typeface="Arial"/>
                <a:cs typeface="Arial"/>
              </a:defRPr>
            </a:pPr>
            <a:endParaRPr lang="de-DE"/>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Training</c:v>
          </c:tx>
          <c:spPr>
            <a:solidFill>
              <a:srgbClr val="DCE7EC"/>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Log. Regression</c:v>
                </c:pt>
                <c:pt idx="1">
                  <c:v>SVM</c:v>
                </c:pt>
                <c:pt idx="2">
                  <c:v>Grad. Boosting</c:v>
                </c:pt>
                <c:pt idx="3">
                  <c:v>Random Forest</c:v>
                </c:pt>
              </c:strCache>
            </c:strRef>
          </c:cat>
          <c:val>
            <c:numRef>
              <c:f>'Chart Data'!$B$2:$B$5</c:f>
              <c:numCache>
                <c:formatCode>0%</c:formatCode>
                <c:ptCount val="4"/>
                <c:pt idx="0">
                  <c:v>0.80800000000000005</c:v>
                </c:pt>
                <c:pt idx="1">
                  <c:v>0.84</c:v>
                </c:pt>
                <c:pt idx="2">
                  <c:v>0.89700000000000002</c:v>
                </c:pt>
                <c:pt idx="3">
                  <c:v>0.89900000000000002</c:v>
                </c:pt>
              </c:numCache>
            </c:numRef>
          </c:val>
          <c:extLst>
            <c:ext xmlns:c16="http://schemas.microsoft.com/office/drawing/2014/chart" uri="{C3380CC4-5D6E-409C-BE32-E72D297353CC}">
              <c16:uniqueId val="{00000000-0A83-44F7-BE1E-98FC999CE7E6}"/>
            </c:ext>
          </c:extLst>
        </c:ser>
        <c:ser>
          <c:idx val="1"/>
          <c:order val="1"/>
          <c:tx>
            <c:v>5-fold CV</c:v>
          </c:tx>
          <c:spPr>
            <a:solidFill>
              <a:srgbClr val="087F8C"/>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Log. Regression</c:v>
                </c:pt>
                <c:pt idx="1">
                  <c:v>SVM</c:v>
                </c:pt>
                <c:pt idx="2">
                  <c:v>Grad. Boosting</c:v>
                </c:pt>
                <c:pt idx="3">
                  <c:v>Random Forest</c:v>
                </c:pt>
              </c:strCache>
            </c:strRef>
          </c:cat>
          <c:val>
            <c:numRef>
              <c:f>'Chart Data'!$D$2:$D$5</c:f>
              <c:numCache>
                <c:formatCode>0%</c:formatCode>
                <c:ptCount val="4"/>
                <c:pt idx="0">
                  <c:v>0.80200000000000005</c:v>
                </c:pt>
                <c:pt idx="1">
                  <c:v>0.82199999999999995</c:v>
                </c:pt>
                <c:pt idx="2">
                  <c:v>0.81699999999999995</c:v>
                </c:pt>
                <c:pt idx="3">
                  <c:v>0.82699999999999996</c:v>
                </c:pt>
              </c:numCache>
            </c:numRef>
          </c:val>
          <c:extLst>
            <c:ext xmlns:c16="http://schemas.microsoft.com/office/drawing/2014/chart" uri="{C3380CC4-5D6E-409C-BE32-E72D297353CC}">
              <c16:uniqueId val="{00000001-0A83-44F7-BE1E-98FC999CE7E6}"/>
            </c:ext>
          </c:extLst>
        </c:ser>
        <c:ser>
          <c:idx val="2"/>
          <c:order val="2"/>
          <c:tx>
            <c:v>Validierung</c:v>
          </c:tx>
          <c:spPr>
            <a:solidFill>
              <a:srgbClr val="B87333"/>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Data'!$E$2:$E$5</c:f>
              <c:strCache>
                <c:ptCount val="4"/>
                <c:pt idx="0">
                  <c:v>Log. Regression</c:v>
                </c:pt>
                <c:pt idx="1">
                  <c:v>SVM</c:v>
                </c:pt>
                <c:pt idx="2">
                  <c:v>Grad. Boosting</c:v>
                </c:pt>
                <c:pt idx="3">
                  <c:v>Random Forest</c:v>
                </c:pt>
              </c:strCache>
            </c:strRef>
          </c:cat>
          <c:val>
            <c:numRef>
              <c:f>'Chart Data'!$F$2:$F$5</c:f>
              <c:numCache>
                <c:formatCode>0%</c:formatCode>
                <c:ptCount val="4"/>
                <c:pt idx="0">
                  <c:v>0.79900000000000004</c:v>
                </c:pt>
                <c:pt idx="1">
                  <c:v>0.81599999999999995</c:v>
                </c:pt>
                <c:pt idx="2">
                  <c:v>0.79900000000000004</c:v>
                </c:pt>
                <c:pt idx="3">
                  <c:v>0.80400000000000005</c:v>
                </c:pt>
              </c:numCache>
            </c:numRef>
          </c:val>
          <c:extLst>
            <c:ext xmlns:c16="http://schemas.microsoft.com/office/drawing/2014/chart" uri="{C3380CC4-5D6E-409C-BE32-E72D297353CC}">
              <c16:uniqueId val="{00000002-0A83-44F7-BE1E-98FC999CE7E6}"/>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650">
                <a:solidFill>
                  <a:srgbClr val="102A43"/>
                </a:solidFill>
                <a:latin typeface="Arial"/>
                <a:ea typeface="Arial"/>
                <a:cs typeface="Arial"/>
              </a:defRPr>
            </a:pPr>
            <a:endParaRPr lang="de-DE"/>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CE7EC"/>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425">
                <a:solidFill>
                  <a:srgbClr val="52677B"/>
                </a:solidFill>
                <a:latin typeface="Arial"/>
                <a:ea typeface="Arial"/>
                <a:cs typeface="Arial"/>
              </a:defRPr>
            </a:pPr>
            <a:endParaRPr lang="de-DE"/>
          </a:p>
        </c:txPr>
        <c:crossAx val="48650112"/>
        <c:crosses val="autoZero"/>
        <c:crossBetween val="between"/>
      </c:valAx>
      <c:spPr>
        <a:noFill/>
      </c:spPr>
    </c:plotArea>
    <c:legend>
      <c:legendPos val="b"/>
      <c:overlay val="0"/>
      <c:txPr>
        <a:bodyPr anchorCtr="1"/>
        <a:lstStyle/>
        <a:p>
          <a:pPr>
            <a:defRPr sz="1500">
              <a:solidFill>
                <a:srgbClr val="102A43"/>
              </a:solidFill>
              <a:latin typeface="Arial"/>
              <a:ea typeface="Arial"/>
              <a:cs typeface="Arial"/>
            </a:defRPr>
          </a:pPr>
          <a:endParaRPr lang="de-DE"/>
        </a:p>
      </c:txPr>
    </c:legend>
    <c:plotVisOnly val="1"/>
    <c:dispBlanksAs val="zero"/>
    <c:showDLblsOverMax val="1"/>
  </c:chart>
  <c:spPr>
    <a:no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de-DE"/>
  <c:roundedCorners val="1"/>
  <c:style val="2"/>
  <c:chart>
    <c:autoTitleDeleted val="1"/>
    <c:plotArea>
      <c:layout/>
      <c:barChart>
        <c:barDir val="col"/>
        <c:grouping val="clustered"/>
        <c:varyColors val="0"/>
        <c:ser>
          <c:idx val="0"/>
          <c:order val="0"/>
          <c:tx>
            <c:v>Accuracy-Verlust</c:v>
          </c:tx>
          <c:spPr>
            <a:solidFill>
              <a:srgbClr val="087F8C"/>
            </a:solidFill>
          </c:spPr>
          <c:invertIfNegative val="0"/>
          <c:dLbls>
            <c:numFmt formatCode="0.0" sourceLinked="0"/>
            <c:spPr>
              <a:noFill/>
              <a:ln>
                <a:noFill/>
              </a:ln>
              <a:effectLst/>
            </c:spPr>
            <c:txPr>
              <a:bodyPr anchorCtr="1"/>
              <a:lstStyle/>
              <a:p>
                <a:pPr>
                  <a:defRPr sz="1350">
                    <a:solidFill>
                      <a:srgbClr val="102A43"/>
                    </a:solidFill>
                    <a:latin typeface="Arial"/>
                    <a:ea typeface="Arial"/>
                    <a:cs typeface="Arial"/>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Sex</c:v>
                </c:pt>
                <c:pt idx="1">
                  <c:v>Pclass</c:v>
                </c:pt>
                <c:pt idx="2">
                  <c:v>Age</c:v>
                </c:pt>
                <c:pt idx="3">
                  <c:v>FamilySize</c:v>
                </c:pt>
                <c:pt idx="4">
                  <c:v>Fare</c:v>
                </c:pt>
                <c:pt idx="5">
                  <c:v>Embarked</c:v>
                </c:pt>
              </c:strCache>
            </c:strRef>
          </c:cat>
          <c:val>
            <c:numRef>
              <c:f>'Chart Data'!$B$2:$B$7</c:f>
              <c:numCache>
                <c:formatCode>0.0</c:formatCode>
                <c:ptCount val="6"/>
                <c:pt idx="0">
                  <c:v>18.38</c:v>
                </c:pt>
                <c:pt idx="1">
                  <c:v>4.6399999999999997</c:v>
                </c:pt>
                <c:pt idx="2">
                  <c:v>4.41</c:v>
                </c:pt>
                <c:pt idx="3">
                  <c:v>2.12</c:v>
                </c:pt>
                <c:pt idx="4">
                  <c:v>2.0099999999999998</c:v>
                </c:pt>
                <c:pt idx="5">
                  <c:v>-0.5</c:v>
                </c:pt>
              </c:numCache>
            </c:numRef>
          </c:val>
          <c:extLst>
            <c:ext xmlns:c16="http://schemas.microsoft.com/office/drawing/2014/chart" uri="{C3380CC4-5D6E-409C-BE32-E72D297353CC}">
              <c16:uniqueId val="{00000000-CDE7-405F-9DFD-F1063294D1A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D4D4D4"/>
            </a:solidFill>
            <a:prstDash val="solid"/>
          </a:ln>
        </c:spPr>
        <c:txPr>
          <a:bodyPr anchorCtr="1"/>
          <a:lstStyle/>
          <a:p>
            <a:pPr>
              <a:defRPr sz="1650">
                <a:solidFill>
                  <a:srgbClr val="102A43"/>
                </a:solidFill>
                <a:latin typeface="Arial"/>
                <a:ea typeface="Arial"/>
                <a:cs typeface="Arial"/>
              </a:defRPr>
            </a:pPr>
            <a:endParaRPr lang="de-DE"/>
          </a:p>
        </c:txPr>
        <c:crossAx val="48672768"/>
        <c:crosses val="autoZero"/>
        <c:auto val="1"/>
        <c:lblAlgn val="ctr"/>
        <c:lblOffset val="100"/>
        <c:noMultiLvlLbl val="1"/>
      </c:catAx>
      <c:valAx>
        <c:axId val="48672768"/>
        <c:scaling>
          <c:orientation val="minMax"/>
          <c:max val="22"/>
          <c:min val="-3"/>
        </c:scaling>
        <c:delete val="0"/>
        <c:axPos val="l"/>
        <c:majorGridlines>
          <c:spPr>
            <a:ln w="9525">
              <a:solidFill>
                <a:srgbClr val="DCE7EC"/>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425">
                <a:solidFill>
                  <a:srgbClr val="52677B"/>
                </a:solidFill>
                <a:latin typeface="Arial"/>
                <a:ea typeface="Arial"/>
                <a:cs typeface="Arial"/>
              </a:defRPr>
            </a:pPr>
            <a:endParaRPr lang="de-DE"/>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Einstieg, ca. 30 Sekunden. Leitfrage: Welche Passagiermerkmale helfen dabei, das Überleben vorherzusagen?</a:t>
            </a:r>
          </a:p>
          <a:p>
            <a:endParaRPr/>
          </a:p>
          <a:p>
            <a:r>
              <a:t>Quelle: titanic/titanic.ipynb, Kapitel 1–5.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50 Sekunden. Klassifikation: Survived = 1 bzw. 0. Der offizielle Testdatensatz hat keine bekannten Zielwerte. Deshalb Validierungsdaten aus train.csv abtrennen.</a:t>
            </a:r>
          </a:p>
          <a:p>
            <a:endParaRPr/>
          </a:p>
          <a:p>
            <a:r>
              <a:t>Quelle: titanic/titanic.ipynb, Kapitel 1, 2.1–2.3.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65 Sekunden. Beobachtete Überlebensraten im gelabelten Datensatz. Frauen: 233/314, Männer: 109/577. Klasse 1: 136/216, Klasse 2: 87/184, Klasse 3: 119/491. Zusammenhang ist kein Kausalitätsnachweis.</a:t>
            </a:r>
          </a:p>
          <a:p>
            <a:endParaRPr/>
          </a:p>
          <a:p>
            <a:r>
              <a:t>Quelle: titanic/titanic.ipynb, 2.4.3, 2.4.4 und 2.4.15.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50 Sekunden. Die Altersgruppen stammen aus der EDA des Notebooks. 177 Personen ohne Altersangabe. Familiengröße = SibSp + Parch + 1. Sehr kleine Gruppen erlauben keine verlässlichen Einzelfallregeln.</a:t>
            </a:r>
          </a:p>
          <a:p>
            <a:endParaRPr/>
          </a:p>
          <a:p>
            <a:r>
              <a:t>Quelle: titanic/titanic.ipynb, 2.4.5, 2.4.8, 2.4.15.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65 Sekunden. Alter und Fahrpreis können im Testdatensatz fehlen und erhalten jeweils den Median des Trainingsfolds. Numerische Merkmale werden standardisiert. Kategoriale Merkmale erhalten häufigste Kategorie und One-Hot-Encoding. Cabin: 687/891 fehlend. Age: 177/891 fehlend. Pclass wird kategorial codiert. Title ist in der EDA enthalten, aber nicht im finalen Modell.</a:t>
            </a:r>
          </a:p>
          <a:p>
            <a:endParaRPr/>
          </a:p>
          <a:p>
            <a:r>
              <a:t>Quelle: titanic/titanic.ipynb, 3.1–3.6.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55 Sekunden. Split mit test_size=0.2, stratify=y, random_state=42. CV: StratifiedKFold mit n_splits=5, shuffle=True und random_state=42 auf 712 Trainingsfällen. Die Validierung wurde im Notebook zur Auswahl von SVM-Varianten verwendet und ist damit keine völlig unberührte Endprüfung. Random-Forest-CV ist durch die Parametersuche ebenfalls eine interne Auswahlkennzahl.</a:t>
            </a:r>
          </a:p>
          <a:p>
            <a:endParaRPr/>
          </a:p>
          <a:p>
            <a:r>
              <a:t>Quelle: titanic/titanic.ipynb, 3.5 und 5.1.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65 Sekunden. Logistische Regression als gut erklärbares Basismodell. SVM mit RBF kann nichtlineare Grenzen abbilden. Random Forest kombiniert viele unabhängig trainierte Bäume. Histogram Gradient Boosting ergänzt Bäume sequenziell. Im Code steht HistGradientBoostingClassifier aus scikit-learn. Er wird hier bewusst nicht als LightGBM bezeichnet.</a:t>
            </a:r>
          </a:p>
          <a:p>
            <a:endParaRPr/>
          </a:p>
          <a:p>
            <a:r>
              <a:t>Quelle: titanic/titanic.ipynb, 4.1–4.4.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sechs SVM-Varianten auf denselben 179 Validierungsfällen (110 Nichtüberlebende, 69 Überlebende). Positive Klasse: Überlebt. Linear C=0,01 hat den höchsten Recall. RBF C=1 hat die höchste Accuracy und den höchsten F1 unter diesen SVMs. Bei höherem Gewicht für das Übersehen von Überlebenden ist die lineare Variante C=0,01 begründbar. Diese erkennt drei zusätzliche Überlebende, macht aber neun zusätzliche falsche Überlebensvorhersagen. C=0,01 mit RBF sagt für alle nicht überlebt voraus, trotz ROC-AUC 0,845, da AUC die Rangfolge der Entscheidungswerte bewertet. Die Unterschiede sind bei 179 Validierungsfällen klein. Quelle: titanic/titanic.ipynb, Kapitel 4.2, gespeicherte Ausgabe der comparison_table (Zelle 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65 Sekunden. RF-Grid: max_depth aus [3,5,7,10,None], min_samples_leaf aus [1,3,5,10], also 20 Kombinationen. Bestes CV-Ergebnis bei min_samples_leaf=3 ohne Tiefenlimit. GB-Parameter sind begründete feste Einstellungen, im Notebook ist dafür keine systematische Parametersuche dokumentiert. max_leaf_nodes=15 begrenzt die Blattzahl und ist keine garantierte Tiefenbegrenzung.</a:t>
            </a:r>
          </a:p>
          <a:p>
            <a:endParaRPr/>
          </a:p>
          <a:p>
            <a:r>
              <a:t>Quelle: titanic/titanic.ipynb, 4.3.2–4.3.3 und 4.4.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75 Sekunden. Werte auf drei Stellen wie im Notebook. Positive Klasse ist Überlebt. SVM hat höchste Holdout-Accuracy und höchsten F1 unter den vier finalen Modellen. RF ist in CV knapp vorn. Die Unterschiede belegen keine statistisch gesicherte Überlegenheit. Logistische Regression und GB haben hier dieselbe Confusion Matrix, dadurch dieselben gerundeten Schwellenmetriken.</a:t>
            </a:r>
          </a:p>
          <a:p>
            <a:endParaRPr/>
          </a:p>
          <a:p>
            <a:r>
              <a:t>Quelle: titanic/titanic.ipynb, 5.1, gespeicherte Ausgabe Zelle 116.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60 Sekunden. CV-Accuracy und Standardabweichung: LogReg 80.2 ±1.4, SVM 82.2 ±2.9, GB 81.7 ±2.5, RF 82.7 ±2.8 Prozent. Die Standardabweichung über fünf Folds ist kein Konfidenzintervall. Die Grafik verwendet für Vergleichbarkeit eine volle 0–100-Prozent-Achse.</a:t>
            </a:r>
          </a:p>
          <a:p>
            <a:endParaRPr/>
          </a:p>
          <a:p>
            <a:r>
              <a:t>Quelle: titanic/titanic.ipynb, 5.1–5.3.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 titanic.ipynb, Fehleranalysen für svm_model und rbf_model_C1, 179 Validierungsfälle. Lineare SVM C=1: TN=94, FP=16, FN=24, TP=45. Alle Frauen positiv, alle Männer negativ auf dieser Validierungsstichprobe. RBF C=1: TN=103, FP=7, FN=26, TP=43; 20 von 24 überlebenden Männern und 6 von 45 überlebenden Frauen übersehen. Gegenüber linear vier Männer zusätzlich erkannt, sechs Frauen weniger erkannt und neun Fehlalarme vermieden. Die Tabelle und Kennzahlen auf dieser Folie beziehen sich auf RBF. Beobachtung auf Validierungsdaten, keine allgemeingültige Entscheidungsregel oder kausale Aussage.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Non-editable source figure. Originalgrafik aus titanic.ipynb, Zelle 91. Vom Nutzer ausdrücklich gewünschte Übernahme der Notebook-Grafiken als Abbildung. Alle 24 überlebenden Männer übersehen; alle 16 nichtüberlebenden Frauen falsch eingeordnet.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Non-editable source figure. Originalgrafik aus titanic.ipynb, Zelle 97. Vom Nutzer ausdrücklich gewünschte Übernahme der Notebook-Grafiken als Abbildung. 20 von 24 überlebenden Männern übersehen; Fehlerquoten beziehen sich auf die jeweilige Zielklasse.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50 Sekunden. Permutation Importance des Gradient Boosting auf den Validierungsdaten, Mittel über zehn Wiederholungen, random_state=42. Accuracy-Verlust in Prozentpunkten. Standardabweichungen: Sex 3.27, Pclass 1.58, Age 1.16, FamilySize .78, Fare 1.81, Embarked .81. Negative Importance bedeutet kein nachweisbarer Nutzen in dieser Stichprobe, keine schützende bzw. schädliche Wirkung.</a:t>
            </a:r>
          </a:p>
          <a:p>
            <a:endParaRPr/>
          </a:p>
          <a:p>
            <a:r>
              <a:t>Quelle: titanic/titanic.ipynb, 4.4, Permutation Importance, Ausgabe Zelle 111.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55 Sekunden. Die finale SVM wird bei gleichen Hyperparametern auf allen 891 gelabelten Fällen neu trainiert. Ausgabe predictions_final.csv enthält PassengerId und Survived. Testdaten besitzen keine Zielwerte, deshalb gibt es keine gemessene Test-Accuracy. Die angegebenen 34.0% sind eine Prognose und kein beobachtetes Ergebnis.</a:t>
            </a:r>
          </a:p>
          <a:p>
            <a:endParaRPr/>
          </a:p>
          <a:p>
            <a:r>
              <a:t>Quelle: titanic/titanic.ipynb, 5.4, Ausgabe Zelle 121 und predictions_final.csv.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 65 Sekunden. Keine gesicherte Überlegenheit der SVM behaupten. Auswahl nach internem Vergleich, CV-Stabilität und kleiner Trainingslücke. Die wiederholte Nutzung der Validierung und die RF-Parametersuche begrenzen den Anspruch auf unabhängige Bewertung. Nächste Schritte sind Vorschläge, keine durchgeführten Analysen.</a:t>
            </a:r>
          </a:p>
          <a:p>
            <a:endParaRPr/>
          </a:p>
          <a:p>
            <a:r>
              <a:t>Quelle: titanic/titanic.ipynb, 5.2–5.5.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Reservefolie für Diskussion. Alle Definitionen beziehen sich auf die positive Klasse Überlebt. ROC-AUC bewertet die Rangfolge der Scores unabhängig von einer einzelnen Schwelle. Die SVM verwendet decision_function und liefert hier keine kalibrierten Überlebenswahrscheinlichkeiten.</a:t>
            </a:r>
          </a:p>
          <a:p>
            <a:endParaRPr/>
          </a:p>
          <a:p>
            <a:r>
              <a:t>Quelle: titanic/titanic.ipynb, 1.3, 4 und 5.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Quellen: lokales titanic/titanic.ipynb, train.csv, test.csv, predictions_final.csv und README.md. Keine zusätzlichen externen Zahlen. Die Vortragsfolien fassen die gespeicherten Notebook-Ergebnisse zusammen. KI-Hinweise aus dem Notebook sind übernommen. Die PowerPoint wurde mit OpenAI Codex erstellt.</a:t>
            </a:r>
          </a:p>
          <a:p>
            <a:endParaRPr/>
          </a:p>
          <a:p>
            <a:r>
              <a:t>Quelle: titanic/titanic.ipynb, README.md, Fußnoten in 4.3 und 5. Kennzahlen aus gespeicherten Notebook-Ausgaben, ergänzt durch Berechnungen aus train.csv bzw. predictions_final.csv.</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77EA32F-F6F6-4685-B879-B96333B8377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69872513-0413-41C1-8CBE-EABAD8CA55F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16F5C504-5387-4F57-8D01-5742E220DA6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968DDC2-4DA4-495E-BB4A-2622CF4886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7B057552-700B-4953-B49F-0EED0D0E81E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FDE4B432-7D9C-4F04-B15D-F6E99D8F920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00A88F12-5AB8-450C-A3D3-4B89A598334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0BC5E04A-A693-4DE5-9119-BCAD393C9FE6}"/>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03EA24-910E-4674-94DF-EEB6E3F1474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70275401-2E1D-4053-B910-56CABD694CF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8B3068F-AE77-4FEC-82F1-99D8725851D2}"/>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FFFFFF"/>
                </a:solidFill>
                <a:latin typeface="Arial"/>
                <a:ea typeface="Arial"/>
                <a:cs typeface="Arial"/>
              </a:defRPr>
            </a:defPPr>
          </a:lstStyle>
          <a:p>
            <a:pPr>
              <a:buNone/>
              <a:defRPr sz="3150" b="1">
                <a:solidFill>
                  <a:srgbClr val="FFFFFF"/>
                </a:solidFill>
                <a:latin typeface="Arial"/>
                <a:ea typeface="Arial"/>
                <a:cs typeface="Arial"/>
              </a:defRPr>
            </a:pPr>
            <a:r>
              <a:rPr sz="3150" b="1">
                <a:solidFill>
                  <a:srgbClr val="FFFFFF"/>
                </a:solidFill>
                <a:latin typeface="Arial"/>
                <a:ea typeface="Arial"/>
                <a:cs typeface="Arial"/>
              </a:rPr>
              <a:t>Titanic</a:t>
            </a:r>
          </a:p>
        </p:txBody>
      </p:sp>
      <p:sp>
        <p:nvSpPr>
          <p:cNvPr id="2" name="Rechteck 1">
            <a:extLst>
              <a:ext uri="{FF2B5EF4-FFF2-40B4-BE49-F238E27FC236}">
                <a16:creationId xmlns:a16="http://schemas.microsoft.com/office/drawing/2014/main" id="{6555737C-2722-4A09-8A07-B77B9D31D35B}"/>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DCE7EC"/>
                </a:solidFill>
                <a:latin typeface="Arial"/>
                <a:ea typeface="Arial"/>
                <a:cs typeface="Arial"/>
              </a:defRPr>
            </a:defPPr>
          </a:lstStyle>
          <a:p>
            <a:pPr>
              <a:buNone/>
              <a:defRPr sz="1275" b="0">
                <a:solidFill>
                  <a:srgbClr val="DCE7EC"/>
                </a:solidFill>
                <a:latin typeface="Arial"/>
                <a:ea typeface="Arial"/>
                <a:cs typeface="Arial"/>
              </a:defRPr>
            </a:pPr>
            <a:r>
              <a:rPr sz="1275" b="0">
                <a:solidFill>
                  <a:srgbClr val="DCE7EC"/>
                </a:solidFill>
                <a:latin typeface="Arial"/>
                <a:ea typeface="Arial"/>
                <a:cs typeface="Arial"/>
              </a:rPr>
              <a:t>01</a:t>
            </a:r>
          </a:p>
        </p:txBody>
      </p:sp>
      <p:sp>
        <p:nvSpPr>
          <p:cNvPr id="3" name="Rechteck 2">
            <a:extLst>
              <a:ext uri="{FF2B5EF4-FFF2-40B4-BE49-F238E27FC236}">
                <a16:creationId xmlns:a16="http://schemas.microsoft.com/office/drawing/2014/main" id="{A17A5504-CDE7-41F3-9A5C-64025FBB9599}"/>
              </a:ext>
            </a:extLst>
          </p:cNvPr>
          <p:cNvSpPr>
            <a:spLocks noGrp="1"/>
          </p:cNvSpPr>
          <p:nvPr/>
        </p:nvSpPr>
        <p:spPr>
          <a:xfrm>
            <a:off x="609600" y="1952625"/>
            <a:ext cx="10763250" cy="952500"/>
          </a:xfrm>
          <a:prstGeom prst="rect">
            <a:avLst/>
          </a:prstGeom>
          <a:noFill/>
          <a:ln w="0">
            <a:noFill/>
          </a:ln>
        </p:spPr>
        <p:txBody>
          <a:bodyPr wrap="square" lIns="0" tIns="0" rIns="0" bIns="0" anchor="ctr">
            <a:noAutofit/>
          </a:bodyPr>
          <a:lstStyle>
            <a:defPPr>
              <a:defRPr sz="4800" b="1">
                <a:solidFill>
                  <a:srgbClr val="FFFFFF"/>
                </a:solidFill>
                <a:latin typeface="Arial"/>
                <a:ea typeface="Arial"/>
                <a:cs typeface="Arial"/>
              </a:defRPr>
            </a:defPPr>
          </a:lstStyle>
          <a:p>
            <a:pPr>
              <a:buNone/>
              <a:defRPr sz="4800" b="1">
                <a:solidFill>
                  <a:srgbClr val="FFFFFF"/>
                </a:solidFill>
                <a:latin typeface="Arial"/>
                <a:ea typeface="Arial"/>
                <a:cs typeface="Arial"/>
              </a:defRPr>
            </a:pPr>
            <a:r>
              <a:rPr sz="4800" b="1">
                <a:solidFill>
                  <a:srgbClr val="FFFFFF"/>
                </a:solidFill>
                <a:latin typeface="Arial"/>
                <a:ea typeface="Arial"/>
                <a:cs typeface="Arial"/>
              </a:rPr>
              <a:t>Überleben vorhersagen</a:t>
            </a:r>
          </a:p>
        </p:txBody>
      </p:sp>
      <p:sp>
        <p:nvSpPr>
          <p:cNvPr id="4" name="Rechteck 3">
            <a:extLst>
              <a:ext uri="{FF2B5EF4-FFF2-40B4-BE49-F238E27FC236}">
                <a16:creationId xmlns:a16="http://schemas.microsoft.com/office/drawing/2014/main" id="{1E5F9293-6516-48FA-B46F-14BA7A576A20}"/>
              </a:ext>
            </a:extLst>
          </p:cNvPr>
          <p:cNvSpPr>
            <a:spLocks noGrp="1"/>
          </p:cNvSpPr>
          <p:nvPr/>
        </p:nvSpPr>
        <p:spPr>
          <a:xfrm>
            <a:off x="647700" y="3171825"/>
            <a:ext cx="10477500" cy="619125"/>
          </a:xfrm>
          <a:prstGeom prst="rect">
            <a:avLst/>
          </a:prstGeom>
          <a:noFill/>
          <a:ln w="0">
            <a:noFill/>
          </a:ln>
        </p:spPr>
        <p:txBody>
          <a:bodyPr wrap="square" lIns="0" tIns="0" rIns="0" bIns="0" anchor="ctr">
            <a:noAutofit/>
          </a:bodyPr>
          <a:lstStyle>
            <a:defPPr>
              <a:defRPr sz="2400" b="0">
                <a:solidFill>
                  <a:srgbClr val="DCE7EC"/>
                </a:solidFill>
                <a:latin typeface="Arial"/>
                <a:ea typeface="Arial"/>
                <a:cs typeface="Arial"/>
              </a:defRPr>
            </a:defPPr>
          </a:lstStyle>
          <a:p>
            <a:pPr>
              <a:buNone/>
              <a:defRPr sz="2400" b="0">
                <a:solidFill>
                  <a:srgbClr val="DCE7EC"/>
                </a:solidFill>
                <a:latin typeface="Arial"/>
                <a:ea typeface="Arial"/>
                <a:cs typeface="Arial"/>
              </a:defRPr>
            </a:pPr>
            <a:r>
              <a:rPr sz="2400" b="0">
                <a:solidFill>
                  <a:srgbClr val="DCE7EC"/>
                </a:solidFill>
                <a:latin typeface="Arial"/>
                <a:ea typeface="Arial"/>
                <a:cs typeface="Arial"/>
              </a:rPr>
              <a:t>Ergebnisse unserer Analyse nach CRISP-DM</a:t>
            </a:r>
          </a:p>
        </p:txBody>
      </p:sp>
      <p:sp>
        <p:nvSpPr>
          <p:cNvPr id="5" name="Rechteck 4">
            <a:extLst>
              <a:ext uri="{FF2B5EF4-FFF2-40B4-BE49-F238E27FC236}">
                <a16:creationId xmlns:a16="http://schemas.microsoft.com/office/drawing/2014/main" id="{F7E728FA-2CC3-4EA8-9181-B7DF68999AAE}"/>
              </a:ext>
            </a:extLst>
          </p:cNvPr>
          <p:cNvSpPr>
            <a:spLocks noGrp="1"/>
          </p:cNvSpPr>
          <p:nvPr/>
        </p:nvSpPr>
        <p:spPr>
          <a:xfrm>
            <a:off x="647700" y="4953000"/>
            <a:ext cx="9525000" cy="714375"/>
          </a:xfrm>
          <a:prstGeom prst="rect">
            <a:avLst/>
          </a:prstGeom>
          <a:noFill/>
          <a:ln w="0">
            <a:noFill/>
          </a:ln>
        </p:spPr>
        <p:txBody>
          <a:bodyPr wrap="square" lIns="0" tIns="0" rIns="0" bIns="0" anchor="ctr">
            <a:noAutofit/>
          </a:bodyPr>
          <a:lstStyle>
            <a:defPPr>
              <a:defRPr sz="1875" b="0">
                <a:solidFill>
                  <a:srgbClr val="DCE7EC"/>
                </a:solidFill>
                <a:latin typeface="Arial"/>
                <a:ea typeface="Arial"/>
                <a:cs typeface="Arial"/>
              </a:defRPr>
            </a:defPPr>
          </a:lstStyle>
          <a:p>
            <a:pPr>
              <a:buNone/>
              <a:defRPr sz="1875" b="0">
                <a:solidFill>
                  <a:srgbClr val="DCE7EC"/>
                </a:solidFill>
                <a:latin typeface="Arial"/>
                <a:ea typeface="Arial"/>
                <a:cs typeface="Arial"/>
              </a:defRPr>
            </a:pPr>
            <a:r>
              <a:rPr sz="1875" b="0">
                <a:solidFill>
                  <a:srgbClr val="DCE7EC"/>
                </a:solidFill>
                <a:latin typeface="Arial"/>
                <a:ea typeface="Arial"/>
                <a:cs typeface="Arial"/>
              </a:rPr>
              <a:t>Data Science &amp; Machine Learning</a:t>
            </a:r>
          </a:p>
          <a:p>
            <a:pPr>
              <a:buNone/>
              <a:defRPr sz="1875" b="0">
                <a:solidFill>
                  <a:srgbClr val="DCE7EC"/>
                </a:solidFill>
                <a:latin typeface="Arial"/>
                <a:ea typeface="Arial"/>
                <a:cs typeface="Arial"/>
              </a:defRPr>
            </a:pPr>
            <a:r>
              <a:rPr sz="1875" b="0">
                <a:solidFill>
                  <a:srgbClr val="DCE7EC"/>
                </a:solidFill>
                <a:latin typeface="Arial"/>
                <a:ea typeface="Arial"/>
                <a:cs typeface="Arial"/>
              </a:rPr>
              <a:t>Fallstudie · 17. Oktober 2026</a:t>
            </a:r>
          </a:p>
        </p:txBody>
      </p:sp>
    </p:spTree>
    <p:extLst>
      <p:ext uri="{BB962C8B-B14F-4D97-AF65-F5344CB8AC3E}">
        <p14:creationId xmlns:p14="http://schemas.microsoft.com/office/powerpoint/2010/main" val="914631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23562443-0B0A-4057-8218-3EEE19E0F07A}"/>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Aufgabe und Datengrundlage</a:t>
            </a:r>
          </a:p>
        </p:txBody>
      </p:sp>
      <p:sp>
        <p:nvSpPr>
          <p:cNvPr id="2" name="Rechteck 1">
            <a:extLst>
              <a:ext uri="{FF2B5EF4-FFF2-40B4-BE49-F238E27FC236}">
                <a16:creationId xmlns:a16="http://schemas.microsoft.com/office/drawing/2014/main" id="{A63759B0-DA60-4EF6-870A-D961D9B6CC6C}"/>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02</a:t>
            </a:r>
          </a:p>
        </p:txBody>
      </p:sp>
      <p:sp>
        <p:nvSpPr>
          <p:cNvPr id="3" name="Rechteck 2">
            <a:extLst>
              <a:ext uri="{FF2B5EF4-FFF2-40B4-BE49-F238E27FC236}">
                <a16:creationId xmlns:a16="http://schemas.microsoft.com/office/drawing/2014/main" id="{7530FE24-5AB0-4B6A-980F-D5071987C9A5}"/>
              </a:ext>
            </a:extLst>
          </p:cNvPr>
          <p:cNvSpPr>
            <a:spLocks noGrp="1"/>
          </p:cNvSpPr>
          <p:nvPr/>
        </p:nvSpPr>
        <p:spPr>
          <a:xfrm>
            <a:off x="609600" y="1762125"/>
            <a:ext cx="4000500" cy="952500"/>
          </a:xfrm>
          <a:prstGeom prst="rect">
            <a:avLst/>
          </a:prstGeom>
          <a:noFill/>
          <a:ln w="0">
            <a:noFill/>
          </a:ln>
        </p:spPr>
        <p:txBody>
          <a:bodyPr wrap="square" lIns="0" tIns="0" rIns="0" bIns="0" anchor="ctr">
            <a:noAutofit/>
          </a:bodyPr>
          <a:lstStyle>
            <a:defPPr>
              <a:defRPr sz="5700" b="1">
                <a:solidFill>
                  <a:srgbClr val="087F8C"/>
                </a:solidFill>
                <a:latin typeface="Arial"/>
                <a:ea typeface="Arial"/>
                <a:cs typeface="Arial"/>
              </a:defRPr>
            </a:defPPr>
          </a:lstStyle>
          <a:p>
            <a:pPr>
              <a:buNone/>
              <a:defRPr sz="5700" b="1">
                <a:solidFill>
                  <a:srgbClr val="087F8C"/>
                </a:solidFill>
                <a:latin typeface="Arial"/>
                <a:ea typeface="Arial"/>
                <a:cs typeface="Arial"/>
              </a:defRPr>
            </a:pPr>
            <a:r>
              <a:rPr sz="5700" b="1">
                <a:solidFill>
                  <a:srgbClr val="087F8C"/>
                </a:solidFill>
                <a:latin typeface="Arial"/>
                <a:ea typeface="Arial"/>
                <a:cs typeface="Arial"/>
              </a:rPr>
              <a:t>891</a:t>
            </a:r>
          </a:p>
        </p:txBody>
      </p:sp>
      <p:sp>
        <p:nvSpPr>
          <p:cNvPr id="4" name="Rechteck 3">
            <a:extLst>
              <a:ext uri="{FF2B5EF4-FFF2-40B4-BE49-F238E27FC236}">
                <a16:creationId xmlns:a16="http://schemas.microsoft.com/office/drawing/2014/main" id="{27A31567-F200-4B5E-85D6-C6D37E0082E6}"/>
              </a:ext>
            </a:extLst>
          </p:cNvPr>
          <p:cNvSpPr>
            <a:spLocks noGrp="1"/>
          </p:cNvSpPr>
          <p:nvPr/>
        </p:nvSpPr>
        <p:spPr>
          <a:xfrm>
            <a:off x="609600" y="2762250"/>
            <a:ext cx="4667250" cy="762000"/>
          </a:xfrm>
          <a:prstGeom prst="rect">
            <a:avLst/>
          </a:prstGeom>
          <a:noFill/>
          <a:ln w="0">
            <a:noFill/>
          </a:ln>
        </p:spPr>
        <p:txBody>
          <a:bodyPr wrap="square" lIns="0" tIns="0" rIns="0" bIns="0" anchor="ctr">
            <a:noAutofit/>
          </a:bodyPr>
          <a:lstStyle>
            <a:defPPr>
              <a:defRPr sz="2175" b="0">
                <a:solidFill>
                  <a:srgbClr val="102A43"/>
                </a:solidFill>
                <a:latin typeface="Arial"/>
                <a:ea typeface="Arial"/>
                <a:cs typeface="Arial"/>
              </a:defRPr>
            </a:defPPr>
          </a:lstStyle>
          <a:p>
            <a:pPr>
              <a:buNone/>
              <a:defRPr sz="2175" b="0">
                <a:solidFill>
                  <a:srgbClr val="102A43"/>
                </a:solidFill>
                <a:latin typeface="Arial"/>
                <a:ea typeface="Arial"/>
                <a:cs typeface="Arial"/>
              </a:defRPr>
            </a:pPr>
            <a:r>
              <a:rPr sz="2175" b="0">
                <a:solidFill>
                  <a:srgbClr val="102A43"/>
                </a:solidFill>
                <a:latin typeface="Arial"/>
                <a:ea typeface="Arial"/>
                <a:cs typeface="Arial"/>
              </a:rPr>
              <a:t>Passagiere mit bekanntem Ausgang</a:t>
            </a:r>
          </a:p>
        </p:txBody>
      </p:sp>
      <p:sp>
        <p:nvSpPr>
          <p:cNvPr id="5" name="Rechteck 4">
            <a:extLst>
              <a:ext uri="{FF2B5EF4-FFF2-40B4-BE49-F238E27FC236}">
                <a16:creationId xmlns:a16="http://schemas.microsoft.com/office/drawing/2014/main" id="{A3A77E2E-EADA-40D4-82C2-9E5FC55D964E}"/>
              </a:ext>
            </a:extLst>
          </p:cNvPr>
          <p:cNvSpPr>
            <a:spLocks noGrp="1"/>
          </p:cNvSpPr>
          <p:nvPr/>
        </p:nvSpPr>
        <p:spPr>
          <a:xfrm>
            <a:off x="6667500" y="1762125"/>
            <a:ext cx="4000500" cy="952500"/>
          </a:xfrm>
          <a:prstGeom prst="rect">
            <a:avLst/>
          </a:prstGeom>
          <a:noFill/>
          <a:ln w="0">
            <a:noFill/>
          </a:ln>
        </p:spPr>
        <p:txBody>
          <a:bodyPr wrap="square" lIns="0" tIns="0" rIns="0" bIns="0" anchor="ctr">
            <a:noAutofit/>
          </a:bodyPr>
          <a:lstStyle>
            <a:defPPr>
              <a:defRPr sz="5700" b="1">
                <a:solidFill>
                  <a:srgbClr val="087F8C"/>
                </a:solidFill>
                <a:latin typeface="Arial"/>
                <a:ea typeface="Arial"/>
                <a:cs typeface="Arial"/>
              </a:defRPr>
            </a:defPPr>
          </a:lstStyle>
          <a:p>
            <a:pPr>
              <a:buNone/>
              <a:defRPr sz="5700" b="1">
                <a:solidFill>
                  <a:srgbClr val="087F8C"/>
                </a:solidFill>
                <a:latin typeface="Arial"/>
                <a:ea typeface="Arial"/>
                <a:cs typeface="Arial"/>
              </a:defRPr>
            </a:pPr>
            <a:r>
              <a:rPr sz="5700" b="1">
                <a:solidFill>
                  <a:srgbClr val="087F8C"/>
                </a:solidFill>
                <a:latin typeface="Arial"/>
                <a:ea typeface="Arial"/>
                <a:cs typeface="Arial"/>
              </a:rPr>
              <a:t>418</a:t>
            </a:r>
          </a:p>
        </p:txBody>
      </p:sp>
      <p:sp>
        <p:nvSpPr>
          <p:cNvPr id="6" name="Rechteck 5">
            <a:extLst>
              <a:ext uri="{FF2B5EF4-FFF2-40B4-BE49-F238E27FC236}">
                <a16:creationId xmlns:a16="http://schemas.microsoft.com/office/drawing/2014/main" id="{140E7D0B-A3C8-416F-9EB9-1FBDED941DB5}"/>
              </a:ext>
            </a:extLst>
          </p:cNvPr>
          <p:cNvSpPr>
            <a:spLocks noGrp="1"/>
          </p:cNvSpPr>
          <p:nvPr/>
        </p:nvSpPr>
        <p:spPr>
          <a:xfrm>
            <a:off x="6667500" y="2762250"/>
            <a:ext cx="4667250" cy="762000"/>
          </a:xfrm>
          <a:prstGeom prst="rect">
            <a:avLst/>
          </a:prstGeom>
          <a:noFill/>
          <a:ln w="0">
            <a:noFill/>
          </a:ln>
        </p:spPr>
        <p:txBody>
          <a:bodyPr wrap="square" lIns="0" tIns="0" rIns="0" bIns="0" anchor="ctr">
            <a:noAutofit/>
          </a:bodyPr>
          <a:lstStyle>
            <a:defPPr>
              <a:defRPr sz="2175" b="0">
                <a:solidFill>
                  <a:srgbClr val="102A43"/>
                </a:solidFill>
                <a:latin typeface="Arial"/>
                <a:ea typeface="Arial"/>
                <a:cs typeface="Arial"/>
              </a:defRPr>
            </a:defPPr>
          </a:lstStyle>
          <a:p>
            <a:pPr>
              <a:buNone/>
              <a:defRPr sz="2175" b="0">
                <a:solidFill>
                  <a:srgbClr val="102A43"/>
                </a:solidFill>
                <a:latin typeface="Arial"/>
                <a:ea typeface="Arial"/>
                <a:cs typeface="Arial"/>
              </a:defRPr>
            </a:pPr>
            <a:r>
              <a:rPr sz="2175" b="0">
                <a:solidFill>
                  <a:srgbClr val="102A43"/>
                </a:solidFill>
                <a:latin typeface="Arial"/>
                <a:ea typeface="Arial"/>
                <a:cs typeface="Arial"/>
              </a:rPr>
              <a:t>Passagiere für die finale Vorhersage</a:t>
            </a:r>
          </a:p>
        </p:txBody>
      </p:sp>
      <p:sp>
        <p:nvSpPr>
          <p:cNvPr id="7" name="Rechteck 6">
            <a:extLst>
              <a:ext uri="{FF2B5EF4-FFF2-40B4-BE49-F238E27FC236}">
                <a16:creationId xmlns:a16="http://schemas.microsoft.com/office/drawing/2014/main" id="{1230E3F4-328B-40E0-8022-181A6C4CDFF0}"/>
              </a:ext>
            </a:extLst>
          </p:cNvPr>
          <p:cNvSpPr>
            <a:spLocks noGrp="1"/>
          </p:cNvSpPr>
          <p:nvPr/>
        </p:nvSpPr>
        <p:spPr>
          <a:xfrm>
            <a:off x="609600" y="4124325"/>
            <a:ext cx="6667500" cy="619125"/>
          </a:xfrm>
          <a:prstGeom prst="rect">
            <a:avLst/>
          </a:prstGeom>
          <a:noFill/>
          <a:ln w="0">
            <a:noFill/>
          </a:ln>
        </p:spPr>
        <p:txBody>
          <a:bodyPr wrap="square" lIns="0" tIns="0" rIns="0" bIns="0" anchor="ctr">
            <a:noAutofit/>
          </a:bodyPr>
          <a:lstStyle>
            <a:defPPr>
              <a:defRPr sz="2850" b="1">
                <a:solidFill>
                  <a:srgbClr val="102A43"/>
                </a:solidFill>
                <a:latin typeface="Arial"/>
                <a:ea typeface="Arial"/>
                <a:cs typeface="Arial"/>
              </a:defRPr>
            </a:defPPr>
          </a:lstStyle>
          <a:p>
            <a:pPr>
              <a:buNone/>
              <a:defRPr sz="2850" b="1">
                <a:solidFill>
                  <a:srgbClr val="102A43"/>
                </a:solidFill>
                <a:latin typeface="Arial"/>
                <a:ea typeface="Arial"/>
                <a:cs typeface="Arial"/>
              </a:defRPr>
            </a:pPr>
            <a:r>
              <a:rPr sz="2850" b="1">
                <a:solidFill>
                  <a:srgbClr val="102A43"/>
                </a:solidFill>
                <a:latin typeface="Arial"/>
                <a:ea typeface="Arial"/>
                <a:cs typeface="Arial"/>
              </a:rPr>
              <a:t>38,4 % überlebten</a:t>
            </a:r>
          </a:p>
        </p:txBody>
      </p:sp>
      <p:sp>
        <p:nvSpPr>
          <p:cNvPr id="8" name="Rechteck 7">
            <a:extLst>
              <a:ext uri="{FF2B5EF4-FFF2-40B4-BE49-F238E27FC236}">
                <a16:creationId xmlns:a16="http://schemas.microsoft.com/office/drawing/2014/main" id="{F8793EA7-1D0F-49BE-B100-56F75A1EB178}"/>
              </a:ext>
            </a:extLst>
          </p:cNvPr>
          <p:cNvSpPr>
            <a:spLocks noGrp="1"/>
          </p:cNvSpPr>
          <p:nvPr/>
        </p:nvSpPr>
        <p:spPr>
          <a:xfrm>
            <a:off x="609600" y="4829175"/>
            <a:ext cx="10477500" cy="476250"/>
          </a:xfrm>
          <a:prstGeom prst="rect">
            <a:avLst/>
          </a:prstGeom>
          <a:noFill/>
          <a:ln w="0">
            <a:noFill/>
          </a:ln>
        </p:spPr>
        <p:txBody>
          <a:bodyPr wrap="square" lIns="0" tIns="0" rIns="0" bIns="0" anchor="ctr">
            <a:noAutofit/>
          </a:bodyPr>
          <a:lstStyle>
            <a:defPPr>
              <a:defRPr sz="2025" b="0">
                <a:solidFill>
                  <a:srgbClr val="102A43"/>
                </a:solidFill>
                <a:latin typeface="Arial"/>
                <a:ea typeface="Arial"/>
                <a:cs typeface="Arial"/>
              </a:defRPr>
            </a:defPPr>
          </a:lstStyle>
          <a:p>
            <a:pPr>
              <a:buNone/>
              <a:defRPr sz="2025" b="0">
                <a:solidFill>
                  <a:srgbClr val="102A43"/>
                </a:solidFill>
                <a:latin typeface="Arial"/>
                <a:ea typeface="Arial"/>
                <a:cs typeface="Arial"/>
              </a:defRPr>
            </a:pPr>
            <a:r>
              <a:rPr sz="2025" b="0">
                <a:solidFill>
                  <a:srgbClr val="102A43"/>
                </a:solidFill>
                <a:latin typeface="Arial"/>
                <a:ea typeface="Arial"/>
                <a:cs typeface="Arial"/>
              </a:rPr>
              <a:t>342 Überlebende und 549 Nichtüberlebende</a:t>
            </a:r>
          </a:p>
        </p:txBody>
      </p:sp>
      <p:sp>
        <p:nvSpPr>
          <p:cNvPr id="9" name="Rechteck 8">
            <a:extLst>
              <a:ext uri="{FF2B5EF4-FFF2-40B4-BE49-F238E27FC236}">
                <a16:creationId xmlns:a16="http://schemas.microsoft.com/office/drawing/2014/main" id="{AEDBC087-EC9F-4B44-82D1-B70046A534CF}"/>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Baseline: Immer „nicht überlebt“ ergibt im Gesamtdatensatz bereits 61,6 % Accuracy.</a:t>
            </a:r>
          </a:p>
        </p:txBody>
      </p:sp>
    </p:spTree>
    <p:extLst>
      <p:ext uri="{BB962C8B-B14F-4D97-AF65-F5344CB8AC3E}">
        <p14:creationId xmlns:p14="http://schemas.microsoft.com/office/powerpoint/2010/main" val="19313470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0C843C44-8CBB-4973-9C58-33C897092D22}"/>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Überleben nach Geschlecht und Klasse</a:t>
            </a:r>
          </a:p>
        </p:txBody>
      </p:sp>
      <p:sp>
        <p:nvSpPr>
          <p:cNvPr id="2" name="Rechteck 1">
            <a:extLst>
              <a:ext uri="{FF2B5EF4-FFF2-40B4-BE49-F238E27FC236}">
                <a16:creationId xmlns:a16="http://schemas.microsoft.com/office/drawing/2014/main" id="{D35ADCA5-B41F-4945-9D9B-4E9882841254}"/>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03</a:t>
            </a:r>
          </a:p>
        </p:txBody>
      </p:sp>
      <p:sp>
        <p:nvSpPr>
          <p:cNvPr id="3" name="Rechteck 2">
            <a:extLst>
              <a:ext uri="{FF2B5EF4-FFF2-40B4-BE49-F238E27FC236}">
                <a16:creationId xmlns:a16="http://schemas.microsoft.com/office/drawing/2014/main" id="{8C473248-548F-4FE4-B646-EE74ADCB1AFA}"/>
              </a:ext>
            </a:extLst>
          </p:cNvPr>
          <p:cNvSpPr>
            <a:spLocks noGrp="1"/>
          </p:cNvSpPr>
          <p:nvPr/>
        </p:nvSpPr>
        <p:spPr>
          <a:xfrm>
            <a:off x="609600" y="1495425"/>
            <a:ext cx="5238750" cy="428625"/>
          </a:xfrm>
          <a:prstGeom prst="rect">
            <a:avLst/>
          </a:prstGeom>
          <a:noFill/>
          <a:ln w="0">
            <a:noFill/>
          </a:ln>
        </p:spPr>
        <p:txBody>
          <a:bodyPr wrap="square" lIns="0" tIns="0" rIns="0" bIns="0" anchor="ctr">
            <a:noAutofit/>
          </a:bodyPr>
          <a:lstStyle>
            <a:defPPr>
              <a:defRPr sz="2100" b="1">
                <a:solidFill>
                  <a:srgbClr val="087F8C"/>
                </a:solidFill>
                <a:latin typeface="Arial"/>
                <a:ea typeface="Arial"/>
                <a:cs typeface="Arial"/>
              </a:defRPr>
            </a:defPPr>
          </a:lstStyle>
          <a:p>
            <a:pPr>
              <a:buNone/>
              <a:defRPr sz="2100" b="1">
                <a:solidFill>
                  <a:srgbClr val="087F8C"/>
                </a:solidFill>
                <a:latin typeface="Arial"/>
                <a:ea typeface="Arial"/>
                <a:cs typeface="Arial"/>
              </a:defRPr>
            </a:pPr>
            <a:r>
              <a:rPr sz="2100" b="1">
                <a:solidFill>
                  <a:srgbClr val="087F8C"/>
                </a:solidFill>
                <a:latin typeface="Arial"/>
                <a:ea typeface="Arial"/>
                <a:cs typeface="Arial"/>
              </a:rPr>
              <a:t>Überlebensrate nach Geschlecht</a:t>
            </a:r>
          </a:p>
        </p:txBody>
      </p:sp>
      <p:graphicFrame>
        <p:nvGraphicFramePr>
          <p:cNvPr id="4" name="Chart">
            <a:extLst>
              <a:ext uri="{FF2B5EF4-FFF2-40B4-BE49-F238E27FC236}">
                <a16:creationId xmlns:a16="http://schemas.microsoft.com/office/drawing/2014/main" id="{6E57B33B-10FC-4849-B97E-A4ACE0910C94}"/>
              </a:ext>
            </a:extLst>
          </p:cNvPr>
          <p:cNvGraphicFramePr/>
          <p:nvPr/>
        </p:nvGraphicFramePr>
        <p:xfrm>
          <a:off x="609600" y="2076450"/>
          <a:ext cx="5048250" cy="3286125"/>
        </p:xfrm>
        <a:graphic>
          <a:graphicData uri="http://schemas.openxmlformats.org/drawingml/2006/chart">
            <c:chart xmlns:c="http://schemas.openxmlformats.org/drawingml/2006/chart" xmlns:r="http://schemas.openxmlformats.org/officeDocument/2006/relationships" r:id="rId3"/>
          </a:graphicData>
        </a:graphic>
      </p:graphicFrame>
      <p:sp>
        <p:nvSpPr>
          <p:cNvPr id="5" name="Rechteck 4">
            <a:extLst>
              <a:ext uri="{FF2B5EF4-FFF2-40B4-BE49-F238E27FC236}">
                <a16:creationId xmlns:a16="http://schemas.microsoft.com/office/drawing/2014/main" id="{8F43558F-F834-4D22-BBB8-1A29BAC8E613}"/>
              </a:ext>
            </a:extLst>
          </p:cNvPr>
          <p:cNvSpPr>
            <a:spLocks noGrp="1"/>
          </p:cNvSpPr>
          <p:nvPr/>
        </p:nvSpPr>
        <p:spPr>
          <a:xfrm>
            <a:off x="6419850" y="1495425"/>
            <a:ext cx="5238750" cy="428625"/>
          </a:xfrm>
          <a:prstGeom prst="rect">
            <a:avLst/>
          </a:prstGeom>
          <a:noFill/>
          <a:ln w="0">
            <a:noFill/>
          </a:ln>
        </p:spPr>
        <p:txBody>
          <a:bodyPr wrap="square" lIns="0" tIns="0" rIns="0" bIns="0" anchor="ctr">
            <a:noAutofit/>
          </a:bodyPr>
          <a:lstStyle>
            <a:defPPr>
              <a:defRPr sz="2100" b="1">
                <a:solidFill>
                  <a:srgbClr val="087F8C"/>
                </a:solidFill>
                <a:latin typeface="Arial"/>
                <a:ea typeface="Arial"/>
                <a:cs typeface="Arial"/>
              </a:defRPr>
            </a:defPPr>
          </a:lstStyle>
          <a:p>
            <a:pPr>
              <a:buNone/>
              <a:defRPr sz="2100" b="1">
                <a:solidFill>
                  <a:srgbClr val="087F8C"/>
                </a:solidFill>
                <a:latin typeface="Arial"/>
                <a:ea typeface="Arial"/>
                <a:cs typeface="Arial"/>
              </a:defRPr>
            </a:pPr>
            <a:r>
              <a:rPr sz="2100" b="1">
                <a:solidFill>
                  <a:srgbClr val="087F8C"/>
                </a:solidFill>
                <a:latin typeface="Arial"/>
                <a:ea typeface="Arial"/>
                <a:cs typeface="Arial"/>
              </a:rPr>
              <a:t>Überlebensrate nach Klasse</a:t>
            </a:r>
          </a:p>
        </p:txBody>
      </p:sp>
      <p:graphicFrame>
        <p:nvGraphicFramePr>
          <p:cNvPr id="6" name="Chart">
            <a:extLst>
              <a:ext uri="{FF2B5EF4-FFF2-40B4-BE49-F238E27FC236}">
                <a16:creationId xmlns:a16="http://schemas.microsoft.com/office/drawing/2014/main" id="{4440F03A-5C5D-4AD6-B94F-04E6986C62F9}"/>
              </a:ext>
            </a:extLst>
          </p:cNvPr>
          <p:cNvGraphicFramePr/>
          <p:nvPr/>
        </p:nvGraphicFramePr>
        <p:xfrm>
          <a:off x="6419850" y="2076450"/>
          <a:ext cx="5048250" cy="3286125"/>
        </p:xfrm>
        <a:graphic>
          <a:graphicData uri="http://schemas.openxmlformats.org/drawingml/2006/chart">
            <c:chart xmlns:c="http://schemas.openxmlformats.org/drawingml/2006/chart" xmlns:r="http://schemas.openxmlformats.org/officeDocument/2006/relationships" r:id="rId4"/>
          </a:graphicData>
        </a:graphic>
      </p:graphicFrame>
      <p:sp>
        <p:nvSpPr>
          <p:cNvPr id="7" name="Rechteck 6">
            <a:extLst>
              <a:ext uri="{FF2B5EF4-FFF2-40B4-BE49-F238E27FC236}">
                <a16:creationId xmlns:a16="http://schemas.microsoft.com/office/drawing/2014/main" id="{7BCA5663-9228-4309-B005-12D566F6CF1D}"/>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Die Merkmale hängen miteinander zusammen. Die Auswertung beschreibt beobachtete Zusammenhänge.</a:t>
            </a:r>
          </a:p>
        </p:txBody>
      </p:sp>
    </p:spTree>
    <p:extLst>
      <p:ext uri="{BB962C8B-B14F-4D97-AF65-F5344CB8AC3E}">
        <p14:creationId xmlns:p14="http://schemas.microsoft.com/office/powerpoint/2010/main" val="154525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FA49B0BD-B838-48BD-B5FE-2EFB8758E36C}"/>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Alter und Familiengröße ergänzen das Bild</a:t>
            </a:r>
          </a:p>
        </p:txBody>
      </p:sp>
      <p:sp>
        <p:nvSpPr>
          <p:cNvPr id="2" name="Rechteck 1">
            <a:extLst>
              <a:ext uri="{FF2B5EF4-FFF2-40B4-BE49-F238E27FC236}">
                <a16:creationId xmlns:a16="http://schemas.microsoft.com/office/drawing/2014/main" id="{D09E18A1-3207-465C-83B7-66A00E10998A}"/>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04</a:t>
            </a:r>
          </a:p>
        </p:txBody>
      </p:sp>
      <p:graphicFrame>
        <p:nvGraphicFramePr>
          <p:cNvPr id="3" name="Chart">
            <a:extLst>
              <a:ext uri="{FF2B5EF4-FFF2-40B4-BE49-F238E27FC236}">
                <a16:creationId xmlns:a16="http://schemas.microsoft.com/office/drawing/2014/main" id="{0F65A016-C9B2-4C71-B1B5-4890C6C9B5B0}"/>
              </a:ext>
            </a:extLst>
          </p:cNvPr>
          <p:cNvGraphicFramePr/>
          <p:nvPr/>
        </p:nvGraphicFramePr>
        <p:xfrm>
          <a:off x="609600" y="1781175"/>
          <a:ext cx="590550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1DA48769-4627-4331-8D2B-88534C93BDF8}"/>
              </a:ext>
            </a:extLst>
          </p:cNvPr>
          <p:cNvSpPr>
            <a:spLocks noGrp="1"/>
          </p:cNvSpPr>
          <p:nvPr/>
        </p:nvSpPr>
        <p:spPr>
          <a:xfrm>
            <a:off x="7239000" y="1809750"/>
            <a:ext cx="42862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Familiengröße ist nicht linear</a:t>
            </a:r>
          </a:p>
        </p:txBody>
      </p:sp>
      <p:sp>
        <p:nvSpPr>
          <p:cNvPr id="5" name="Rechteck 4">
            <a:extLst>
              <a:ext uri="{FF2B5EF4-FFF2-40B4-BE49-F238E27FC236}">
                <a16:creationId xmlns:a16="http://schemas.microsoft.com/office/drawing/2014/main" id="{6E706A68-EE4A-4D7D-B5E1-282288DA213A}"/>
              </a:ext>
            </a:extLst>
          </p:cNvPr>
          <p:cNvSpPr>
            <a:spLocks noGrp="1"/>
          </p:cNvSpPr>
          <p:nvPr/>
        </p:nvSpPr>
        <p:spPr>
          <a:xfrm>
            <a:off x="7239000" y="2314575"/>
            <a:ext cx="42862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Alleinreisende: 30,4 %</a:t>
            </a:r>
          </a:p>
          <a:p>
            <a:pPr>
              <a:buNone/>
              <a:defRPr sz="1950" b="0">
                <a:solidFill>
                  <a:srgbClr val="102A43"/>
                </a:solidFill>
                <a:latin typeface="Arial"/>
                <a:ea typeface="Arial"/>
                <a:cs typeface="Arial"/>
              </a:defRPr>
            </a:pPr>
            <a:r>
              <a:rPr sz="1950" b="0">
                <a:solidFill>
                  <a:srgbClr val="102A43"/>
                </a:solidFill>
                <a:latin typeface="Arial"/>
                <a:ea typeface="Arial"/>
                <a:cs typeface="Arial"/>
              </a:rPr>
              <a:t>Vier Personen: 72,4 %</a:t>
            </a:r>
          </a:p>
          <a:p>
            <a:pPr>
              <a:buNone/>
              <a:defRPr sz="1950" b="0">
                <a:solidFill>
                  <a:srgbClr val="102A43"/>
                </a:solidFill>
                <a:latin typeface="Arial"/>
                <a:ea typeface="Arial"/>
                <a:cs typeface="Arial"/>
              </a:defRPr>
            </a:pPr>
            <a:r>
              <a:rPr sz="1950" b="0">
                <a:solidFill>
                  <a:srgbClr val="102A43"/>
                </a:solidFill>
                <a:latin typeface="Arial"/>
                <a:ea typeface="Arial"/>
                <a:cs typeface="Arial"/>
              </a:rPr>
              <a:t>Mehr als fünf Personen: 14,9 %</a:t>
            </a:r>
          </a:p>
        </p:txBody>
      </p:sp>
      <p:sp>
        <p:nvSpPr>
          <p:cNvPr id="6" name="Rechteck 5">
            <a:extLst>
              <a:ext uri="{FF2B5EF4-FFF2-40B4-BE49-F238E27FC236}">
                <a16:creationId xmlns:a16="http://schemas.microsoft.com/office/drawing/2014/main" id="{97940F79-8F72-471A-81A2-87FFF1CE5B37}"/>
              </a:ext>
            </a:extLst>
          </p:cNvPr>
          <p:cNvSpPr>
            <a:spLocks noGrp="1"/>
          </p:cNvSpPr>
          <p:nvPr/>
        </p:nvSpPr>
        <p:spPr>
          <a:xfrm>
            <a:off x="7239000" y="4095750"/>
            <a:ext cx="4286250" cy="1047750"/>
          </a:xfrm>
          <a:prstGeom prst="rect">
            <a:avLst/>
          </a:prstGeom>
          <a:noFill/>
          <a:ln w="0">
            <a:noFill/>
          </a:ln>
        </p:spPr>
        <p:txBody>
          <a:bodyPr wrap="square" lIns="0" tIns="0" rIns="0" bIns="0" anchor="ctr">
            <a:noAutofit/>
          </a:bodyPr>
          <a:lstStyle>
            <a:defPPr>
              <a:defRPr sz="2025" b="0">
                <a:solidFill>
                  <a:srgbClr val="102A43"/>
                </a:solidFill>
                <a:latin typeface="Arial"/>
                <a:ea typeface="Arial"/>
                <a:cs typeface="Arial"/>
              </a:defRPr>
            </a:defPPr>
          </a:lstStyle>
          <a:p>
            <a:pPr>
              <a:buNone/>
              <a:defRPr sz="2025" b="0">
                <a:solidFill>
                  <a:srgbClr val="102A43"/>
                </a:solidFill>
                <a:latin typeface="Arial"/>
                <a:ea typeface="Arial"/>
                <a:cs typeface="Arial"/>
              </a:defRPr>
            </a:pPr>
            <a:r>
              <a:rPr sz="2025" b="0">
                <a:solidFill>
                  <a:srgbClr val="102A43"/>
                </a:solidFill>
                <a:latin typeface="Arial"/>
                <a:ea typeface="Arial"/>
                <a:cs typeface="Arial"/>
              </a:rPr>
              <a:t>Kleine Gruppen begrenzen die Aussagekraft einzelner Quoten.</a:t>
            </a:r>
          </a:p>
        </p:txBody>
      </p:sp>
      <p:sp>
        <p:nvSpPr>
          <p:cNvPr id="7" name="Rechteck 6">
            <a:extLst>
              <a:ext uri="{FF2B5EF4-FFF2-40B4-BE49-F238E27FC236}">
                <a16:creationId xmlns:a16="http://schemas.microsoft.com/office/drawing/2014/main" id="{FCC563C5-47D5-400D-A4F9-14ECBB65C064}"/>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Alter in Jahren. 177 Personen ohne Altersangabe fehlen in dieser Auswertung.</a:t>
            </a:r>
          </a:p>
        </p:txBody>
      </p:sp>
    </p:spTree>
    <p:extLst>
      <p:ext uri="{BB962C8B-B14F-4D97-AF65-F5344CB8AC3E}">
        <p14:creationId xmlns:p14="http://schemas.microsoft.com/office/powerpoint/2010/main" val="139625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B6735415-087B-4EF6-9E49-81A8930D78B9}"/>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Vorverarbeitung mit sechs Merkmalen</a:t>
            </a:r>
          </a:p>
        </p:txBody>
      </p:sp>
      <p:sp>
        <p:nvSpPr>
          <p:cNvPr id="2" name="Rechteck 1">
            <a:extLst>
              <a:ext uri="{FF2B5EF4-FFF2-40B4-BE49-F238E27FC236}">
                <a16:creationId xmlns:a16="http://schemas.microsoft.com/office/drawing/2014/main" id="{41B555E4-D2F2-43F0-9E4F-4DB030523261}"/>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05</a:t>
            </a:r>
          </a:p>
        </p:txBody>
      </p:sp>
      <p:sp>
        <p:nvSpPr>
          <p:cNvPr id="3" name="Rechteck 2">
            <a:extLst>
              <a:ext uri="{FF2B5EF4-FFF2-40B4-BE49-F238E27FC236}">
                <a16:creationId xmlns:a16="http://schemas.microsoft.com/office/drawing/2014/main" id="{C68F3E16-6DA3-4CC1-B491-B5619B632694}"/>
              </a:ext>
            </a:extLst>
          </p:cNvPr>
          <p:cNvSpPr>
            <a:spLocks noGrp="1"/>
          </p:cNvSpPr>
          <p:nvPr/>
        </p:nvSpPr>
        <p:spPr>
          <a:xfrm>
            <a:off x="609600" y="1695450"/>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Numerische Merkmale</a:t>
            </a:r>
          </a:p>
        </p:txBody>
      </p:sp>
      <p:sp>
        <p:nvSpPr>
          <p:cNvPr id="4" name="Rechteck 3">
            <a:extLst>
              <a:ext uri="{FF2B5EF4-FFF2-40B4-BE49-F238E27FC236}">
                <a16:creationId xmlns:a16="http://schemas.microsoft.com/office/drawing/2014/main" id="{8037D912-6434-4766-AD8F-F77715A0FE2D}"/>
              </a:ext>
            </a:extLst>
          </p:cNvPr>
          <p:cNvSpPr>
            <a:spLocks noGrp="1"/>
          </p:cNvSpPr>
          <p:nvPr/>
        </p:nvSpPr>
        <p:spPr>
          <a:xfrm>
            <a:off x="609600" y="2200275"/>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Age, Fare, FamilySize</a:t>
            </a:r>
          </a:p>
          <a:p>
            <a:pPr>
              <a:buNone/>
              <a:defRPr sz="1950" b="0">
                <a:solidFill>
                  <a:srgbClr val="102A43"/>
                </a:solidFill>
                <a:latin typeface="Arial"/>
                <a:ea typeface="Arial"/>
                <a:cs typeface="Arial"/>
              </a:defRPr>
            </a:pPr>
            <a:r>
              <a:rPr sz="1950" b="0">
                <a:solidFill>
                  <a:srgbClr val="102A43"/>
                </a:solidFill>
                <a:latin typeface="Arial"/>
                <a:ea typeface="Arial"/>
                <a:cs typeface="Arial"/>
              </a:rPr>
              <a:t>Median-Imputation und Standardisierung</a:t>
            </a:r>
          </a:p>
        </p:txBody>
      </p:sp>
      <p:sp>
        <p:nvSpPr>
          <p:cNvPr id="5" name="Rechteck 4">
            <a:extLst>
              <a:ext uri="{FF2B5EF4-FFF2-40B4-BE49-F238E27FC236}">
                <a16:creationId xmlns:a16="http://schemas.microsoft.com/office/drawing/2014/main" id="{8A95B216-354D-4047-AE01-4B1759D2636B}"/>
              </a:ext>
            </a:extLst>
          </p:cNvPr>
          <p:cNvSpPr>
            <a:spLocks noGrp="1"/>
          </p:cNvSpPr>
          <p:nvPr/>
        </p:nvSpPr>
        <p:spPr>
          <a:xfrm>
            <a:off x="6419850" y="1695450"/>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Kategoriale Merkmale</a:t>
            </a:r>
          </a:p>
        </p:txBody>
      </p:sp>
      <p:sp>
        <p:nvSpPr>
          <p:cNvPr id="6" name="Rechteck 5">
            <a:extLst>
              <a:ext uri="{FF2B5EF4-FFF2-40B4-BE49-F238E27FC236}">
                <a16:creationId xmlns:a16="http://schemas.microsoft.com/office/drawing/2014/main" id="{3DD079F9-B882-4A11-B374-F8FF536383C8}"/>
              </a:ext>
            </a:extLst>
          </p:cNvPr>
          <p:cNvSpPr>
            <a:spLocks noGrp="1"/>
          </p:cNvSpPr>
          <p:nvPr/>
        </p:nvSpPr>
        <p:spPr>
          <a:xfrm>
            <a:off x="6419850" y="2200275"/>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Sex, Pclass, Embarked</a:t>
            </a:r>
          </a:p>
          <a:p>
            <a:pPr>
              <a:buNone/>
              <a:defRPr sz="1950" b="0">
                <a:solidFill>
                  <a:srgbClr val="102A43"/>
                </a:solidFill>
                <a:latin typeface="Arial"/>
                <a:ea typeface="Arial"/>
                <a:cs typeface="Arial"/>
              </a:defRPr>
            </a:pPr>
            <a:r>
              <a:rPr sz="1950" b="0">
                <a:solidFill>
                  <a:srgbClr val="102A43"/>
                </a:solidFill>
                <a:latin typeface="Arial"/>
                <a:ea typeface="Arial"/>
                <a:cs typeface="Arial"/>
              </a:rPr>
              <a:t>Häufigste Kategorie und One-Hot-Encoding</a:t>
            </a:r>
          </a:p>
        </p:txBody>
      </p:sp>
      <p:sp>
        <p:nvSpPr>
          <p:cNvPr id="7" name="Rechteck 6">
            <a:extLst>
              <a:ext uri="{FF2B5EF4-FFF2-40B4-BE49-F238E27FC236}">
                <a16:creationId xmlns:a16="http://schemas.microsoft.com/office/drawing/2014/main" id="{01978B0B-AD5A-4763-BFD9-5E427F841ACF}"/>
              </a:ext>
            </a:extLst>
          </p:cNvPr>
          <p:cNvSpPr>
            <a:spLocks noGrp="1"/>
          </p:cNvSpPr>
          <p:nvPr/>
        </p:nvSpPr>
        <p:spPr>
          <a:xfrm>
            <a:off x="609600" y="3867150"/>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Neues Merkmal</a:t>
            </a:r>
          </a:p>
        </p:txBody>
      </p:sp>
      <p:sp>
        <p:nvSpPr>
          <p:cNvPr id="8" name="Rechteck 7">
            <a:extLst>
              <a:ext uri="{FF2B5EF4-FFF2-40B4-BE49-F238E27FC236}">
                <a16:creationId xmlns:a16="http://schemas.microsoft.com/office/drawing/2014/main" id="{F56BD3EA-5598-494D-9CC1-586742D55DBD}"/>
              </a:ext>
            </a:extLst>
          </p:cNvPr>
          <p:cNvSpPr>
            <a:spLocks noGrp="1"/>
          </p:cNvSpPr>
          <p:nvPr/>
        </p:nvSpPr>
        <p:spPr>
          <a:xfrm>
            <a:off x="609600" y="4371975"/>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FamilySize = SibSp + Parch + 1</a:t>
            </a:r>
          </a:p>
        </p:txBody>
      </p:sp>
      <p:sp>
        <p:nvSpPr>
          <p:cNvPr id="9" name="Rechteck 8">
            <a:extLst>
              <a:ext uri="{FF2B5EF4-FFF2-40B4-BE49-F238E27FC236}">
                <a16:creationId xmlns:a16="http://schemas.microsoft.com/office/drawing/2014/main" id="{ED4CB332-5CCB-4164-9D55-AE1EF4266C1A}"/>
              </a:ext>
            </a:extLst>
          </p:cNvPr>
          <p:cNvSpPr>
            <a:spLocks noGrp="1"/>
          </p:cNvSpPr>
          <p:nvPr/>
        </p:nvSpPr>
        <p:spPr>
          <a:xfrm>
            <a:off x="6419850" y="3867150"/>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Ausgeschlossene Merkmale</a:t>
            </a:r>
          </a:p>
        </p:txBody>
      </p:sp>
      <p:sp>
        <p:nvSpPr>
          <p:cNvPr id="10" name="Rechteck 9">
            <a:extLst>
              <a:ext uri="{FF2B5EF4-FFF2-40B4-BE49-F238E27FC236}">
                <a16:creationId xmlns:a16="http://schemas.microsoft.com/office/drawing/2014/main" id="{DD2B2182-A42F-4372-866C-D05029B162F9}"/>
              </a:ext>
            </a:extLst>
          </p:cNvPr>
          <p:cNvSpPr>
            <a:spLocks noGrp="1"/>
          </p:cNvSpPr>
          <p:nvPr/>
        </p:nvSpPr>
        <p:spPr>
          <a:xfrm>
            <a:off x="6419850" y="4371975"/>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PassengerId, Name, Ticket, Cabin</a:t>
            </a:r>
          </a:p>
          <a:p>
            <a:pPr>
              <a:buNone/>
              <a:defRPr sz="1950" b="0">
                <a:solidFill>
                  <a:srgbClr val="102A43"/>
                </a:solidFill>
                <a:latin typeface="Arial"/>
                <a:ea typeface="Arial"/>
                <a:cs typeface="Arial"/>
              </a:defRPr>
            </a:pPr>
            <a:r>
              <a:rPr sz="1950" b="0">
                <a:solidFill>
                  <a:srgbClr val="102A43"/>
                </a:solidFill>
                <a:latin typeface="Arial"/>
                <a:ea typeface="Arial"/>
                <a:cs typeface="Arial"/>
              </a:rPr>
              <a:t>Cabin fehlt bei 77,1 % der Personen.</a:t>
            </a:r>
          </a:p>
        </p:txBody>
      </p:sp>
      <p:sp>
        <p:nvSpPr>
          <p:cNvPr id="11" name="Rechteck 10">
            <a:extLst>
              <a:ext uri="{FF2B5EF4-FFF2-40B4-BE49-F238E27FC236}">
                <a16:creationId xmlns:a16="http://schemas.microsoft.com/office/drawing/2014/main" id="{B65C2B94-67D3-458E-90DC-A4F30B111687}"/>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Die Pipeline lernt Imputation und Skalierung ausschließlich aus den jeweiligen Trainingsdaten.</a:t>
            </a:r>
          </a:p>
        </p:txBody>
      </p:sp>
    </p:spTree>
    <p:extLst>
      <p:ext uri="{BB962C8B-B14F-4D97-AF65-F5344CB8AC3E}">
        <p14:creationId xmlns:p14="http://schemas.microsoft.com/office/powerpoint/2010/main" val="1615999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A9CF897B-3544-471B-B93C-2281C90D6394}"/>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Einheitliche Bewertung aller Modelle</a:t>
            </a:r>
          </a:p>
        </p:txBody>
      </p:sp>
      <p:sp>
        <p:nvSpPr>
          <p:cNvPr id="2" name="Rechteck 1">
            <a:extLst>
              <a:ext uri="{FF2B5EF4-FFF2-40B4-BE49-F238E27FC236}">
                <a16:creationId xmlns:a16="http://schemas.microsoft.com/office/drawing/2014/main" id="{F2B502D2-2DAF-4E25-B193-C7863664779D}"/>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06</a:t>
            </a:r>
          </a:p>
        </p:txBody>
      </p:sp>
      <p:sp>
        <p:nvSpPr>
          <p:cNvPr id="3" name="Rechteck 2">
            <a:extLst>
              <a:ext uri="{FF2B5EF4-FFF2-40B4-BE49-F238E27FC236}">
                <a16:creationId xmlns:a16="http://schemas.microsoft.com/office/drawing/2014/main" id="{6F4368B6-951A-42DA-A7C5-0FD5FDA44E61}"/>
              </a:ext>
            </a:extLst>
          </p:cNvPr>
          <p:cNvSpPr>
            <a:spLocks noGrp="1"/>
          </p:cNvSpPr>
          <p:nvPr/>
        </p:nvSpPr>
        <p:spPr>
          <a:xfrm>
            <a:off x="609600" y="1819275"/>
            <a:ext cx="5715000" cy="714375"/>
          </a:xfrm>
          <a:prstGeom prst="rect">
            <a:avLst/>
          </a:prstGeom>
          <a:noFill/>
          <a:ln w="0">
            <a:noFill/>
          </a:ln>
        </p:spPr>
        <p:txBody>
          <a:bodyPr wrap="square" lIns="0" tIns="0" rIns="0" bIns="0" anchor="ctr">
            <a:noAutofit/>
          </a:bodyPr>
          <a:lstStyle>
            <a:defPPr>
              <a:defRPr sz="4050" b="1">
                <a:solidFill>
                  <a:srgbClr val="087F8C"/>
                </a:solidFill>
                <a:latin typeface="Arial"/>
                <a:ea typeface="Arial"/>
                <a:cs typeface="Arial"/>
              </a:defRPr>
            </a:defPPr>
          </a:lstStyle>
          <a:p>
            <a:pPr>
              <a:buNone/>
              <a:defRPr sz="4050" b="1">
                <a:solidFill>
                  <a:srgbClr val="087F8C"/>
                </a:solidFill>
                <a:latin typeface="Arial"/>
                <a:ea typeface="Arial"/>
                <a:cs typeface="Arial"/>
              </a:defRPr>
            </a:pPr>
            <a:r>
              <a:rPr sz="4050" b="1">
                <a:solidFill>
                  <a:srgbClr val="087F8C"/>
                </a:solidFill>
                <a:latin typeface="Arial"/>
                <a:ea typeface="Arial"/>
                <a:cs typeface="Arial"/>
              </a:rPr>
              <a:t>712 Training</a:t>
            </a:r>
          </a:p>
        </p:txBody>
      </p:sp>
      <p:sp>
        <p:nvSpPr>
          <p:cNvPr id="4" name="Rechteck 3">
            <a:extLst>
              <a:ext uri="{FF2B5EF4-FFF2-40B4-BE49-F238E27FC236}">
                <a16:creationId xmlns:a16="http://schemas.microsoft.com/office/drawing/2014/main" id="{4E2CDB21-65E7-43AD-B933-8EE070D7FEE4}"/>
              </a:ext>
            </a:extLst>
          </p:cNvPr>
          <p:cNvSpPr>
            <a:spLocks noGrp="1"/>
          </p:cNvSpPr>
          <p:nvPr/>
        </p:nvSpPr>
        <p:spPr>
          <a:xfrm>
            <a:off x="609600" y="2838450"/>
            <a:ext cx="6191250" cy="714375"/>
          </a:xfrm>
          <a:prstGeom prst="rect">
            <a:avLst/>
          </a:prstGeom>
          <a:noFill/>
          <a:ln w="0">
            <a:noFill/>
          </a:ln>
        </p:spPr>
        <p:txBody>
          <a:bodyPr wrap="square" lIns="0" tIns="0" rIns="0" bIns="0" anchor="ctr">
            <a:noAutofit/>
          </a:bodyPr>
          <a:lstStyle>
            <a:defPPr>
              <a:defRPr sz="4050" b="1">
                <a:solidFill>
                  <a:srgbClr val="102A43"/>
                </a:solidFill>
                <a:latin typeface="Arial"/>
                <a:ea typeface="Arial"/>
                <a:cs typeface="Arial"/>
              </a:defRPr>
            </a:defPPr>
          </a:lstStyle>
          <a:p>
            <a:pPr>
              <a:buNone/>
              <a:defRPr sz="4050" b="1">
                <a:solidFill>
                  <a:srgbClr val="102A43"/>
                </a:solidFill>
                <a:latin typeface="Arial"/>
                <a:ea typeface="Arial"/>
                <a:cs typeface="Arial"/>
              </a:defRPr>
            </a:pPr>
            <a:r>
              <a:rPr sz="4050" b="1">
                <a:solidFill>
                  <a:srgbClr val="102A43"/>
                </a:solidFill>
                <a:latin typeface="Arial"/>
                <a:ea typeface="Arial"/>
                <a:cs typeface="Arial"/>
              </a:rPr>
              <a:t>179 Validierung</a:t>
            </a:r>
          </a:p>
        </p:txBody>
      </p:sp>
      <p:sp>
        <p:nvSpPr>
          <p:cNvPr id="5" name="Rechteck 4">
            <a:extLst>
              <a:ext uri="{FF2B5EF4-FFF2-40B4-BE49-F238E27FC236}">
                <a16:creationId xmlns:a16="http://schemas.microsoft.com/office/drawing/2014/main" id="{550DA984-E3C7-4029-BB9B-62B2F1D24686}"/>
              </a:ext>
            </a:extLst>
          </p:cNvPr>
          <p:cNvSpPr>
            <a:spLocks noGrp="1"/>
          </p:cNvSpPr>
          <p:nvPr/>
        </p:nvSpPr>
        <p:spPr>
          <a:xfrm>
            <a:off x="7429500" y="2466975"/>
            <a:ext cx="4000500" cy="952500"/>
          </a:xfrm>
          <a:prstGeom prst="rect">
            <a:avLst/>
          </a:prstGeom>
          <a:noFill/>
          <a:ln w="0">
            <a:noFill/>
          </a:ln>
        </p:spPr>
        <p:txBody>
          <a:bodyPr wrap="square" lIns="0" tIns="0" rIns="0" bIns="0" anchor="ctr">
            <a:noAutofit/>
          </a:bodyPr>
          <a:lstStyle>
            <a:defPPr>
              <a:defRPr sz="2250" b="0">
                <a:solidFill>
                  <a:srgbClr val="102A43"/>
                </a:solidFill>
                <a:latin typeface="Arial"/>
                <a:ea typeface="Arial"/>
                <a:cs typeface="Arial"/>
              </a:defRPr>
            </a:defPPr>
          </a:lstStyle>
          <a:p>
            <a:pPr>
              <a:buNone/>
              <a:defRPr sz="2250" b="0">
                <a:solidFill>
                  <a:srgbClr val="102A43"/>
                </a:solidFill>
                <a:latin typeface="Arial"/>
                <a:ea typeface="Arial"/>
                <a:cs typeface="Arial"/>
              </a:defRPr>
            </a:pPr>
            <a:r>
              <a:rPr sz="2250" b="0">
                <a:solidFill>
                  <a:srgbClr val="102A43"/>
                </a:solidFill>
                <a:latin typeface="Arial"/>
                <a:ea typeface="Arial"/>
                <a:cs typeface="Arial"/>
              </a:rPr>
              <a:t>110 Nichtüberlebende</a:t>
            </a:r>
          </a:p>
          <a:p>
            <a:pPr>
              <a:buNone/>
              <a:defRPr sz="2250" b="0">
                <a:solidFill>
                  <a:srgbClr val="102A43"/>
                </a:solidFill>
                <a:latin typeface="Arial"/>
                <a:ea typeface="Arial"/>
                <a:cs typeface="Arial"/>
              </a:defRPr>
            </a:pPr>
            <a:r>
              <a:rPr sz="2250" b="0">
                <a:solidFill>
                  <a:srgbClr val="102A43"/>
                </a:solidFill>
                <a:latin typeface="Arial"/>
                <a:ea typeface="Arial"/>
                <a:cs typeface="Arial"/>
              </a:rPr>
              <a:t>69 Überlebende</a:t>
            </a:r>
          </a:p>
        </p:txBody>
      </p:sp>
      <p:sp>
        <p:nvSpPr>
          <p:cNvPr id="6" name="Rechteck 5">
            <a:extLst>
              <a:ext uri="{FF2B5EF4-FFF2-40B4-BE49-F238E27FC236}">
                <a16:creationId xmlns:a16="http://schemas.microsoft.com/office/drawing/2014/main" id="{FD3E9E15-3BD0-4006-996C-9AE8012F05DF}"/>
              </a:ext>
            </a:extLst>
          </p:cNvPr>
          <p:cNvSpPr>
            <a:spLocks noGrp="1"/>
          </p:cNvSpPr>
          <p:nvPr/>
        </p:nvSpPr>
        <p:spPr>
          <a:xfrm>
            <a:off x="609600" y="4143375"/>
            <a:ext cx="10858500" cy="523875"/>
          </a:xfrm>
          <a:prstGeom prst="rect">
            <a:avLst/>
          </a:prstGeom>
          <a:noFill/>
          <a:ln w="0">
            <a:noFill/>
          </a:ln>
        </p:spPr>
        <p:txBody>
          <a:bodyPr wrap="square" lIns="0" tIns="0" rIns="0" bIns="0" anchor="ctr">
            <a:noAutofit/>
          </a:bodyPr>
          <a:lstStyle>
            <a:defPPr>
              <a:defRPr sz="2400" b="1">
                <a:solidFill>
                  <a:srgbClr val="087F8C"/>
                </a:solidFill>
                <a:latin typeface="Arial"/>
                <a:ea typeface="Arial"/>
                <a:cs typeface="Arial"/>
              </a:defRPr>
            </a:defPPr>
          </a:lstStyle>
          <a:p>
            <a:pPr>
              <a:buNone/>
              <a:defRPr sz="2400" b="1">
                <a:solidFill>
                  <a:srgbClr val="087F8C"/>
                </a:solidFill>
                <a:latin typeface="Arial"/>
                <a:ea typeface="Arial"/>
                <a:cs typeface="Arial"/>
              </a:defRPr>
            </a:pPr>
            <a:r>
              <a:rPr sz="2400" b="1">
                <a:solidFill>
                  <a:srgbClr val="087F8C"/>
                </a:solidFill>
                <a:latin typeface="Arial"/>
                <a:ea typeface="Arial"/>
                <a:cs typeface="Arial"/>
              </a:rPr>
              <a:t>Zusätzlich: stratifizierte 5-fold Cross-Validation</a:t>
            </a:r>
          </a:p>
        </p:txBody>
      </p:sp>
      <p:sp>
        <p:nvSpPr>
          <p:cNvPr id="7" name="Rechteck 6">
            <a:extLst>
              <a:ext uri="{FF2B5EF4-FFF2-40B4-BE49-F238E27FC236}">
                <a16:creationId xmlns:a16="http://schemas.microsoft.com/office/drawing/2014/main" id="{8896B91F-3097-46C7-B336-EFE9B762A905}"/>
              </a:ext>
            </a:extLst>
          </p:cNvPr>
          <p:cNvSpPr>
            <a:spLocks noGrp="1"/>
          </p:cNvSpPr>
          <p:nvPr/>
        </p:nvSpPr>
        <p:spPr>
          <a:xfrm>
            <a:off x="609600" y="4867275"/>
            <a:ext cx="10858500" cy="619125"/>
          </a:xfrm>
          <a:prstGeom prst="rect">
            <a:avLst/>
          </a:prstGeom>
          <a:noFill/>
          <a:ln w="0">
            <a:noFill/>
          </a:ln>
        </p:spPr>
        <p:txBody>
          <a:bodyPr wrap="square" lIns="0" tIns="0" rIns="0" bIns="0" anchor="ctr">
            <a:noAutofit/>
          </a:bodyPr>
          <a:lstStyle>
            <a:defPPr>
              <a:defRPr sz="2100" b="0">
                <a:solidFill>
                  <a:srgbClr val="102A43"/>
                </a:solidFill>
                <a:latin typeface="Arial"/>
                <a:ea typeface="Arial"/>
                <a:cs typeface="Arial"/>
              </a:defRPr>
            </a:defPPr>
          </a:lstStyle>
          <a:p>
            <a:pPr>
              <a:buNone/>
              <a:defRPr sz="2100" b="0">
                <a:solidFill>
                  <a:srgbClr val="102A43"/>
                </a:solidFill>
                <a:latin typeface="Arial"/>
                <a:ea typeface="Arial"/>
                <a:cs typeface="Arial"/>
              </a:defRPr>
            </a:pPr>
            <a:r>
              <a:rPr sz="2100" b="0">
                <a:solidFill>
                  <a:srgbClr val="102A43"/>
                </a:solidFill>
                <a:latin typeface="Arial"/>
                <a:ea typeface="Arial"/>
                <a:cs typeface="Arial"/>
              </a:rPr>
              <a:t>Gleiche Merkmale und gleiche Datenaufteilung für alle vier Modelle</a:t>
            </a:r>
          </a:p>
        </p:txBody>
      </p:sp>
      <p:sp>
        <p:nvSpPr>
          <p:cNvPr id="8" name="Rechteck 7">
            <a:extLst>
              <a:ext uri="{FF2B5EF4-FFF2-40B4-BE49-F238E27FC236}">
                <a16:creationId xmlns:a16="http://schemas.microsoft.com/office/drawing/2014/main" id="{3AA39CA4-8636-4C68-99B2-341AFD94632E}"/>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Ein Passagier verändert die Validierungs-Accuracy bereits um rund 0,56 Prozentpunkte.</a:t>
            </a:r>
          </a:p>
        </p:txBody>
      </p:sp>
    </p:spTree>
    <p:extLst>
      <p:ext uri="{BB962C8B-B14F-4D97-AF65-F5344CB8AC3E}">
        <p14:creationId xmlns:p14="http://schemas.microsoft.com/office/powerpoint/2010/main" val="695935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A5FED1CD-3493-4DBB-9AD6-C2DE6AA44A20}"/>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Vier Verfahren im Vergleich</a:t>
            </a:r>
          </a:p>
        </p:txBody>
      </p:sp>
      <p:sp>
        <p:nvSpPr>
          <p:cNvPr id="2" name="Rechteck 1">
            <a:extLst>
              <a:ext uri="{FF2B5EF4-FFF2-40B4-BE49-F238E27FC236}">
                <a16:creationId xmlns:a16="http://schemas.microsoft.com/office/drawing/2014/main" id="{D8411BE7-836E-45DA-B3E4-DFC24C531DFF}"/>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07</a:t>
            </a:r>
          </a:p>
        </p:txBody>
      </p:sp>
      <p:graphicFrame>
        <p:nvGraphicFramePr>
          <p:cNvPr id="3" name="Tabelle 2">
            <a:extLst>
              <a:ext uri="{FF2B5EF4-FFF2-40B4-BE49-F238E27FC236}">
                <a16:creationId xmlns:a16="http://schemas.microsoft.com/office/drawing/2014/main" id="{12C28AAA-DEFE-48D5-961E-D4139CA62216}"/>
              </a:ext>
            </a:extLst>
          </p:cNvPr>
          <p:cNvGraphicFramePr/>
          <p:nvPr/>
        </p:nvGraphicFramePr>
        <p:xfrm>
          <a:off x="609600" y="1714500"/>
          <a:ext cx="10953750" cy="3476625"/>
        </p:xfrm>
        <a:graphic>
          <a:graphicData uri="http://schemas.openxmlformats.org/drawingml/2006/table">
            <a:tbl>
              <a:tblPr/>
              <a:tblGrid>
                <a:gridCol w="29527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695325">
                <a:tc>
                  <a:txBody>
                    <a:bodyPr/>
                    <a:lstStyle/>
                    <a:p>
                      <a:r>
                        <a:rPr sz="1875" b="1">
                          <a:solidFill>
                            <a:srgbClr val="FFFFFF"/>
                          </a:solidFill>
                          <a:latin typeface="Arial"/>
                          <a:ea typeface="Arial"/>
                          <a:cs typeface="Arial"/>
                        </a:rPr>
                        <a:t>Modell</a:t>
                      </a:r>
                    </a:p>
                  </a:txBody>
                  <a:tcPr anchor="ctr">
                    <a:lnL w="9525">
                      <a:solidFill>
                        <a:srgbClr val="DCE7EC"/>
                      </a:solidFill>
                      <a:prstDash val="soli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75" b="1">
                          <a:solidFill>
                            <a:srgbClr val="FFFFFF"/>
                          </a:solidFill>
                          <a:latin typeface="Arial"/>
                          <a:ea typeface="Arial"/>
                          <a:cs typeface="Arial"/>
                        </a:rPr>
                        <a:t>Grundidee</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75" b="1">
                          <a:solidFill>
                            <a:srgbClr val="FFFFFF"/>
                          </a:solidFill>
                          <a:latin typeface="Arial"/>
                          <a:ea typeface="Arial"/>
                          <a:cs typeface="Arial"/>
                        </a:rPr>
                        <a:t>Finale Einstellung</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extLst>
                  <a:ext uri="{0D108BD9-81ED-4DB2-BD59-A6C34878D82A}">
                    <a16:rowId xmlns:a16="http://schemas.microsoft.com/office/drawing/2014/main" val="10000"/>
                  </a:ext>
                </a:extLst>
              </a:tr>
              <a:tr h="695325">
                <a:tc>
                  <a:txBody>
                    <a:bodyPr/>
                    <a:lstStyle/>
                    <a:p>
                      <a:r>
                        <a:rPr sz="1875" b="0">
                          <a:solidFill>
                            <a:srgbClr val="102A43"/>
                          </a:solidFill>
                          <a:latin typeface="Arial"/>
                          <a:ea typeface="Arial"/>
                          <a:cs typeface="Arial"/>
                        </a:rPr>
                        <a:t>Logistische Regression</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Gewichtete Merkmale,</a:t>
                      </a:r>
                    </a:p>
                    <a:p>
                      <a:r>
                        <a:rPr sz="1875" b="0">
                          <a:solidFill>
                            <a:srgbClr val="102A43"/>
                          </a:solidFill>
                          <a:latin typeface="Arial"/>
                          <a:ea typeface="Arial"/>
                          <a:cs typeface="Arial"/>
                        </a:rPr>
                        <a:t>Überlebenswahrscheinlichkeit</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C = 1, max_iter = 1000</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1"/>
                  </a:ext>
                </a:extLst>
              </a:tr>
              <a:tr h="695325">
                <a:tc>
                  <a:txBody>
                    <a:bodyPr/>
                    <a:lstStyle/>
                    <a:p>
                      <a:r>
                        <a:rPr sz="1875" b="0">
                          <a:solidFill>
                            <a:srgbClr val="102A43"/>
                          </a:solidFill>
                          <a:latin typeface="Arial"/>
                          <a:ea typeface="Arial"/>
                          <a:cs typeface="Arial"/>
                        </a:rPr>
                        <a:t>SVM</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75" b="0">
                          <a:solidFill>
                            <a:srgbClr val="102A43"/>
                          </a:solidFill>
                          <a:latin typeface="Arial"/>
                          <a:ea typeface="Arial"/>
                          <a:cs typeface="Arial"/>
                        </a:rPr>
                        <a:t>Nichtlineare Trennfläche</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75" b="0">
                          <a:solidFill>
                            <a:srgbClr val="102A43"/>
                          </a:solidFill>
                          <a:latin typeface="Arial"/>
                          <a:ea typeface="Arial"/>
                          <a:cs typeface="Arial"/>
                        </a:rPr>
                        <a:t>RBF, C = 1, gamma = scale</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2"/>
                  </a:ext>
                </a:extLst>
              </a:tr>
              <a:tr h="695325">
                <a:tc>
                  <a:txBody>
                    <a:bodyPr/>
                    <a:lstStyle/>
                    <a:p>
                      <a:r>
                        <a:rPr sz="1875" b="0">
                          <a:solidFill>
                            <a:srgbClr val="102A43"/>
                          </a:solidFill>
                          <a:latin typeface="Arial"/>
                          <a:ea typeface="Arial"/>
                          <a:cs typeface="Arial"/>
                        </a:rPr>
                        <a:t>Random Forest</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Viele Bäume,</a:t>
                      </a:r>
                    </a:p>
                    <a:p>
                      <a:r>
                        <a:rPr sz="1875" b="0">
                          <a:solidFill>
                            <a:srgbClr val="102A43"/>
                          </a:solidFill>
                          <a:latin typeface="Arial"/>
                          <a:ea typeface="Arial"/>
                          <a:cs typeface="Arial"/>
                        </a:rPr>
                        <a:t>gemeinsame Entscheidung</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min_samples_leaf = 3</a:t>
                      </a:r>
                    </a:p>
                    <a:p>
                      <a:r>
                        <a:rPr sz="1875" b="0">
                          <a:solidFill>
                            <a:srgbClr val="102A43"/>
                          </a:solidFill>
                          <a:latin typeface="Arial"/>
                          <a:ea typeface="Arial"/>
                          <a:cs typeface="Arial"/>
                        </a:rPr>
                        <a:t>max_depth = None</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3"/>
                  </a:ext>
                </a:extLst>
              </a:tr>
              <a:tr h="695325">
                <a:tc>
                  <a:txBody>
                    <a:bodyPr/>
                    <a:lstStyle/>
                    <a:p>
                      <a:r>
                        <a:rPr sz="1875" b="0">
                          <a:solidFill>
                            <a:srgbClr val="102A43"/>
                          </a:solidFill>
                          <a:latin typeface="Arial"/>
                          <a:ea typeface="Arial"/>
                          <a:cs typeface="Arial"/>
                        </a:rPr>
                        <a:t>Gradient Boosting</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75" b="0">
                          <a:solidFill>
                            <a:srgbClr val="102A43"/>
                          </a:solidFill>
                          <a:latin typeface="Arial"/>
                          <a:ea typeface="Arial"/>
                          <a:cs typeface="Arial"/>
                        </a:rPr>
                        <a:t>Neue Bäume ergänzen</a:t>
                      </a:r>
                    </a:p>
                    <a:p>
                      <a:r>
                        <a:rPr sz="1875" b="0">
                          <a:solidFill>
                            <a:srgbClr val="102A43"/>
                          </a:solidFill>
                          <a:latin typeface="Arial"/>
                          <a:ea typeface="Arial"/>
                          <a:cs typeface="Arial"/>
                        </a:rPr>
                        <a:t>das bisherige Modell</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75" b="0">
                          <a:solidFill>
                            <a:srgbClr val="102A43"/>
                          </a:solidFill>
                          <a:latin typeface="Arial"/>
                          <a:ea typeface="Arial"/>
                          <a:cs typeface="Arial"/>
                        </a:rPr>
                        <a:t>HistGradientBoostingClassifier</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E02C9405-4D9B-46C2-9969-11C5EEE68F09}"/>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Die Wahl der Parameter begrenzt die Modellkomplexität und beeinflusst die Generalisierung.</a:t>
            </a:r>
          </a:p>
        </p:txBody>
      </p:sp>
    </p:spTree>
    <p:extLst>
      <p:ext uri="{BB962C8B-B14F-4D97-AF65-F5344CB8AC3E}">
        <p14:creationId xmlns:p14="http://schemas.microsoft.com/office/powerpoint/2010/main" val="1195757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4" name="Rechteck 113">
            <a:extLst>
              <a:ext uri="{FF2B5EF4-FFF2-40B4-BE49-F238E27FC236}">
                <a16:creationId xmlns:a16="http://schemas.microsoft.com/office/drawing/2014/main" id="{4823FF50-05EB-44D1-8383-75338EB72EB7}"/>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SVM: Recall und Gesamtleistung im Vergleich</a:t>
            </a:r>
          </a:p>
        </p:txBody>
      </p:sp>
      <p:sp>
        <p:nvSpPr>
          <p:cNvPr id="115" name="Rechteck 114">
            <a:extLst>
              <a:ext uri="{FF2B5EF4-FFF2-40B4-BE49-F238E27FC236}">
                <a16:creationId xmlns:a16="http://schemas.microsoft.com/office/drawing/2014/main" id="{E9C70813-03BF-4423-96E8-4B6502AB7D3B}"/>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08</a:t>
            </a:r>
          </a:p>
        </p:txBody>
      </p:sp>
      <p:graphicFrame>
        <p:nvGraphicFramePr>
          <p:cNvPr id="116" name="Tabelle 115">
            <a:extLst>
              <a:ext uri="{FF2B5EF4-FFF2-40B4-BE49-F238E27FC236}">
                <a16:creationId xmlns:a16="http://schemas.microsoft.com/office/drawing/2014/main" id="{1ACB0798-E930-4628-BE58-02D17773CFD0}"/>
              </a:ext>
            </a:extLst>
          </p:cNvPr>
          <p:cNvGraphicFramePr/>
          <p:nvPr/>
        </p:nvGraphicFramePr>
        <p:xfrm>
          <a:off x="609600" y="1590675"/>
          <a:ext cx="10953750" cy="3409950"/>
        </p:xfrm>
        <a:graphic>
          <a:graphicData uri="http://schemas.openxmlformats.org/drawingml/2006/table">
            <a:tbl>
              <a:tblPr/>
              <a:tblGrid>
                <a:gridCol w="27622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1428750">
                  <a:extLst>
                    <a:ext uri="{9D8B030D-6E8A-4147-A177-3AD203B41FA5}">
                      <a16:colId xmlns:a16="http://schemas.microsoft.com/office/drawing/2014/main" val="20005"/>
                    </a:ext>
                  </a:extLst>
                </a:gridCol>
                <a:gridCol w="1714500">
                  <a:extLst>
                    <a:ext uri="{9D8B030D-6E8A-4147-A177-3AD203B41FA5}">
                      <a16:colId xmlns:a16="http://schemas.microsoft.com/office/drawing/2014/main" val="20006"/>
                    </a:ext>
                  </a:extLst>
                </a:gridCol>
              </a:tblGrid>
              <a:tr h="487136">
                <a:tc>
                  <a:txBody>
                    <a:bodyPr/>
                    <a:lstStyle/>
                    <a:p>
                      <a:r>
                        <a:rPr sz="1725" b="1">
                          <a:solidFill>
                            <a:srgbClr val="FFFFFF"/>
                          </a:solidFill>
                          <a:latin typeface="Arial"/>
                          <a:ea typeface="Arial"/>
                          <a:cs typeface="Arial"/>
                        </a:rPr>
                        <a:t>SVM-Variante</a:t>
                      </a:r>
                    </a:p>
                  </a:txBody>
                  <a:tcPr anchor="ctr">
                    <a:lnL w="9525">
                      <a:solidFill>
                        <a:srgbClr val="DCE7EC"/>
                      </a:solidFill>
                      <a:prstDash val="soli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725" b="1">
                          <a:solidFill>
                            <a:srgbClr val="FFFFFF"/>
                          </a:solidFill>
                          <a:latin typeface="Arial"/>
                          <a:ea typeface="Arial"/>
                          <a:cs typeface="Arial"/>
                        </a:rPr>
                        <a:t>Accuracy</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725" b="1">
                          <a:solidFill>
                            <a:srgbClr val="FFFFFF"/>
                          </a:solidFill>
                          <a:latin typeface="Arial"/>
                          <a:ea typeface="Arial"/>
                          <a:cs typeface="Arial"/>
                        </a:rPr>
                        <a:t>Precision¹</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725" b="1">
                          <a:solidFill>
                            <a:srgbClr val="FFFFFF"/>
                          </a:solidFill>
                          <a:latin typeface="Arial"/>
                          <a:ea typeface="Arial"/>
                          <a:cs typeface="Arial"/>
                        </a:rPr>
                        <a:t>Recall¹</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725" b="1">
                          <a:solidFill>
                            <a:srgbClr val="FFFFFF"/>
                          </a:solidFill>
                          <a:latin typeface="Arial"/>
                          <a:ea typeface="Arial"/>
                          <a:cs typeface="Arial"/>
                        </a:rPr>
                        <a:t>F1¹</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725" b="1">
                          <a:solidFill>
                            <a:srgbClr val="FFFFFF"/>
                          </a:solidFill>
                          <a:latin typeface="Arial"/>
                          <a:ea typeface="Arial"/>
                          <a:cs typeface="Arial"/>
                        </a:rPr>
                        <a:t>Erkannt</a:t>
                      </a:r>
                    </a:p>
                    <a:p>
                      <a:r>
                        <a:rPr sz="1725" b="1">
                          <a:solidFill>
                            <a:srgbClr val="FFFFFF"/>
                          </a:solidFill>
                          <a:latin typeface="Arial"/>
                          <a:ea typeface="Arial"/>
                          <a:cs typeface="Arial"/>
                        </a:rPr>
                        <a:t>(von 69)</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725" b="1">
                          <a:solidFill>
                            <a:srgbClr val="FFFFFF"/>
                          </a:solidFill>
                          <a:latin typeface="Arial"/>
                          <a:ea typeface="Arial"/>
                          <a:cs typeface="Arial"/>
                        </a:rPr>
                        <a:t>Falsch als</a:t>
                      </a:r>
                    </a:p>
                    <a:p>
                      <a:r>
                        <a:rPr sz="1725" b="1">
                          <a:solidFill>
                            <a:srgbClr val="FFFFFF"/>
                          </a:solidFill>
                          <a:latin typeface="Arial"/>
                          <a:ea typeface="Arial"/>
                          <a:cs typeface="Arial"/>
                        </a:rPr>
                        <a:t>überlebt</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extLst>
                  <a:ext uri="{0D108BD9-81ED-4DB2-BD59-A6C34878D82A}">
                    <a16:rowId xmlns:a16="http://schemas.microsoft.com/office/drawing/2014/main" val="10000"/>
                  </a:ext>
                </a:extLst>
              </a:tr>
              <a:tr h="487136">
                <a:tc>
                  <a:txBody>
                    <a:bodyPr/>
                    <a:lstStyle/>
                    <a:p>
                      <a:r>
                        <a:rPr sz="1725" b="0">
                          <a:solidFill>
                            <a:srgbClr val="102A43"/>
                          </a:solidFill>
                          <a:latin typeface="Arial"/>
                          <a:ea typeface="Arial"/>
                          <a:cs typeface="Arial"/>
                        </a:rPr>
                        <a:t>Linear, C = 0,01</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78,2 %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74,2 %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1">
                          <a:solidFill>
                            <a:srgbClr val="087F8C"/>
                          </a:solidFill>
                          <a:latin typeface="Arial"/>
                          <a:ea typeface="Arial"/>
                          <a:cs typeface="Arial"/>
                        </a:rPr>
                        <a:t>66,7 %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0,702</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1">
                          <a:solidFill>
                            <a:srgbClr val="087F8C"/>
                          </a:solidFill>
                          <a:latin typeface="Arial"/>
                          <a:ea typeface="Arial"/>
                          <a:cs typeface="Arial"/>
                        </a:rPr>
                        <a:t>46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16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1"/>
                  </a:ext>
                </a:extLst>
              </a:tr>
              <a:tr h="487136">
                <a:tc>
                  <a:txBody>
                    <a:bodyPr/>
                    <a:lstStyle/>
                    <a:p>
                      <a:r>
                        <a:rPr sz="1725" b="0">
                          <a:solidFill>
                            <a:srgbClr val="102A43"/>
                          </a:solidFill>
                          <a:latin typeface="Arial"/>
                          <a:ea typeface="Arial"/>
                          <a:cs typeface="Arial"/>
                        </a:rPr>
                        <a:t>Linear, C = 1</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77,7 %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73,8 %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65,2 %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0,692</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45</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16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2"/>
                  </a:ext>
                </a:extLst>
              </a:tr>
              <a:tr h="487136">
                <a:tc>
                  <a:txBody>
                    <a:bodyPr/>
                    <a:lstStyle/>
                    <a:p>
                      <a:r>
                        <a:rPr sz="1725" b="0">
                          <a:solidFill>
                            <a:srgbClr val="102A43"/>
                          </a:solidFill>
                          <a:latin typeface="Arial"/>
                          <a:ea typeface="Arial"/>
                          <a:cs typeface="Arial"/>
                        </a:rPr>
                        <a:t>Linear, C = 100</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77,7 %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73,8 %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65,2 %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0,692</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45</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16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3"/>
                  </a:ext>
                </a:extLst>
              </a:tr>
              <a:tr h="487136">
                <a:tc>
                  <a:txBody>
                    <a:bodyPr/>
                    <a:lstStyle/>
                    <a:p>
                      <a:r>
                        <a:rPr sz="1725" b="0">
                          <a:solidFill>
                            <a:srgbClr val="102A43"/>
                          </a:solidFill>
                          <a:latin typeface="Arial"/>
                          <a:ea typeface="Arial"/>
                          <a:cs typeface="Arial"/>
                        </a:rPr>
                        <a:t>RBF, C = 0,01</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61,5 %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0²</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0,0 %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4"/>
                  </a:ext>
                </a:extLst>
              </a:tr>
              <a:tr h="487136">
                <a:tc>
                  <a:txBody>
                    <a:bodyPr/>
                    <a:lstStyle/>
                    <a:p>
                      <a:r>
                        <a:rPr sz="1725" b="0">
                          <a:solidFill>
                            <a:srgbClr val="102A43"/>
                          </a:solidFill>
                          <a:latin typeface="Arial"/>
                          <a:ea typeface="Arial"/>
                          <a:cs typeface="Arial"/>
                        </a:rPr>
                        <a:t>RBF, C = 1</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1">
                          <a:solidFill>
                            <a:srgbClr val="087F8C"/>
                          </a:solidFill>
                          <a:latin typeface="Arial"/>
                          <a:ea typeface="Arial"/>
                          <a:cs typeface="Arial"/>
                        </a:rPr>
                        <a:t>81,6 %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1">
                          <a:solidFill>
                            <a:srgbClr val="087F8C"/>
                          </a:solidFill>
                          <a:latin typeface="Arial"/>
                          <a:ea typeface="Arial"/>
                          <a:cs typeface="Arial"/>
                        </a:rPr>
                        <a:t>86,0 %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62,3 %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1">
                          <a:solidFill>
                            <a:srgbClr val="087F8C"/>
                          </a:solidFill>
                          <a:latin typeface="Arial"/>
                          <a:ea typeface="Arial"/>
                          <a:cs typeface="Arial"/>
                        </a:rPr>
                        <a:t>0,723</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43</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725" b="0">
                          <a:solidFill>
                            <a:srgbClr val="102A43"/>
                          </a:solidFill>
                          <a:latin typeface="Arial"/>
                          <a:ea typeface="Arial"/>
                          <a:cs typeface="Arial"/>
                        </a:rPr>
                        <a:t>7</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5"/>
                  </a:ext>
                </a:extLst>
              </a:tr>
              <a:tr h="487136">
                <a:tc>
                  <a:txBody>
                    <a:bodyPr/>
                    <a:lstStyle/>
                    <a:p>
                      <a:r>
                        <a:rPr sz="1725" b="0">
                          <a:solidFill>
                            <a:srgbClr val="102A43"/>
                          </a:solidFill>
                          <a:latin typeface="Arial"/>
                          <a:ea typeface="Arial"/>
                          <a:cs typeface="Arial"/>
                        </a:rPr>
                        <a:t>RBF, C = 100</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73,7 %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68,3 %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59,4 %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0,636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41</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725" b="0">
                          <a:solidFill>
                            <a:srgbClr val="102A43"/>
                          </a:solidFill>
                          <a:latin typeface="Arial"/>
                          <a:ea typeface="Arial"/>
                          <a:cs typeface="Arial"/>
                        </a:rPr>
                        <a:t>19</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6"/>
                  </a:ext>
                </a:extLst>
              </a:tr>
            </a:tbl>
          </a:graphicData>
        </a:graphic>
      </p:graphicFrame>
      <p:sp>
        <p:nvSpPr>
          <p:cNvPr id="117" name="Rechteck 116">
            <a:extLst>
              <a:ext uri="{FF2B5EF4-FFF2-40B4-BE49-F238E27FC236}">
                <a16:creationId xmlns:a16="http://schemas.microsoft.com/office/drawing/2014/main" id="{E1165C6B-A668-4928-968A-EC795D1981FF}"/>
              </a:ext>
            </a:extLst>
          </p:cNvPr>
          <p:cNvSpPr>
            <a:spLocks noGrp="1"/>
          </p:cNvSpPr>
          <p:nvPr/>
        </p:nvSpPr>
        <p:spPr>
          <a:xfrm>
            <a:off x="609600" y="5162550"/>
            <a:ext cx="10953750" cy="619125"/>
          </a:xfrm>
          <a:prstGeom prst="rect">
            <a:avLst/>
          </a:prstGeom>
          <a:noFill/>
          <a:ln w="0">
            <a:noFill/>
          </a:ln>
        </p:spPr>
        <p:txBody>
          <a:bodyPr wrap="square" lIns="0" tIns="0" rIns="0" bIns="0" anchor="ctr">
            <a:noAutofit/>
          </a:bodyPr>
          <a:lstStyle>
            <a:defPPr>
              <a:defRPr sz="1800" b="1">
                <a:solidFill>
                  <a:srgbClr val="087F8C"/>
                </a:solidFill>
                <a:latin typeface="Arial"/>
                <a:ea typeface="Arial"/>
                <a:cs typeface="Arial"/>
              </a:defRPr>
            </a:defPPr>
          </a:lstStyle>
          <a:p>
            <a:pPr>
              <a:buNone/>
              <a:defRPr sz="1800" b="1">
                <a:solidFill>
                  <a:srgbClr val="087F8C"/>
                </a:solidFill>
                <a:latin typeface="Arial"/>
                <a:ea typeface="Arial"/>
                <a:cs typeface="Arial"/>
              </a:defRPr>
            </a:pPr>
            <a:r>
              <a:rPr sz="1800" b="1">
                <a:solidFill>
                  <a:srgbClr val="087F8C"/>
                </a:solidFill>
                <a:latin typeface="Arial"/>
                <a:ea typeface="Arial"/>
                <a:cs typeface="Arial"/>
              </a:rPr>
              <a:t>Linear, C = 0,01: drei zusätzliche Überlebende erkannt, aber neun zusätzliche</a:t>
            </a:r>
          </a:p>
          <a:p>
            <a:pPr>
              <a:buNone/>
              <a:defRPr sz="1800" b="1">
                <a:solidFill>
                  <a:srgbClr val="087F8C"/>
                </a:solidFill>
                <a:latin typeface="Arial"/>
                <a:ea typeface="Arial"/>
                <a:cs typeface="Arial"/>
              </a:defRPr>
            </a:pPr>
            <a:r>
              <a:rPr sz="1800" b="1">
                <a:solidFill>
                  <a:srgbClr val="087F8C"/>
                </a:solidFill>
                <a:latin typeface="Arial"/>
                <a:ea typeface="Arial"/>
                <a:cs typeface="Arial"/>
              </a:rPr>
              <a:t>falsche Überlebensvorhersagen gegenüber RBF, C = 1.</a:t>
            </a:r>
          </a:p>
        </p:txBody>
      </p:sp>
      <p:sp>
        <p:nvSpPr>
          <p:cNvPr id="118" name="Rechteck 117">
            <a:extLst>
              <a:ext uri="{FF2B5EF4-FFF2-40B4-BE49-F238E27FC236}">
                <a16:creationId xmlns:a16="http://schemas.microsoft.com/office/drawing/2014/main" id="{78522C53-AB26-41A3-93CB-D032963D24BF}"/>
              </a:ext>
            </a:extLst>
          </p:cNvPr>
          <p:cNvSpPr>
            <a:spLocks noGrp="1"/>
          </p:cNvSpPr>
          <p:nvPr/>
        </p:nvSpPr>
        <p:spPr>
          <a:xfrm>
            <a:off x="609600" y="5905500"/>
            <a:ext cx="10953750" cy="352425"/>
          </a:xfrm>
          <a:prstGeom prst="rect">
            <a:avLst/>
          </a:prstGeom>
          <a:noFill/>
          <a:ln w="0">
            <a:noFill/>
          </a:ln>
        </p:spPr>
        <p:txBody>
          <a:bodyPr wrap="square" lIns="0" tIns="0" rIns="0" bIns="0" anchor="ctr">
            <a:noAutofit/>
          </a:bodyPr>
          <a:lstStyle>
            <a:defPPr>
              <a:defRPr sz="1350" b="0">
                <a:solidFill>
                  <a:srgbClr val="52677B"/>
                </a:solidFill>
                <a:latin typeface="Arial"/>
                <a:ea typeface="Arial"/>
                <a:cs typeface="Arial"/>
              </a:defRPr>
            </a:defPPr>
          </a:lstStyle>
          <a:p>
            <a:pPr>
              <a:buNone/>
              <a:defRPr sz="1350" b="0">
                <a:solidFill>
                  <a:srgbClr val="52677B"/>
                </a:solidFill>
                <a:latin typeface="Arial"/>
                <a:ea typeface="Arial"/>
                <a:cs typeface="Arial"/>
              </a:defRPr>
            </a:pPr>
            <a:r>
              <a:rPr sz="1350" b="0">
                <a:solidFill>
                  <a:srgbClr val="52677B"/>
                </a:solidFill>
                <a:latin typeface="Arial"/>
                <a:ea typeface="Arial"/>
                <a:cs typeface="Arial"/>
              </a:rPr>
              <a:t>¹ Positive Klasse: Überlebt.  ² Precision ohne positive Vorhersage undefiniert, im Notebook als 0 ausgegeben.</a:t>
            </a:r>
          </a:p>
        </p:txBody>
      </p:sp>
    </p:spTree>
    <p:extLst>
      <p:ext uri="{BB962C8B-B14F-4D97-AF65-F5344CB8AC3E}">
        <p14:creationId xmlns:p14="http://schemas.microsoft.com/office/powerpoint/2010/main" val="463434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B6CC5D83-9A17-45F1-A30F-3CDF3EFFC1C9}"/>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Baummodelle: Komplexität begrenzen</a:t>
            </a:r>
          </a:p>
        </p:txBody>
      </p:sp>
      <p:sp>
        <p:nvSpPr>
          <p:cNvPr id="2" name="Rechteck 1">
            <a:extLst>
              <a:ext uri="{FF2B5EF4-FFF2-40B4-BE49-F238E27FC236}">
                <a16:creationId xmlns:a16="http://schemas.microsoft.com/office/drawing/2014/main" id="{C3CEFD7B-0724-4A71-B937-D2848025B6B8}"/>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09</a:t>
            </a:r>
          </a:p>
        </p:txBody>
      </p:sp>
      <p:sp>
        <p:nvSpPr>
          <p:cNvPr id="3" name="Rechteck 2">
            <a:extLst>
              <a:ext uri="{FF2B5EF4-FFF2-40B4-BE49-F238E27FC236}">
                <a16:creationId xmlns:a16="http://schemas.microsoft.com/office/drawing/2014/main" id="{B2736254-9AC8-4D8F-A787-6BE07A54E72D}"/>
              </a:ext>
            </a:extLst>
          </p:cNvPr>
          <p:cNvSpPr>
            <a:spLocks noGrp="1"/>
          </p:cNvSpPr>
          <p:nvPr/>
        </p:nvSpPr>
        <p:spPr>
          <a:xfrm>
            <a:off x="609600" y="1695450"/>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Random Forest</a:t>
            </a:r>
          </a:p>
        </p:txBody>
      </p:sp>
      <p:sp>
        <p:nvSpPr>
          <p:cNvPr id="4" name="Rechteck 3">
            <a:extLst>
              <a:ext uri="{FF2B5EF4-FFF2-40B4-BE49-F238E27FC236}">
                <a16:creationId xmlns:a16="http://schemas.microsoft.com/office/drawing/2014/main" id="{43851007-3C18-4343-9320-C46BECFE2667}"/>
              </a:ext>
            </a:extLst>
          </p:cNvPr>
          <p:cNvSpPr>
            <a:spLocks noGrp="1"/>
          </p:cNvSpPr>
          <p:nvPr/>
        </p:nvSpPr>
        <p:spPr>
          <a:xfrm>
            <a:off x="609600" y="2200275"/>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Grid Search mit 20 Kombinationen</a:t>
            </a:r>
          </a:p>
          <a:p>
            <a:pPr>
              <a:buNone/>
              <a:defRPr sz="1950" b="0">
                <a:solidFill>
                  <a:srgbClr val="102A43"/>
                </a:solidFill>
                <a:latin typeface="Arial"/>
                <a:ea typeface="Arial"/>
                <a:cs typeface="Arial"/>
              </a:defRPr>
            </a:pPr>
            <a:r>
              <a:rPr sz="1950" b="0">
                <a:solidFill>
                  <a:srgbClr val="102A43"/>
                </a:solidFill>
                <a:latin typeface="Arial"/>
                <a:ea typeface="Arial"/>
                <a:cs typeface="Arial"/>
              </a:rPr>
              <a:t>und stratifizierter 5-fold CV</a:t>
            </a:r>
          </a:p>
        </p:txBody>
      </p:sp>
      <p:sp>
        <p:nvSpPr>
          <p:cNvPr id="5" name="Rechteck 4">
            <a:extLst>
              <a:ext uri="{FF2B5EF4-FFF2-40B4-BE49-F238E27FC236}">
                <a16:creationId xmlns:a16="http://schemas.microsoft.com/office/drawing/2014/main" id="{A48CFED8-5364-4BAD-B07A-AE5EB4F24505}"/>
              </a:ext>
            </a:extLst>
          </p:cNvPr>
          <p:cNvSpPr>
            <a:spLocks noGrp="1"/>
          </p:cNvSpPr>
          <p:nvPr/>
        </p:nvSpPr>
        <p:spPr>
          <a:xfrm>
            <a:off x="609600" y="3562350"/>
            <a:ext cx="5238750" cy="1476375"/>
          </a:xfrm>
          <a:prstGeom prst="rect">
            <a:avLst/>
          </a:prstGeom>
          <a:noFill/>
          <a:ln w="0">
            <a:noFill/>
          </a:ln>
        </p:spPr>
        <p:txBody>
          <a:bodyPr wrap="square" lIns="0" tIns="0" rIns="0" bIns="0" anchor="ctr">
            <a:noAutofit/>
          </a:bodyPr>
          <a:lstStyle>
            <a:defPPr>
              <a:defRPr sz="2100" b="0">
                <a:solidFill>
                  <a:srgbClr val="102A43"/>
                </a:solidFill>
                <a:latin typeface="Arial"/>
                <a:ea typeface="Arial"/>
                <a:cs typeface="Arial"/>
              </a:defRPr>
            </a:defPPr>
          </a:lstStyle>
          <a:p>
            <a:pPr>
              <a:buNone/>
              <a:defRPr sz="2100" b="0">
                <a:solidFill>
                  <a:srgbClr val="102A43"/>
                </a:solidFill>
                <a:latin typeface="Arial"/>
                <a:ea typeface="Arial"/>
                <a:cs typeface="Arial"/>
              </a:defRPr>
            </a:pPr>
            <a:r>
              <a:rPr sz="2100" b="0">
                <a:solidFill>
                  <a:srgbClr val="102A43"/>
                </a:solidFill>
                <a:latin typeface="Arial"/>
                <a:ea typeface="Arial"/>
                <a:cs typeface="Arial"/>
              </a:rPr>
              <a:t>min_samples_leaf = 3</a:t>
            </a:r>
          </a:p>
          <a:p>
            <a:pPr>
              <a:buNone/>
              <a:defRPr sz="2100" b="0">
                <a:solidFill>
                  <a:srgbClr val="102A43"/>
                </a:solidFill>
                <a:latin typeface="Arial"/>
                <a:ea typeface="Arial"/>
                <a:cs typeface="Arial"/>
              </a:defRPr>
            </a:pPr>
            <a:r>
              <a:rPr sz="2100" b="0">
                <a:solidFill>
                  <a:srgbClr val="102A43"/>
                </a:solidFill>
                <a:latin typeface="Arial"/>
                <a:ea typeface="Arial"/>
                <a:cs typeface="Arial"/>
              </a:rPr>
              <a:t>CV-Accuracy: 82,7 %</a:t>
            </a:r>
          </a:p>
          <a:p>
            <a:pPr>
              <a:buNone/>
              <a:defRPr sz="2100" b="0">
                <a:solidFill>
                  <a:srgbClr val="102A43"/>
                </a:solidFill>
                <a:latin typeface="Arial"/>
                <a:ea typeface="Arial"/>
                <a:cs typeface="Arial"/>
              </a:defRPr>
            </a:pPr>
            <a:r>
              <a:rPr sz="2100" b="0">
                <a:solidFill>
                  <a:srgbClr val="102A43"/>
                </a:solidFill>
                <a:latin typeface="Arial"/>
                <a:ea typeface="Arial"/>
                <a:cs typeface="Arial"/>
              </a:rPr>
              <a:t>Trainings-Accuracy: 98,3 % auf 89,9 %</a:t>
            </a:r>
          </a:p>
        </p:txBody>
      </p:sp>
      <p:sp>
        <p:nvSpPr>
          <p:cNvPr id="6" name="Rechteck 5">
            <a:extLst>
              <a:ext uri="{FF2B5EF4-FFF2-40B4-BE49-F238E27FC236}">
                <a16:creationId xmlns:a16="http://schemas.microsoft.com/office/drawing/2014/main" id="{B1E6F5CC-9375-414F-B4CE-8507B54800A8}"/>
              </a:ext>
            </a:extLst>
          </p:cNvPr>
          <p:cNvSpPr>
            <a:spLocks noGrp="1"/>
          </p:cNvSpPr>
          <p:nvPr/>
        </p:nvSpPr>
        <p:spPr>
          <a:xfrm>
            <a:off x="6419850" y="1695450"/>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Gradient Boosting</a:t>
            </a:r>
          </a:p>
        </p:txBody>
      </p:sp>
      <p:sp>
        <p:nvSpPr>
          <p:cNvPr id="7" name="Rechteck 6">
            <a:extLst>
              <a:ext uri="{FF2B5EF4-FFF2-40B4-BE49-F238E27FC236}">
                <a16:creationId xmlns:a16="http://schemas.microsoft.com/office/drawing/2014/main" id="{BF0D4E7E-8361-4B05-B6E6-DFD2874F6949}"/>
              </a:ext>
            </a:extLst>
          </p:cNvPr>
          <p:cNvSpPr>
            <a:spLocks noGrp="1"/>
          </p:cNvSpPr>
          <p:nvPr/>
        </p:nvSpPr>
        <p:spPr>
          <a:xfrm>
            <a:off x="6419850" y="2200275"/>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100 Iterationen, Lernrate 0,05</a:t>
            </a:r>
          </a:p>
          <a:p>
            <a:pPr>
              <a:buNone/>
              <a:defRPr sz="1950" b="0">
                <a:solidFill>
                  <a:srgbClr val="102A43"/>
                </a:solidFill>
                <a:latin typeface="Arial"/>
                <a:ea typeface="Arial"/>
                <a:cs typeface="Arial"/>
              </a:defRPr>
            </a:pPr>
            <a:r>
              <a:rPr sz="1950" b="0">
                <a:solidFill>
                  <a:srgbClr val="102A43"/>
                </a:solidFill>
                <a:latin typeface="Arial"/>
                <a:ea typeface="Arial"/>
                <a:cs typeface="Arial"/>
              </a:rPr>
              <a:t>Maximal 15 Blätter je Baum</a:t>
            </a:r>
          </a:p>
        </p:txBody>
      </p:sp>
      <p:sp>
        <p:nvSpPr>
          <p:cNvPr id="8" name="Rechteck 7">
            <a:extLst>
              <a:ext uri="{FF2B5EF4-FFF2-40B4-BE49-F238E27FC236}">
                <a16:creationId xmlns:a16="http://schemas.microsoft.com/office/drawing/2014/main" id="{C6B03F94-925B-4273-9E7A-ED8617DED6FB}"/>
              </a:ext>
            </a:extLst>
          </p:cNvPr>
          <p:cNvSpPr>
            <a:spLocks noGrp="1"/>
          </p:cNvSpPr>
          <p:nvPr/>
        </p:nvSpPr>
        <p:spPr>
          <a:xfrm>
            <a:off x="6419850" y="3562350"/>
            <a:ext cx="5238750" cy="1476375"/>
          </a:xfrm>
          <a:prstGeom prst="rect">
            <a:avLst/>
          </a:prstGeom>
          <a:noFill/>
          <a:ln w="0">
            <a:noFill/>
          </a:ln>
        </p:spPr>
        <p:txBody>
          <a:bodyPr wrap="square" lIns="0" tIns="0" rIns="0" bIns="0" anchor="ctr">
            <a:noAutofit/>
          </a:bodyPr>
          <a:lstStyle>
            <a:defPPr>
              <a:defRPr sz="2100" b="0">
                <a:solidFill>
                  <a:srgbClr val="102A43"/>
                </a:solidFill>
                <a:latin typeface="Arial"/>
                <a:ea typeface="Arial"/>
                <a:cs typeface="Arial"/>
              </a:defRPr>
            </a:defPPr>
          </a:lstStyle>
          <a:p>
            <a:pPr>
              <a:buNone/>
              <a:defRPr sz="2100" b="0">
                <a:solidFill>
                  <a:srgbClr val="102A43"/>
                </a:solidFill>
                <a:latin typeface="Arial"/>
                <a:ea typeface="Arial"/>
                <a:cs typeface="Arial"/>
              </a:defRPr>
            </a:pPr>
            <a:r>
              <a:rPr sz="2100" b="0">
                <a:solidFill>
                  <a:srgbClr val="102A43"/>
                </a:solidFill>
                <a:latin typeface="Arial"/>
                <a:ea typeface="Arial"/>
                <a:cs typeface="Arial"/>
              </a:rPr>
              <a:t>min_samples_leaf = 10</a:t>
            </a:r>
          </a:p>
          <a:p>
            <a:pPr>
              <a:buNone/>
              <a:defRPr sz="2100" b="0">
                <a:solidFill>
                  <a:srgbClr val="102A43"/>
                </a:solidFill>
                <a:latin typeface="Arial"/>
                <a:ea typeface="Arial"/>
                <a:cs typeface="Arial"/>
              </a:defRPr>
            </a:pPr>
            <a:r>
              <a:rPr sz="2100" b="0">
                <a:solidFill>
                  <a:srgbClr val="102A43"/>
                </a:solidFill>
                <a:latin typeface="Arial"/>
                <a:ea typeface="Arial"/>
                <a:cs typeface="Arial"/>
              </a:rPr>
              <a:t>l2_regularization = 1,0</a:t>
            </a:r>
          </a:p>
          <a:p>
            <a:pPr>
              <a:buNone/>
              <a:defRPr sz="2100" b="0">
                <a:solidFill>
                  <a:srgbClr val="102A43"/>
                </a:solidFill>
                <a:latin typeface="Arial"/>
                <a:ea typeface="Arial"/>
                <a:cs typeface="Arial"/>
              </a:defRPr>
            </a:pPr>
            <a:r>
              <a:rPr sz="2100" b="0">
                <a:solidFill>
                  <a:srgbClr val="102A43"/>
                </a:solidFill>
                <a:latin typeface="Arial"/>
                <a:ea typeface="Arial"/>
                <a:cs typeface="Arial"/>
              </a:rPr>
              <a:t>Feste, begründete Einstellungen</a:t>
            </a:r>
          </a:p>
        </p:txBody>
      </p:sp>
      <p:sp>
        <p:nvSpPr>
          <p:cNvPr id="9" name="Rechteck 8">
            <a:extLst>
              <a:ext uri="{FF2B5EF4-FFF2-40B4-BE49-F238E27FC236}">
                <a16:creationId xmlns:a16="http://schemas.microsoft.com/office/drawing/2014/main" id="{08D7CDE8-BC26-4CA8-B4B5-F80A86A71078}"/>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Regularisierung reduziert Überanpassung. Der Abstand zwischen Training und Validierung bleibt sichtbar.</a:t>
            </a:r>
          </a:p>
        </p:txBody>
      </p:sp>
    </p:spTree>
    <p:extLst>
      <p:ext uri="{BB962C8B-B14F-4D97-AF65-F5344CB8AC3E}">
        <p14:creationId xmlns:p14="http://schemas.microsoft.com/office/powerpoint/2010/main" val="1846508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6254FCF-1F0A-4D7E-BC17-E91C41EE82F2}"/>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Modellvergleich auf 179 Validierungsfällen</a:t>
            </a:r>
          </a:p>
        </p:txBody>
      </p:sp>
      <p:sp>
        <p:nvSpPr>
          <p:cNvPr id="2" name="Rechteck 1">
            <a:extLst>
              <a:ext uri="{FF2B5EF4-FFF2-40B4-BE49-F238E27FC236}">
                <a16:creationId xmlns:a16="http://schemas.microsoft.com/office/drawing/2014/main" id="{DB0D7380-32E5-4C4D-85FE-3461BF394A20}"/>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10</a:t>
            </a:r>
          </a:p>
        </p:txBody>
      </p:sp>
      <p:graphicFrame>
        <p:nvGraphicFramePr>
          <p:cNvPr id="3" name="Tabelle 2">
            <a:extLst>
              <a:ext uri="{FF2B5EF4-FFF2-40B4-BE49-F238E27FC236}">
                <a16:creationId xmlns:a16="http://schemas.microsoft.com/office/drawing/2014/main" id="{E91E5FB0-1602-468F-BBF0-6C84E6B7CF31}"/>
              </a:ext>
            </a:extLst>
          </p:cNvPr>
          <p:cNvGraphicFramePr/>
          <p:nvPr/>
        </p:nvGraphicFramePr>
        <p:xfrm>
          <a:off x="609600" y="1781175"/>
          <a:ext cx="10953750" cy="3143250"/>
        </p:xfrm>
        <a:graphic>
          <a:graphicData uri="http://schemas.openxmlformats.org/drawingml/2006/table">
            <a:tbl>
              <a:tblPr/>
              <a:tblGrid>
                <a:gridCol w="333375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gridCol w="1524000">
                  <a:extLst>
                    <a:ext uri="{9D8B030D-6E8A-4147-A177-3AD203B41FA5}">
                      <a16:colId xmlns:a16="http://schemas.microsoft.com/office/drawing/2014/main" val="20005"/>
                    </a:ext>
                  </a:extLst>
                </a:gridCol>
              </a:tblGrid>
              <a:tr h="628650">
                <a:tc>
                  <a:txBody>
                    <a:bodyPr/>
                    <a:lstStyle/>
                    <a:p>
                      <a:r>
                        <a:rPr sz="1800" b="1">
                          <a:solidFill>
                            <a:srgbClr val="FFFFFF"/>
                          </a:solidFill>
                          <a:latin typeface="Arial"/>
                          <a:ea typeface="Arial"/>
                          <a:cs typeface="Arial"/>
                        </a:rPr>
                        <a:t>Modell</a:t>
                      </a:r>
                    </a:p>
                  </a:txBody>
                  <a:tcPr anchor="ctr">
                    <a:lnL w="9525">
                      <a:solidFill>
                        <a:srgbClr val="DCE7EC"/>
                      </a:solidFill>
                      <a:prstDash val="soli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00" b="1">
                          <a:solidFill>
                            <a:srgbClr val="FFFFFF"/>
                          </a:solidFill>
                          <a:latin typeface="Arial"/>
                          <a:ea typeface="Arial"/>
                          <a:cs typeface="Arial"/>
                        </a:rPr>
                        <a:t>Accuracy</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00" b="1">
                          <a:solidFill>
                            <a:srgbClr val="FFFFFF"/>
                          </a:solidFill>
                          <a:latin typeface="Arial"/>
                          <a:ea typeface="Arial"/>
                          <a:cs typeface="Arial"/>
                        </a:rPr>
                        <a:t>Precision</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00" b="1">
                          <a:solidFill>
                            <a:srgbClr val="FFFFFF"/>
                          </a:solidFill>
                          <a:latin typeface="Arial"/>
                          <a:ea typeface="Arial"/>
                          <a:cs typeface="Arial"/>
                        </a:rPr>
                        <a:t>Recall</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00" b="1">
                          <a:solidFill>
                            <a:srgbClr val="FFFFFF"/>
                          </a:solidFill>
                          <a:latin typeface="Arial"/>
                          <a:ea typeface="Arial"/>
                          <a:cs typeface="Arial"/>
                        </a:rPr>
                        <a:t>F1</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00" b="1">
                          <a:solidFill>
                            <a:srgbClr val="FFFFFF"/>
                          </a:solidFill>
                          <a:latin typeface="Arial"/>
                          <a:ea typeface="Arial"/>
                          <a:cs typeface="Arial"/>
                        </a:rPr>
                        <a:t>ROC-AUC</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extLst>
                  <a:ext uri="{0D108BD9-81ED-4DB2-BD59-A6C34878D82A}">
                    <a16:rowId xmlns:a16="http://schemas.microsoft.com/office/drawing/2014/main" val="10000"/>
                  </a:ext>
                </a:extLst>
              </a:tr>
              <a:tr h="628650">
                <a:tc>
                  <a:txBody>
                    <a:bodyPr/>
                    <a:lstStyle/>
                    <a:p>
                      <a:r>
                        <a:rPr sz="1800" b="0">
                          <a:solidFill>
                            <a:srgbClr val="102A43"/>
                          </a:solidFill>
                          <a:latin typeface="Arial"/>
                          <a:ea typeface="Arial"/>
                          <a:cs typeface="Arial"/>
                        </a:rPr>
                        <a:t>Log. Regression</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79,9 %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78,0 %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66,7 %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0,719</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0,839</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800" b="0">
                          <a:solidFill>
                            <a:srgbClr val="102A43"/>
                          </a:solidFill>
                          <a:latin typeface="Arial"/>
                          <a:ea typeface="Arial"/>
                          <a:cs typeface="Arial"/>
                        </a:rPr>
                        <a:t>SVM (RBF, C = 1)</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81,6 %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86,0 %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62,3 %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0,723</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0,836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2"/>
                  </a:ext>
                </a:extLst>
              </a:tr>
              <a:tr h="628650">
                <a:tc>
                  <a:txBody>
                    <a:bodyPr/>
                    <a:lstStyle/>
                    <a:p>
                      <a:r>
                        <a:rPr sz="1800" b="0">
                          <a:solidFill>
                            <a:srgbClr val="102A43"/>
                          </a:solidFill>
                          <a:latin typeface="Arial"/>
                          <a:ea typeface="Arial"/>
                          <a:cs typeface="Arial"/>
                        </a:rPr>
                        <a:t>Gradient Boosting</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79,9 %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78,0 %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66,7 %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0,719</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00" b="0">
                          <a:solidFill>
                            <a:srgbClr val="102A43"/>
                          </a:solidFill>
                          <a:latin typeface="Arial"/>
                          <a:ea typeface="Arial"/>
                          <a:cs typeface="Arial"/>
                        </a:rPr>
                        <a:t>0,839</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800" b="0">
                          <a:solidFill>
                            <a:srgbClr val="102A43"/>
                          </a:solidFill>
                          <a:latin typeface="Arial"/>
                          <a:ea typeface="Arial"/>
                          <a:cs typeface="Arial"/>
                        </a:rPr>
                        <a:t>Random Forest</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80,4 %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82,7 %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62,3 %</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0,711</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00" b="0">
                          <a:solidFill>
                            <a:srgbClr val="102A43"/>
                          </a:solidFill>
                          <a:latin typeface="Arial"/>
                          <a:ea typeface="Arial"/>
                          <a:cs typeface="Arial"/>
                        </a:rPr>
                        <a:t>0,840</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4"/>
                  </a:ext>
                </a:extLst>
              </a:tr>
            </a:tbl>
          </a:graphicData>
        </a:graphic>
      </p:graphicFrame>
      <p:sp>
        <p:nvSpPr>
          <p:cNvPr id="4" name="Rechteck 3">
            <a:extLst>
              <a:ext uri="{FF2B5EF4-FFF2-40B4-BE49-F238E27FC236}">
                <a16:creationId xmlns:a16="http://schemas.microsoft.com/office/drawing/2014/main" id="{DFA0F095-6D71-4870-B6D0-F39251D0186C}"/>
              </a:ext>
            </a:extLst>
          </p:cNvPr>
          <p:cNvSpPr>
            <a:spLocks noGrp="1"/>
          </p:cNvSpPr>
          <p:nvPr/>
        </p:nvSpPr>
        <p:spPr>
          <a:xfrm>
            <a:off x="609600" y="5238750"/>
            <a:ext cx="10858500" cy="476250"/>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SVM: höchste Accuracy und höchster F1 im finalen Vergleich</a:t>
            </a:r>
          </a:p>
        </p:txBody>
      </p:sp>
      <p:sp>
        <p:nvSpPr>
          <p:cNvPr id="5" name="Rechteck 4">
            <a:extLst>
              <a:ext uri="{FF2B5EF4-FFF2-40B4-BE49-F238E27FC236}">
                <a16:creationId xmlns:a16="http://schemas.microsoft.com/office/drawing/2014/main" id="{7D02DD4A-3627-44FE-A406-1026B1556E6B}"/>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Precision, Recall und F1 beziehen sich auf „Überlebt“. Alle Modelle erreichen eine ROC-AUC um 0,84.</a:t>
            </a:r>
          </a:p>
        </p:txBody>
      </p:sp>
    </p:spTree>
    <p:extLst>
      <p:ext uri="{BB962C8B-B14F-4D97-AF65-F5344CB8AC3E}">
        <p14:creationId xmlns:p14="http://schemas.microsoft.com/office/powerpoint/2010/main" val="1920208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3B0BE16-1213-46A5-A088-ED0E7749A07B}"/>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Die Modelle liegen eng beieinander</a:t>
            </a:r>
          </a:p>
        </p:txBody>
      </p:sp>
      <p:sp>
        <p:nvSpPr>
          <p:cNvPr id="2" name="Rechteck 1">
            <a:extLst>
              <a:ext uri="{FF2B5EF4-FFF2-40B4-BE49-F238E27FC236}">
                <a16:creationId xmlns:a16="http://schemas.microsoft.com/office/drawing/2014/main" id="{05A29C81-7AE6-4504-A6FA-82CA72A954B6}"/>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11</a:t>
            </a:r>
          </a:p>
        </p:txBody>
      </p:sp>
      <p:graphicFrame>
        <p:nvGraphicFramePr>
          <p:cNvPr id="3" name="Chart">
            <a:extLst>
              <a:ext uri="{FF2B5EF4-FFF2-40B4-BE49-F238E27FC236}">
                <a16:creationId xmlns:a16="http://schemas.microsoft.com/office/drawing/2014/main" id="{71E87309-E182-44A0-A032-050DE2E68D6C}"/>
              </a:ext>
            </a:extLst>
          </p:cNvPr>
          <p:cNvGraphicFramePr/>
          <p:nvPr/>
        </p:nvGraphicFramePr>
        <p:xfrm>
          <a:off x="609600" y="1666875"/>
          <a:ext cx="10953750" cy="363855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A4C579B0-163F-4382-A626-1E35FB9FE4C1}"/>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CV-Streuung: ±1,4 bis ±2,9 Prozentpunkte. Baummodelle zeigen größere Abstände zum Training.</a:t>
            </a:r>
          </a:p>
        </p:txBody>
      </p:sp>
    </p:spTree>
    <p:extLst>
      <p:ext uri="{BB962C8B-B14F-4D97-AF65-F5344CB8AC3E}">
        <p14:creationId xmlns:p14="http://schemas.microsoft.com/office/powerpoint/2010/main" val="100113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CCCEBBED-B45D-4C0A-B8B0-3118ABD86513}"/>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SVM-Fehleranalyse: linear und RBF (C = 1)</a:t>
            </a:r>
          </a:p>
        </p:txBody>
      </p:sp>
      <p:sp>
        <p:nvSpPr>
          <p:cNvPr id="2" name="Rechteck 1">
            <a:extLst>
              <a:ext uri="{FF2B5EF4-FFF2-40B4-BE49-F238E27FC236}">
                <a16:creationId xmlns:a16="http://schemas.microsoft.com/office/drawing/2014/main" id="{1E563AFF-BF64-4E69-8CAC-AC5F426F93E6}"/>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12</a:t>
            </a:r>
          </a:p>
        </p:txBody>
      </p:sp>
      <p:graphicFrame>
        <p:nvGraphicFramePr>
          <p:cNvPr id="3" name="Tabelle 2">
            <a:extLst>
              <a:ext uri="{FF2B5EF4-FFF2-40B4-BE49-F238E27FC236}">
                <a16:creationId xmlns:a16="http://schemas.microsoft.com/office/drawing/2014/main" id="{3FDCB8A6-6CA7-404B-9D3A-C1F3DDA73580}"/>
              </a:ext>
            </a:extLst>
          </p:cNvPr>
          <p:cNvGraphicFramePr/>
          <p:nvPr/>
        </p:nvGraphicFramePr>
        <p:xfrm>
          <a:off x="609600" y="2047875"/>
          <a:ext cx="6667500" cy="2619375"/>
        </p:xfrm>
        <a:graphic>
          <a:graphicData uri="http://schemas.openxmlformats.org/drawingml/2006/table">
            <a:tbl>
              <a:tblPr/>
              <a:tblGrid>
                <a:gridCol w="26670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873125">
                <a:tc>
                  <a:txBody>
                    <a:bodyPr/>
                    <a:lstStyle/>
                    <a:p>
                      <a:r>
                        <a:rPr sz="2025" b="1">
                          <a:solidFill>
                            <a:srgbClr val="FFFFFF"/>
                          </a:solidFill>
                          <a:latin typeface="Arial"/>
                          <a:ea typeface="Arial"/>
                          <a:cs typeface="Arial"/>
                        </a:rPr>
                        <a:t>Tatsächlich</a:t>
                      </a:r>
                    </a:p>
                  </a:txBody>
                  <a:tcPr anchor="ctr">
                    <a:lnL w="9525">
                      <a:solidFill>
                        <a:srgbClr val="DCE7EC"/>
                      </a:solidFill>
                      <a:prstDash val="soli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2025" b="1">
                          <a:solidFill>
                            <a:srgbClr val="FFFFFF"/>
                          </a:solidFill>
                          <a:latin typeface="Arial"/>
                          <a:ea typeface="Arial"/>
                          <a:cs typeface="Arial"/>
                        </a:rPr>
                        <a:t>Prognose nein</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2025" b="1">
                          <a:solidFill>
                            <a:srgbClr val="FFFFFF"/>
                          </a:solidFill>
                          <a:latin typeface="Arial"/>
                          <a:ea typeface="Arial"/>
                          <a:cs typeface="Arial"/>
                        </a:rPr>
                        <a:t>Prognose ja</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extLst>
                  <a:ext uri="{0D108BD9-81ED-4DB2-BD59-A6C34878D82A}">
                    <a16:rowId xmlns:a16="http://schemas.microsoft.com/office/drawing/2014/main" val="10000"/>
                  </a:ext>
                </a:extLst>
              </a:tr>
              <a:tr h="873125">
                <a:tc>
                  <a:txBody>
                    <a:bodyPr/>
                    <a:lstStyle/>
                    <a:p>
                      <a:r>
                        <a:rPr sz="2025" b="0">
                          <a:solidFill>
                            <a:srgbClr val="102A43"/>
                          </a:solidFill>
                          <a:latin typeface="Arial"/>
                          <a:ea typeface="Arial"/>
                          <a:cs typeface="Arial"/>
                        </a:rPr>
                        <a:t>Nicht überlebt</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2025" b="0">
                          <a:solidFill>
                            <a:srgbClr val="102A43"/>
                          </a:solidFill>
                          <a:latin typeface="Arial"/>
                          <a:ea typeface="Arial"/>
                          <a:cs typeface="Arial"/>
                        </a:rPr>
                        <a:t>103</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2025" b="0">
                          <a:solidFill>
                            <a:srgbClr val="102A43"/>
                          </a:solidFill>
                          <a:latin typeface="Arial"/>
                          <a:ea typeface="Arial"/>
                          <a:cs typeface="Arial"/>
                        </a:rPr>
                        <a:t>7</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1"/>
                  </a:ext>
                </a:extLst>
              </a:tr>
              <a:tr h="873125">
                <a:tc>
                  <a:txBody>
                    <a:bodyPr/>
                    <a:lstStyle/>
                    <a:p>
                      <a:r>
                        <a:rPr sz="2025" b="0">
                          <a:solidFill>
                            <a:srgbClr val="102A43"/>
                          </a:solidFill>
                          <a:latin typeface="Arial"/>
                          <a:ea typeface="Arial"/>
                          <a:cs typeface="Arial"/>
                        </a:rPr>
                        <a:t>Überlebt</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2025" b="0">
                          <a:solidFill>
                            <a:srgbClr val="102A43"/>
                          </a:solidFill>
                          <a:latin typeface="Arial"/>
                          <a:ea typeface="Arial"/>
                          <a:cs typeface="Arial"/>
                        </a:rPr>
                        <a:t>26</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2025" b="0">
                          <a:solidFill>
                            <a:srgbClr val="102A43"/>
                          </a:solidFill>
                          <a:latin typeface="Arial"/>
                          <a:ea typeface="Arial"/>
                          <a:cs typeface="Arial"/>
                        </a:rPr>
                        <a:t>43</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2"/>
                  </a:ext>
                </a:extLst>
              </a:tr>
            </a:tbl>
          </a:graphicData>
        </a:graphic>
      </p:graphicFrame>
      <p:sp>
        <p:nvSpPr>
          <p:cNvPr id="4" name="Rechteck 3">
            <a:extLst>
              <a:ext uri="{FF2B5EF4-FFF2-40B4-BE49-F238E27FC236}">
                <a16:creationId xmlns:a16="http://schemas.microsoft.com/office/drawing/2014/main" id="{4C763F08-2A4A-434D-918D-C51A14BF30B2}"/>
              </a:ext>
            </a:extLst>
          </p:cNvPr>
          <p:cNvSpPr>
            <a:spLocks noGrp="1"/>
          </p:cNvSpPr>
          <p:nvPr/>
        </p:nvSpPr>
        <p:spPr>
          <a:xfrm>
            <a:off x="8020050" y="1819275"/>
            <a:ext cx="3476625" cy="666750"/>
          </a:xfrm>
          <a:prstGeom prst="rect">
            <a:avLst/>
          </a:prstGeom>
          <a:noFill/>
          <a:ln w="0">
            <a:noFill/>
          </a:ln>
        </p:spPr>
        <p:txBody>
          <a:bodyPr wrap="square" lIns="0" tIns="0" rIns="0" bIns="0" anchor="ctr">
            <a:noAutofit/>
          </a:bodyPr>
          <a:lstStyle>
            <a:defPPr>
              <a:defRPr sz="4350" b="1">
                <a:solidFill>
                  <a:srgbClr val="087F8C"/>
                </a:solidFill>
                <a:latin typeface="Arial"/>
                <a:ea typeface="Arial"/>
                <a:cs typeface="Arial"/>
              </a:defRPr>
            </a:defPPr>
          </a:lstStyle>
          <a:p>
            <a:pPr>
              <a:buNone/>
              <a:defRPr sz="4350" b="1">
                <a:solidFill>
                  <a:srgbClr val="087F8C"/>
                </a:solidFill>
                <a:latin typeface="Arial"/>
                <a:ea typeface="Arial"/>
                <a:cs typeface="Arial"/>
              </a:defRPr>
            </a:pPr>
            <a:r>
              <a:rPr sz="4350" b="1">
                <a:solidFill>
                  <a:srgbClr val="087F8C"/>
                </a:solidFill>
                <a:latin typeface="Arial"/>
                <a:ea typeface="Arial"/>
                <a:cs typeface="Arial"/>
              </a:rPr>
              <a:t>86,0 %</a:t>
            </a:r>
          </a:p>
        </p:txBody>
      </p:sp>
      <p:sp>
        <p:nvSpPr>
          <p:cNvPr id="5" name="Rechteck 4">
            <a:extLst>
              <a:ext uri="{FF2B5EF4-FFF2-40B4-BE49-F238E27FC236}">
                <a16:creationId xmlns:a16="http://schemas.microsoft.com/office/drawing/2014/main" id="{015DC586-060B-4AE8-90C3-DBA472D133E4}"/>
              </a:ext>
            </a:extLst>
          </p:cNvPr>
          <p:cNvSpPr>
            <a:spLocks noGrp="1"/>
          </p:cNvSpPr>
          <p:nvPr/>
        </p:nvSpPr>
        <p:spPr>
          <a:xfrm>
            <a:off x="8020050" y="2571750"/>
            <a:ext cx="3333750" cy="428625"/>
          </a:xfrm>
          <a:prstGeom prst="rect">
            <a:avLst/>
          </a:prstGeom>
          <a:noFill/>
          <a:ln w="0">
            <a:noFill/>
          </a:ln>
        </p:spPr>
        <p:txBody>
          <a:bodyPr wrap="square" lIns="0" tIns="0" rIns="0" bIns="0" anchor="ctr">
            <a:noAutofit/>
          </a:bodyPr>
          <a:lstStyle>
            <a:defPPr>
              <a:defRPr sz="2100" b="0">
                <a:solidFill>
                  <a:srgbClr val="102A43"/>
                </a:solidFill>
                <a:latin typeface="Arial"/>
                <a:ea typeface="Arial"/>
                <a:cs typeface="Arial"/>
              </a:defRPr>
            </a:defPPr>
          </a:lstStyle>
          <a:p>
            <a:pPr>
              <a:buNone/>
              <a:defRPr sz="2100" b="0">
                <a:solidFill>
                  <a:srgbClr val="102A43"/>
                </a:solidFill>
                <a:latin typeface="Arial"/>
                <a:ea typeface="Arial"/>
                <a:cs typeface="Arial"/>
              </a:defRPr>
            </a:pPr>
            <a:r>
              <a:rPr sz="2100" b="0">
                <a:solidFill>
                  <a:srgbClr val="102A43"/>
                </a:solidFill>
                <a:latin typeface="Arial"/>
                <a:ea typeface="Arial"/>
                <a:cs typeface="Arial"/>
              </a:rPr>
              <a:t>Precision</a:t>
            </a:r>
          </a:p>
        </p:txBody>
      </p:sp>
      <p:sp>
        <p:nvSpPr>
          <p:cNvPr id="6" name="Rechteck 5">
            <a:extLst>
              <a:ext uri="{FF2B5EF4-FFF2-40B4-BE49-F238E27FC236}">
                <a16:creationId xmlns:a16="http://schemas.microsoft.com/office/drawing/2014/main" id="{C62EB8C4-2108-449B-A7B7-D63C1BD547A7}"/>
              </a:ext>
            </a:extLst>
          </p:cNvPr>
          <p:cNvSpPr>
            <a:spLocks noGrp="1"/>
          </p:cNvSpPr>
          <p:nvPr/>
        </p:nvSpPr>
        <p:spPr>
          <a:xfrm>
            <a:off x="8020050" y="3571875"/>
            <a:ext cx="3476625" cy="666750"/>
          </a:xfrm>
          <a:prstGeom prst="rect">
            <a:avLst/>
          </a:prstGeom>
          <a:noFill/>
          <a:ln w="0">
            <a:noFill/>
          </a:ln>
        </p:spPr>
        <p:txBody>
          <a:bodyPr wrap="square" lIns="0" tIns="0" rIns="0" bIns="0" anchor="ctr">
            <a:noAutofit/>
          </a:bodyPr>
          <a:lstStyle>
            <a:defPPr>
              <a:defRPr sz="4350" b="1">
                <a:solidFill>
                  <a:srgbClr val="B87333"/>
                </a:solidFill>
                <a:latin typeface="Arial"/>
                <a:ea typeface="Arial"/>
                <a:cs typeface="Arial"/>
              </a:defRPr>
            </a:defPPr>
          </a:lstStyle>
          <a:p>
            <a:pPr>
              <a:buNone/>
              <a:defRPr sz="4350" b="1">
                <a:solidFill>
                  <a:srgbClr val="B87333"/>
                </a:solidFill>
                <a:latin typeface="Arial"/>
                <a:ea typeface="Arial"/>
                <a:cs typeface="Arial"/>
              </a:defRPr>
            </a:pPr>
            <a:r>
              <a:rPr sz="4350" b="1">
                <a:solidFill>
                  <a:srgbClr val="B87333"/>
                </a:solidFill>
                <a:latin typeface="Arial"/>
                <a:ea typeface="Arial"/>
                <a:cs typeface="Arial"/>
              </a:rPr>
              <a:t>62,3 %</a:t>
            </a:r>
          </a:p>
        </p:txBody>
      </p:sp>
      <p:sp>
        <p:nvSpPr>
          <p:cNvPr id="7" name="Rechteck 6">
            <a:extLst>
              <a:ext uri="{FF2B5EF4-FFF2-40B4-BE49-F238E27FC236}">
                <a16:creationId xmlns:a16="http://schemas.microsoft.com/office/drawing/2014/main" id="{1CFA1FCA-09B9-40A1-8674-79C835916E05}"/>
              </a:ext>
            </a:extLst>
          </p:cNvPr>
          <p:cNvSpPr>
            <a:spLocks noGrp="1"/>
          </p:cNvSpPr>
          <p:nvPr/>
        </p:nvSpPr>
        <p:spPr>
          <a:xfrm>
            <a:off x="8020050" y="4333875"/>
            <a:ext cx="3333750" cy="428625"/>
          </a:xfrm>
          <a:prstGeom prst="rect">
            <a:avLst/>
          </a:prstGeom>
          <a:noFill/>
          <a:ln w="0">
            <a:noFill/>
          </a:ln>
        </p:spPr>
        <p:txBody>
          <a:bodyPr wrap="square" lIns="0" tIns="0" rIns="0" bIns="0" anchor="ctr">
            <a:noAutofit/>
          </a:bodyPr>
          <a:lstStyle>
            <a:defPPr>
              <a:defRPr sz="2100" b="0">
                <a:solidFill>
                  <a:srgbClr val="102A43"/>
                </a:solidFill>
                <a:latin typeface="Arial"/>
                <a:ea typeface="Arial"/>
                <a:cs typeface="Arial"/>
              </a:defRPr>
            </a:defPPr>
          </a:lstStyle>
          <a:p>
            <a:pPr>
              <a:buNone/>
              <a:defRPr sz="2100" b="0">
                <a:solidFill>
                  <a:srgbClr val="102A43"/>
                </a:solidFill>
                <a:latin typeface="Arial"/>
                <a:ea typeface="Arial"/>
                <a:cs typeface="Arial"/>
              </a:defRPr>
            </a:pPr>
            <a:r>
              <a:rPr sz="2100" b="0">
                <a:solidFill>
                  <a:srgbClr val="102A43"/>
                </a:solidFill>
                <a:latin typeface="Arial"/>
                <a:ea typeface="Arial"/>
                <a:cs typeface="Arial"/>
              </a:rPr>
              <a:t>Recall</a:t>
            </a:r>
          </a:p>
        </p:txBody>
      </p:sp>
      <p:sp>
        <p:nvSpPr>
          <p:cNvPr id="8" name="Rechteck 7">
            <a:extLst>
              <a:ext uri="{FF2B5EF4-FFF2-40B4-BE49-F238E27FC236}">
                <a16:creationId xmlns:a16="http://schemas.microsoft.com/office/drawing/2014/main" id="{9EC95E63-294E-43E1-941D-AD31C0DD8364}"/>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Übersehen: 20 von 24 überlebenden Männern und 15 von 24 Überlebenden der 3. Klasse.</a:t>
            </a:r>
          </a:p>
        </p:txBody>
      </p:sp>
      <p:sp>
        <p:nvSpPr>
          <p:cNvPr id="10" name="Rechteck 9">
            <a:extLst>
              <a:ext uri="{FF2B5EF4-FFF2-40B4-BE49-F238E27FC236}">
                <a16:creationId xmlns:a16="http://schemas.microsoft.com/office/drawing/2014/main" id="{0A728DAC-4CED-4442-A130-8112C8B8753C}"/>
              </a:ext>
            </a:extLst>
          </p:cNvPr>
          <p:cNvSpPr>
            <a:spLocks noGrp="1"/>
          </p:cNvSpPr>
          <p:nvPr/>
        </p:nvSpPr>
        <p:spPr>
          <a:xfrm>
            <a:off x="609600" y="4905375"/>
            <a:ext cx="10953750" cy="847725"/>
          </a:xfrm>
          <a:prstGeom prst="rect">
            <a:avLst/>
          </a:prstGeom>
          <a:noFill/>
          <a:ln w="0">
            <a:noFill/>
          </a:ln>
        </p:spPr>
        <p:txBody>
          <a:bodyPr/>
          <a:lstStyle>
            <a:defPPr>
              <a:defRPr sz="1650">
                <a:solidFill>
                  <a:srgbClr val="102A43"/>
                </a:solidFill>
              </a:defRPr>
            </a:defPPr>
          </a:lstStyle>
          <a:p>
            <a:pPr>
              <a:buNone/>
              <a:defRPr sz="1650">
                <a:solidFill>
                  <a:srgbClr val="102A43"/>
                </a:solidFill>
              </a:defRPr>
            </a:pPr>
            <a:r>
              <a:rPr sz="1650">
                <a:solidFill>
                  <a:srgbClr val="102A43"/>
                </a:solidFill>
              </a:rPr>
              <a:t>Linear: alle Frauen „überlebt“, alle Männer „nicht überlebt“.</a:t>
            </a:r>
          </a:p>
          <a:p>
            <a:pPr>
              <a:buNone/>
              <a:defRPr sz="1650">
                <a:solidFill>
                  <a:srgbClr val="102A43"/>
                </a:solidFill>
              </a:defRPr>
            </a:pPr>
            <a:r>
              <a:rPr sz="1650">
                <a:solidFill>
                  <a:srgbClr val="102A43"/>
                </a:solidFill>
              </a:rPr>
              <a:t>Fehler: 24/24 überlebende Männer und 16/16 nichtüberlebende Frauen.</a:t>
            </a:r>
          </a:p>
          <a:p>
            <a:pPr>
              <a:buNone/>
              <a:defRPr sz="1650">
                <a:solidFill>
                  <a:srgbClr val="102A43"/>
                </a:solidFill>
              </a:defRPr>
            </a:pPr>
            <a:r>
              <a:rPr sz="1650">
                <a:solidFill>
                  <a:srgbClr val="102A43"/>
                </a:solidFill>
              </a:rPr>
              <a:t>RBF: 33 statt 40 Fehler; vier Männer zusätzlich erkannt, sechs Frauen übersehen.</a:t>
            </a:r>
          </a:p>
        </p:txBody>
      </p:sp>
    </p:spTree>
    <p:extLst>
      <p:ext uri="{BB962C8B-B14F-4D97-AF65-F5344CB8AC3E}">
        <p14:creationId xmlns:p14="http://schemas.microsoft.com/office/powerpoint/2010/main" val="1089994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7B7B43FA-A8BF-4972-A405-DC1BCFF35D1C}"/>
              </a:ext>
            </a:extLst>
          </p:cNvPr>
          <p:cNvSpPr>
            <a:spLocks noGrp="1"/>
          </p:cNvSpPr>
          <p:nvPr/>
        </p:nvSpPr>
        <p:spPr>
          <a:xfrm>
            <a:off x="609600" y="285750"/>
            <a:ext cx="10953750" cy="609600"/>
          </a:xfrm>
          <a:prstGeom prst="rect">
            <a:avLst/>
          </a:prstGeom>
          <a:noFill/>
          <a:ln w="0">
            <a:noFill/>
          </a:ln>
        </p:spPr>
        <p:txBody>
          <a:bodyPr/>
          <a:lstStyle>
            <a:defPPr>
              <a:defRPr sz="2700" b="1">
                <a:solidFill>
                  <a:srgbClr val="102A43"/>
                </a:solidFill>
              </a:defRPr>
            </a:defPPr>
          </a:lstStyle>
          <a:p>
            <a:pPr>
              <a:defRPr sz="2700" b="1">
                <a:solidFill>
                  <a:srgbClr val="102A43"/>
                </a:solidFill>
              </a:defRPr>
            </a:pPr>
            <a:r>
              <a:rPr sz="2700" b="1">
                <a:solidFill>
                  <a:srgbClr val="102A43"/>
                </a:solidFill>
              </a:rPr>
              <a:t>Lineare SVM: übersehene und falsch positive Fälle</a:t>
            </a:r>
          </a:p>
        </p:txBody>
      </p:sp>
      <p:pic>
        <p:nvPicPr>
          <p:cNvPr id="2" name="Grafik 1">
            <a:extLst>
              <a:ext uri="{FF2B5EF4-FFF2-40B4-BE49-F238E27FC236}">
                <a16:creationId xmlns:a16="http://schemas.microsoft.com/office/drawing/2014/main" id="{8139C0BA-70CD-46FE-A3A7-B38E91FD2372}"/>
              </a:ext>
            </a:extLst>
          </p:cNvPr>
          <p:cNvPicPr>
            <a:picLocks noChangeAspect="1"/>
          </p:cNvPicPr>
          <p:nvPr/>
        </p:nvPicPr>
        <p:blipFill>
          <a:blip r:embed="rId3"/>
          <a:stretch/>
        </p:blipFill>
        <p:spPr>
          <a:xfrm>
            <a:off x="1665987" y="952500"/>
            <a:ext cx="8860026" cy="5219700"/>
          </a:xfrm>
          <a:prstGeom prst="rect">
            <a:avLst/>
          </a:prstGeom>
        </p:spPr>
      </p:pic>
      <p:sp>
        <p:nvSpPr>
          <p:cNvPr id="3" name="Rechteck 2">
            <a:extLst>
              <a:ext uri="{FF2B5EF4-FFF2-40B4-BE49-F238E27FC236}">
                <a16:creationId xmlns:a16="http://schemas.microsoft.com/office/drawing/2014/main" id="{4F53C4BC-017F-4AEE-B573-36A07D580E05}"/>
              </a:ext>
            </a:extLst>
          </p:cNvPr>
          <p:cNvSpPr>
            <a:spLocks noGrp="1"/>
          </p:cNvSpPr>
          <p:nvPr/>
        </p:nvSpPr>
        <p:spPr>
          <a:xfrm>
            <a:off x="609600" y="6191250"/>
            <a:ext cx="10668000" cy="400050"/>
          </a:xfrm>
          <a:prstGeom prst="rect">
            <a:avLst/>
          </a:prstGeom>
          <a:noFill/>
          <a:ln w="0">
            <a:noFill/>
          </a:ln>
        </p:spPr>
        <p:txBody>
          <a:bodyPr/>
          <a:lstStyle>
            <a:defPPr>
              <a:defRPr sz="1350" b="0">
                <a:solidFill>
                  <a:srgbClr val="526A83"/>
                </a:solidFill>
              </a:defRPr>
            </a:defPPr>
          </a:lstStyle>
          <a:p>
            <a:pPr>
              <a:defRPr sz="1350" b="0">
                <a:solidFill>
                  <a:srgbClr val="526A83"/>
                </a:solidFill>
              </a:defRPr>
            </a:pPr>
            <a:r>
              <a:rPr sz="1350" b="0">
                <a:solidFill>
                  <a:srgbClr val="526A83"/>
                </a:solidFill>
              </a:rPr>
              <a:t>Alle 24 überlebenden Männer übersehen; alle 16 nichtüberlebenden Frauen falsch eingeordnet. (non-editable source figure)</a:t>
            </a:r>
          </a:p>
        </p:txBody>
      </p:sp>
      <p:sp>
        <p:nvSpPr>
          <p:cNvPr id="4" name="Rechteck 3">
            <a:extLst>
              <a:ext uri="{FF2B5EF4-FFF2-40B4-BE49-F238E27FC236}">
                <a16:creationId xmlns:a16="http://schemas.microsoft.com/office/drawing/2014/main" id="{C209F508-7FB9-4243-BC28-9FA0731878A3}"/>
              </a:ext>
            </a:extLst>
          </p:cNvPr>
          <p:cNvSpPr>
            <a:spLocks noGrp="1"/>
          </p:cNvSpPr>
          <p:nvPr/>
        </p:nvSpPr>
        <p:spPr>
          <a:xfrm>
            <a:off x="11049000" y="6572250"/>
            <a:ext cx="523875" cy="228600"/>
          </a:xfrm>
          <a:prstGeom prst="rect">
            <a:avLst/>
          </a:prstGeom>
          <a:noFill/>
          <a:ln w="0">
            <a:noFill/>
          </a:ln>
        </p:spPr>
        <p:txBody>
          <a:bodyPr/>
          <a:lstStyle>
            <a:defPPr>
              <a:defRPr sz="1200" b="0">
                <a:solidFill>
                  <a:srgbClr val="526A83"/>
                </a:solidFill>
              </a:defRPr>
            </a:defPPr>
          </a:lstStyle>
          <a:p>
            <a:pPr>
              <a:defRPr sz="1200" b="0">
                <a:solidFill>
                  <a:srgbClr val="526A83"/>
                </a:solidFill>
              </a:defRPr>
            </a:pPr>
            <a:r>
              <a:rPr sz="1200" b="0">
                <a:solidFill>
                  <a:srgbClr val="526A83"/>
                </a:solidFill>
              </a:rPr>
              <a:t>14</a:t>
            </a:r>
          </a:p>
        </p:txBody>
      </p:sp>
    </p:spTree>
    <p:extLst>
      <p:ext uri="{BB962C8B-B14F-4D97-AF65-F5344CB8AC3E}">
        <p14:creationId xmlns:p14="http://schemas.microsoft.com/office/powerpoint/2010/main" val="645144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59C4DC02-A189-4511-A467-30DB75CF0871}"/>
              </a:ext>
            </a:extLst>
          </p:cNvPr>
          <p:cNvSpPr>
            <a:spLocks noGrp="1"/>
          </p:cNvSpPr>
          <p:nvPr/>
        </p:nvSpPr>
        <p:spPr>
          <a:xfrm>
            <a:off x="609600" y="285750"/>
            <a:ext cx="10953750" cy="609600"/>
          </a:xfrm>
          <a:prstGeom prst="rect">
            <a:avLst/>
          </a:prstGeom>
          <a:noFill/>
          <a:ln w="0">
            <a:noFill/>
          </a:ln>
        </p:spPr>
        <p:txBody>
          <a:bodyPr/>
          <a:lstStyle>
            <a:defPPr>
              <a:defRPr sz="2700" b="1">
                <a:solidFill>
                  <a:srgbClr val="102A43"/>
                </a:solidFill>
              </a:defRPr>
            </a:defPPr>
          </a:lstStyle>
          <a:p>
            <a:pPr>
              <a:defRPr sz="2700" b="1">
                <a:solidFill>
                  <a:srgbClr val="102A43"/>
                </a:solidFill>
              </a:defRPr>
            </a:pPr>
            <a:r>
              <a:rPr sz="2700" b="1">
                <a:solidFill>
                  <a:srgbClr val="102A43"/>
                </a:solidFill>
              </a:rPr>
              <a:t>RBF-SVM: übersehene und falsch positive Fälle</a:t>
            </a:r>
          </a:p>
        </p:txBody>
      </p:sp>
      <p:pic>
        <p:nvPicPr>
          <p:cNvPr id="2" name="Grafik 1">
            <a:extLst>
              <a:ext uri="{FF2B5EF4-FFF2-40B4-BE49-F238E27FC236}">
                <a16:creationId xmlns:a16="http://schemas.microsoft.com/office/drawing/2014/main" id="{2379A38F-2B56-4169-BB5E-F7A540B431F8}"/>
              </a:ext>
            </a:extLst>
          </p:cNvPr>
          <p:cNvPicPr>
            <a:picLocks noChangeAspect="1"/>
          </p:cNvPicPr>
          <p:nvPr/>
        </p:nvPicPr>
        <p:blipFill>
          <a:blip r:embed="rId3"/>
          <a:stretch/>
        </p:blipFill>
        <p:spPr>
          <a:xfrm>
            <a:off x="1665987" y="952500"/>
            <a:ext cx="8860026" cy="5219700"/>
          </a:xfrm>
          <a:prstGeom prst="rect">
            <a:avLst/>
          </a:prstGeom>
        </p:spPr>
      </p:pic>
      <p:sp>
        <p:nvSpPr>
          <p:cNvPr id="3" name="Rechteck 2">
            <a:extLst>
              <a:ext uri="{FF2B5EF4-FFF2-40B4-BE49-F238E27FC236}">
                <a16:creationId xmlns:a16="http://schemas.microsoft.com/office/drawing/2014/main" id="{15A5131E-CD00-4864-AD69-C50BC9F46364}"/>
              </a:ext>
            </a:extLst>
          </p:cNvPr>
          <p:cNvSpPr>
            <a:spLocks noGrp="1"/>
          </p:cNvSpPr>
          <p:nvPr/>
        </p:nvSpPr>
        <p:spPr>
          <a:xfrm>
            <a:off x="609600" y="6191250"/>
            <a:ext cx="10668000" cy="400050"/>
          </a:xfrm>
          <a:prstGeom prst="rect">
            <a:avLst/>
          </a:prstGeom>
          <a:noFill/>
          <a:ln w="0">
            <a:noFill/>
          </a:ln>
        </p:spPr>
        <p:txBody>
          <a:bodyPr/>
          <a:lstStyle>
            <a:defPPr>
              <a:defRPr sz="1350" b="0">
                <a:solidFill>
                  <a:srgbClr val="526A83"/>
                </a:solidFill>
              </a:defRPr>
            </a:defPPr>
          </a:lstStyle>
          <a:p>
            <a:pPr>
              <a:defRPr sz="1350" b="0">
                <a:solidFill>
                  <a:srgbClr val="526A83"/>
                </a:solidFill>
              </a:defRPr>
            </a:pPr>
            <a:r>
              <a:rPr sz="1350" b="0">
                <a:solidFill>
                  <a:srgbClr val="526A83"/>
                </a:solidFill>
              </a:rPr>
              <a:t>20 von 24 überlebenden Männern übersehen; Fehlerquoten beziehen sich auf die jeweilige Zielklasse. (non-editable source figure)</a:t>
            </a:r>
          </a:p>
        </p:txBody>
      </p:sp>
      <p:sp>
        <p:nvSpPr>
          <p:cNvPr id="4" name="Rechteck 3">
            <a:extLst>
              <a:ext uri="{FF2B5EF4-FFF2-40B4-BE49-F238E27FC236}">
                <a16:creationId xmlns:a16="http://schemas.microsoft.com/office/drawing/2014/main" id="{A6D75A1F-2CDE-4FA9-BE19-CADED89D75BD}"/>
              </a:ext>
            </a:extLst>
          </p:cNvPr>
          <p:cNvSpPr>
            <a:spLocks noGrp="1"/>
          </p:cNvSpPr>
          <p:nvPr/>
        </p:nvSpPr>
        <p:spPr>
          <a:xfrm>
            <a:off x="11049000" y="6572250"/>
            <a:ext cx="523875" cy="228600"/>
          </a:xfrm>
          <a:prstGeom prst="rect">
            <a:avLst/>
          </a:prstGeom>
          <a:noFill/>
          <a:ln w="0">
            <a:noFill/>
          </a:ln>
        </p:spPr>
        <p:txBody>
          <a:bodyPr/>
          <a:lstStyle>
            <a:defPPr>
              <a:defRPr sz="1200" b="0">
                <a:solidFill>
                  <a:srgbClr val="526A83"/>
                </a:solidFill>
              </a:defRPr>
            </a:defPPr>
          </a:lstStyle>
          <a:p>
            <a:pPr>
              <a:defRPr sz="1200" b="0">
                <a:solidFill>
                  <a:srgbClr val="526A83"/>
                </a:solidFill>
              </a:defRPr>
            </a:pPr>
            <a:r>
              <a:rPr sz="1200" b="0">
                <a:solidFill>
                  <a:srgbClr val="526A83"/>
                </a:solidFill>
              </a:rPr>
              <a:t>16</a:t>
            </a:r>
          </a:p>
        </p:txBody>
      </p:sp>
    </p:spTree>
    <p:extLst>
      <p:ext uri="{BB962C8B-B14F-4D97-AF65-F5344CB8AC3E}">
        <p14:creationId xmlns:p14="http://schemas.microsoft.com/office/powerpoint/2010/main" val="1266296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8E41E09D-88C1-4640-97A3-AFC11CC09569}"/>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Geschlecht ist das wichtigste Modellmerkmal</a:t>
            </a:r>
          </a:p>
        </p:txBody>
      </p:sp>
      <p:sp>
        <p:nvSpPr>
          <p:cNvPr id="2" name="Rechteck 1">
            <a:extLst>
              <a:ext uri="{FF2B5EF4-FFF2-40B4-BE49-F238E27FC236}">
                <a16:creationId xmlns:a16="http://schemas.microsoft.com/office/drawing/2014/main" id="{88F67084-6B38-4DC4-B9FC-62E1CF9E465C}"/>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17</a:t>
            </a:r>
          </a:p>
        </p:txBody>
      </p:sp>
      <p:graphicFrame>
        <p:nvGraphicFramePr>
          <p:cNvPr id="3" name="Chart">
            <a:extLst>
              <a:ext uri="{FF2B5EF4-FFF2-40B4-BE49-F238E27FC236}">
                <a16:creationId xmlns:a16="http://schemas.microsoft.com/office/drawing/2014/main" id="{4AE079E3-A440-450A-A4D1-CC17F52033A2}"/>
              </a:ext>
            </a:extLst>
          </p:cNvPr>
          <p:cNvGraphicFramePr/>
          <p:nvPr/>
        </p:nvGraphicFramePr>
        <p:xfrm>
          <a:off x="609600" y="1685925"/>
          <a:ext cx="109537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hteck 3">
            <a:extLst>
              <a:ext uri="{FF2B5EF4-FFF2-40B4-BE49-F238E27FC236}">
                <a16:creationId xmlns:a16="http://schemas.microsoft.com/office/drawing/2014/main" id="{BABD89DE-EDB1-4692-88C6-91F6F34DA582}"/>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Mittlerer Accuracy-Verlust in Prozentpunkten nach Durchmischen eines Merkmals, zehn Wiederholungen.</a:t>
            </a:r>
          </a:p>
        </p:txBody>
      </p:sp>
    </p:spTree>
    <p:extLst>
      <p:ext uri="{BB962C8B-B14F-4D97-AF65-F5344CB8AC3E}">
        <p14:creationId xmlns:p14="http://schemas.microsoft.com/office/powerpoint/2010/main" val="18256028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49F82B44-CC7F-4935-B147-0C2EE8599845}"/>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Finale Vorhersage: 142 von 418 überleben</a:t>
            </a:r>
          </a:p>
        </p:txBody>
      </p:sp>
      <p:sp>
        <p:nvSpPr>
          <p:cNvPr id="2" name="Rechteck 1">
            <a:extLst>
              <a:ext uri="{FF2B5EF4-FFF2-40B4-BE49-F238E27FC236}">
                <a16:creationId xmlns:a16="http://schemas.microsoft.com/office/drawing/2014/main" id="{D8AB61D3-0B30-4544-994B-F3609DD59FD8}"/>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18</a:t>
            </a:r>
          </a:p>
        </p:txBody>
      </p:sp>
      <p:sp>
        <p:nvSpPr>
          <p:cNvPr id="3" name="Rechteck 2">
            <a:extLst>
              <a:ext uri="{FF2B5EF4-FFF2-40B4-BE49-F238E27FC236}">
                <a16:creationId xmlns:a16="http://schemas.microsoft.com/office/drawing/2014/main" id="{70FA530A-F1E9-4565-841C-252242CFF445}"/>
              </a:ext>
            </a:extLst>
          </p:cNvPr>
          <p:cNvSpPr>
            <a:spLocks noGrp="1"/>
          </p:cNvSpPr>
          <p:nvPr/>
        </p:nvSpPr>
        <p:spPr>
          <a:xfrm>
            <a:off x="609600" y="1762125"/>
            <a:ext cx="5619750" cy="904875"/>
          </a:xfrm>
          <a:prstGeom prst="rect">
            <a:avLst/>
          </a:prstGeom>
          <a:noFill/>
          <a:ln w="0">
            <a:noFill/>
          </a:ln>
        </p:spPr>
        <p:txBody>
          <a:bodyPr wrap="square" lIns="0" tIns="0" rIns="0" bIns="0" anchor="ctr">
            <a:noAutofit/>
          </a:bodyPr>
          <a:lstStyle>
            <a:defPPr>
              <a:defRPr sz="5700" b="1">
                <a:solidFill>
                  <a:srgbClr val="087F8C"/>
                </a:solidFill>
                <a:latin typeface="Arial"/>
                <a:ea typeface="Arial"/>
                <a:cs typeface="Arial"/>
              </a:defRPr>
            </a:defPPr>
          </a:lstStyle>
          <a:p>
            <a:pPr>
              <a:buNone/>
              <a:defRPr sz="5700" b="1">
                <a:solidFill>
                  <a:srgbClr val="087F8C"/>
                </a:solidFill>
                <a:latin typeface="Arial"/>
                <a:ea typeface="Arial"/>
                <a:cs typeface="Arial"/>
              </a:defRPr>
            </a:pPr>
            <a:r>
              <a:rPr sz="5700" b="1">
                <a:solidFill>
                  <a:srgbClr val="087F8C"/>
                </a:solidFill>
                <a:latin typeface="Arial"/>
                <a:ea typeface="Arial"/>
                <a:cs typeface="Arial"/>
              </a:rPr>
              <a:t>34,0 %</a:t>
            </a:r>
          </a:p>
        </p:txBody>
      </p:sp>
      <p:sp>
        <p:nvSpPr>
          <p:cNvPr id="4" name="Rechteck 3">
            <a:extLst>
              <a:ext uri="{FF2B5EF4-FFF2-40B4-BE49-F238E27FC236}">
                <a16:creationId xmlns:a16="http://schemas.microsoft.com/office/drawing/2014/main" id="{33BE31BA-1371-4801-8BF4-91B477E8C203}"/>
              </a:ext>
            </a:extLst>
          </p:cNvPr>
          <p:cNvSpPr>
            <a:spLocks noGrp="1"/>
          </p:cNvSpPr>
          <p:nvPr/>
        </p:nvSpPr>
        <p:spPr>
          <a:xfrm>
            <a:off x="609600" y="2762250"/>
            <a:ext cx="6191250" cy="619125"/>
          </a:xfrm>
          <a:prstGeom prst="rect">
            <a:avLst/>
          </a:prstGeom>
          <a:noFill/>
          <a:ln w="0">
            <a:noFill/>
          </a:ln>
        </p:spPr>
        <p:txBody>
          <a:bodyPr wrap="square" lIns="0" tIns="0" rIns="0" bIns="0" anchor="ctr">
            <a:noAutofit/>
          </a:bodyPr>
          <a:lstStyle>
            <a:defPPr>
              <a:defRPr sz="2325" b="0">
                <a:solidFill>
                  <a:srgbClr val="102A43"/>
                </a:solidFill>
                <a:latin typeface="Arial"/>
                <a:ea typeface="Arial"/>
                <a:cs typeface="Arial"/>
              </a:defRPr>
            </a:defPPr>
          </a:lstStyle>
          <a:p>
            <a:pPr>
              <a:buNone/>
              <a:defRPr sz="2325" b="0">
                <a:solidFill>
                  <a:srgbClr val="102A43"/>
                </a:solidFill>
                <a:latin typeface="Arial"/>
                <a:ea typeface="Arial"/>
                <a:cs typeface="Arial"/>
              </a:defRPr>
            </a:pPr>
            <a:r>
              <a:rPr sz="2325" b="0">
                <a:solidFill>
                  <a:srgbClr val="102A43"/>
                </a:solidFill>
                <a:latin typeface="Arial"/>
                <a:ea typeface="Arial"/>
                <a:cs typeface="Arial"/>
              </a:rPr>
              <a:t>vorhergesagte Überlebensrate</a:t>
            </a:r>
          </a:p>
        </p:txBody>
      </p:sp>
      <p:sp>
        <p:nvSpPr>
          <p:cNvPr id="5" name="Rechteck 4">
            <a:extLst>
              <a:ext uri="{FF2B5EF4-FFF2-40B4-BE49-F238E27FC236}">
                <a16:creationId xmlns:a16="http://schemas.microsoft.com/office/drawing/2014/main" id="{C2865125-F7BB-46AA-BC60-2E3372965838}"/>
              </a:ext>
            </a:extLst>
          </p:cNvPr>
          <p:cNvSpPr>
            <a:spLocks noGrp="1"/>
          </p:cNvSpPr>
          <p:nvPr/>
        </p:nvSpPr>
        <p:spPr>
          <a:xfrm>
            <a:off x="609600" y="3952875"/>
            <a:ext cx="5524500" cy="1047750"/>
          </a:xfrm>
          <a:prstGeom prst="rect">
            <a:avLst/>
          </a:prstGeom>
          <a:noFill/>
          <a:ln w="0">
            <a:noFill/>
          </a:ln>
        </p:spPr>
        <p:txBody>
          <a:bodyPr wrap="square" lIns="0" tIns="0" rIns="0" bIns="0" anchor="ctr">
            <a:noAutofit/>
          </a:bodyPr>
          <a:lstStyle>
            <a:defPPr>
              <a:defRPr sz="2550" b="0">
                <a:solidFill>
                  <a:srgbClr val="102A43"/>
                </a:solidFill>
                <a:latin typeface="Arial"/>
                <a:ea typeface="Arial"/>
                <a:cs typeface="Arial"/>
              </a:defRPr>
            </a:defPPr>
          </a:lstStyle>
          <a:p>
            <a:pPr>
              <a:buNone/>
              <a:defRPr sz="2550" b="0">
                <a:solidFill>
                  <a:srgbClr val="102A43"/>
                </a:solidFill>
                <a:latin typeface="Arial"/>
                <a:ea typeface="Arial"/>
                <a:cs typeface="Arial"/>
              </a:defRPr>
            </a:pPr>
            <a:r>
              <a:rPr sz="2550" b="0">
                <a:solidFill>
                  <a:srgbClr val="102A43"/>
                </a:solidFill>
                <a:latin typeface="Arial"/>
                <a:ea typeface="Arial"/>
                <a:cs typeface="Arial"/>
              </a:rPr>
              <a:t>142 Überlebende</a:t>
            </a:r>
          </a:p>
          <a:p>
            <a:pPr>
              <a:buNone/>
              <a:defRPr sz="2550" b="0">
                <a:solidFill>
                  <a:srgbClr val="102A43"/>
                </a:solidFill>
                <a:latin typeface="Arial"/>
                <a:ea typeface="Arial"/>
                <a:cs typeface="Arial"/>
              </a:defRPr>
            </a:pPr>
            <a:r>
              <a:rPr sz="2550" b="0">
                <a:solidFill>
                  <a:srgbClr val="102A43"/>
                </a:solidFill>
                <a:latin typeface="Arial"/>
                <a:ea typeface="Arial"/>
                <a:cs typeface="Arial"/>
              </a:rPr>
              <a:t>276 Nichtüberlebende</a:t>
            </a:r>
          </a:p>
        </p:txBody>
      </p:sp>
      <p:sp>
        <p:nvSpPr>
          <p:cNvPr id="6" name="Rechteck 5">
            <a:extLst>
              <a:ext uri="{FF2B5EF4-FFF2-40B4-BE49-F238E27FC236}">
                <a16:creationId xmlns:a16="http://schemas.microsoft.com/office/drawing/2014/main" id="{7C31A7B0-0D07-420D-B006-4E2B9605FD1B}"/>
              </a:ext>
            </a:extLst>
          </p:cNvPr>
          <p:cNvSpPr>
            <a:spLocks noGrp="1"/>
          </p:cNvSpPr>
          <p:nvPr/>
        </p:nvSpPr>
        <p:spPr>
          <a:xfrm>
            <a:off x="7239000" y="1771650"/>
            <a:ext cx="42862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Finales Modell</a:t>
            </a:r>
          </a:p>
        </p:txBody>
      </p:sp>
      <p:sp>
        <p:nvSpPr>
          <p:cNvPr id="7" name="Rechteck 6">
            <a:extLst>
              <a:ext uri="{FF2B5EF4-FFF2-40B4-BE49-F238E27FC236}">
                <a16:creationId xmlns:a16="http://schemas.microsoft.com/office/drawing/2014/main" id="{226AE56F-223E-4910-883E-7873156E26D8}"/>
              </a:ext>
            </a:extLst>
          </p:cNvPr>
          <p:cNvSpPr>
            <a:spLocks noGrp="1"/>
          </p:cNvSpPr>
          <p:nvPr/>
        </p:nvSpPr>
        <p:spPr>
          <a:xfrm>
            <a:off x="7239000" y="2276475"/>
            <a:ext cx="42862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SVM mit RBF-Kernel, C = 1</a:t>
            </a:r>
          </a:p>
          <a:p>
            <a:pPr>
              <a:buNone/>
              <a:defRPr sz="1950" b="0">
                <a:solidFill>
                  <a:srgbClr val="102A43"/>
                </a:solidFill>
                <a:latin typeface="Arial"/>
                <a:ea typeface="Arial"/>
                <a:cs typeface="Arial"/>
              </a:defRPr>
            </a:pPr>
            <a:r>
              <a:rPr sz="1950" b="0">
                <a:solidFill>
                  <a:srgbClr val="102A43"/>
                </a:solidFill>
                <a:latin typeface="Arial"/>
                <a:ea typeface="Arial"/>
                <a:cs typeface="Arial"/>
              </a:rPr>
              <a:t>Neu trainiert auf allen 891 Fällen</a:t>
            </a:r>
          </a:p>
        </p:txBody>
      </p:sp>
      <p:sp>
        <p:nvSpPr>
          <p:cNvPr id="8" name="Rechteck 7">
            <a:extLst>
              <a:ext uri="{FF2B5EF4-FFF2-40B4-BE49-F238E27FC236}">
                <a16:creationId xmlns:a16="http://schemas.microsoft.com/office/drawing/2014/main" id="{9635D192-5C8F-42FE-9499-493DA71BA5A8}"/>
              </a:ext>
            </a:extLst>
          </p:cNvPr>
          <p:cNvSpPr>
            <a:spLocks noGrp="1"/>
          </p:cNvSpPr>
          <p:nvPr/>
        </p:nvSpPr>
        <p:spPr>
          <a:xfrm>
            <a:off x="7239000" y="3905250"/>
            <a:ext cx="42862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Ergebnisdatei</a:t>
            </a:r>
          </a:p>
        </p:txBody>
      </p:sp>
      <p:sp>
        <p:nvSpPr>
          <p:cNvPr id="9" name="Rechteck 8">
            <a:extLst>
              <a:ext uri="{FF2B5EF4-FFF2-40B4-BE49-F238E27FC236}">
                <a16:creationId xmlns:a16="http://schemas.microsoft.com/office/drawing/2014/main" id="{B29FD9D2-4529-4CB6-8353-D6384235123A}"/>
              </a:ext>
            </a:extLst>
          </p:cNvPr>
          <p:cNvSpPr>
            <a:spLocks noGrp="1"/>
          </p:cNvSpPr>
          <p:nvPr/>
        </p:nvSpPr>
        <p:spPr>
          <a:xfrm>
            <a:off x="7239000" y="4410075"/>
            <a:ext cx="42862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predictions_final.csv</a:t>
            </a:r>
          </a:p>
          <a:p>
            <a:pPr>
              <a:buNone/>
              <a:defRPr sz="1950" b="0">
                <a:solidFill>
                  <a:srgbClr val="102A43"/>
                </a:solidFill>
                <a:latin typeface="Arial"/>
                <a:ea typeface="Arial"/>
                <a:cs typeface="Arial"/>
              </a:defRPr>
            </a:pPr>
            <a:r>
              <a:rPr sz="1950" b="0">
                <a:solidFill>
                  <a:srgbClr val="102A43"/>
                </a:solidFill>
                <a:latin typeface="Arial"/>
                <a:ea typeface="Arial"/>
                <a:cs typeface="Arial"/>
              </a:rPr>
              <a:t>PassengerId und Survived</a:t>
            </a:r>
          </a:p>
        </p:txBody>
      </p:sp>
      <p:sp>
        <p:nvSpPr>
          <p:cNvPr id="10" name="Rechteck 9">
            <a:extLst>
              <a:ext uri="{FF2B5EF4-FFF2-40B4-BE49-F238E27FC236}">
                <a16:creationId xmlns:a16="http://schemas.microsoft.com/office/drawing/2014/main" id="{0EB85C02-2156-4F55-B07F-FDC1B54081AE}"/>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Die tatsächlichen Ausgänge fehlen im Testdatensatz. Die Test-Accuracy lässt sich daher nicht bestimmen.</a:t>
            </a:r>
          </a:p>
        </p:txBody>
      </p:sp>
    </p:spTree>
    <p:extLst>
      <p:ext uri="{BB962C8B-B14F-4D97-AF65-F5344CB8AC3E}">
        <p14:creationId xmlns:p14="http://schemas.microsoft.com/office/powerpoint/2010/main" val="843087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0D7550AB-1DE2-4AFC-8853-35D5A52B8D85}"/>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Fazit und Grenzen</a:t>
            </a:r>
          </a:p>
        </p:txBody>
      </p:sp>
      <p:sp>
        <p:nvSpPr>
          <p:cNvPr id="2" name="Rechteck 1">
            <a:extLst>
              <a:ext uri="{FF2B5EF4-FFF2-40B4-BE49-F238E27FC236}">
                <a16:creationId xmlns:a16="http://schemas.microsoft.com/office/drawing/2014/main" id="{B91F4852-4439-4A99-9CE5-D7D9F88895A6}"/>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19</a:t>
            </a:r>
          </a:p>
        </p:txBody>
      </p:sp>
      <p:sp>
        <p:nvSpPr>
          <p:cNvPr id="3" name="Rechteck 2">
            <a:extLst>
              <a:ext uri="{FF2B5EF4-FFF2-40B4-BE49-F238E27FC236}">
                <a16:creationId xmlns:a16="http://schemas.microsoft.com/office/drawing/2014/main" id="{0A0255C5-1339-4F35-AFE0-4F33C129A98E}"/>
              </a:ext>
            </a:extLst>
          </p:cNvPr>
          <p:cNvSpPr>
            <a:spLocks noGrp="1"/>
          </p:cNvSpPr>
          <p:nvPr/>
        </p:nvSpPr>
        <p:spPr>
          <a:xfrm>
            <a:off x="609600" y="1685925"/>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Ergebnis</a:t>
            </a:r>
          </a:p>
        </p:txBody>
      </p:sp>
      <p:sp>
        <p:nvSpPr>
          <p:cNvPr id="4" name="Rechteck 3">
            <a:extLst>
              <a:ext uri="{FF2B5EF4-FFF2-40B4-BE49-F238E27FC236}">
                <a16:creationId xmlns:a16="http://schemas.microsoft.com/office/drawing/2014/main" id="{76603B16-9BC0-4840-8987-B1F7590F9469}"/>
              </a:ext>
            </a:extLst>
          </p:cNvPr>
          <p:cNvSpPr>
            <a:spLocks noGrp="1"/>
          </p:cNvSpPr>
          <p:nvPr/>
        </p:nvSpPr>
        <p:spPr>
          <a:xfrm>
            <a:off x="609600" y="2190750"/>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Vier Modelle erreichen rund 80–82 %</a:t>
            </a:r>
          </a:p>
          <a:p>
            <a:pPr>
              <a:buNone/>
              <a:defRPr sz="1950" b="0">
                <a:solidFill>
                  <a:srgbClr val="102A43"/>
                </a:solidFill>
                <a:latin typeface="Arial"/>
                <a:ea typeface="Arial"/>
                <a:cs typeface="Arial"/>
              </a:defRPr>
            </a:pPr>
            <a:r>
              <a:rPr sz="1950" b="0">
                <a:solidFill>
                  <a:srgbClr val="102A43"/>
                </a:solidFill>
                <a:latin typeface="Arial"/>
                <a:ea typeface="Arial"/>
                <a:cs typeface="Arial"/>
              </a:rPr>
              <a:t>Accuracy. Wir wählen die SVM.</a:t>
            </a:r>
          </a:p>
        </p:txBody>
      </p:sp>
      <p:sp>
        <p:nvSpPr>
          <p:cNvPr id="5" name="Rechteck 4">
            <a:extLst>
              <a:ext uri="{FF2B5EF4-FFF2-40B4-BE49-F238E27FC236}">
                <a16:creationId xmlns:a16="http://schemas.microsoft.com/office/drawing/2014/main" id="{ED4BF3FD-FF2E-4E77-8EDA-A93A38816E43}"/>
              </a:ext>
            </a:extLst>
          </p:cNvPr>
          <p:cNvSpPr>
            <a:spLocks noGrp="1"/>
          </p:cNvSpPr>
          <p:nvPr/>
        </p:nvSpPr>
        <p:spPr>
          <a:xfrm>
            <a:off x="6419850" y="1685925"/>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Wichtigste Erkenntnis</a:t>
            </a:r>
          </a:p>
        </p:txBody>
      </p:sp>
      <p:sp>
        <p:nvSpPr>
          <p:cNvPr id="6" name="Rechteck 5">
            <a:extLst>
              <a:ext uri="{FF2B5EF4-FFF2-40B4-BE49-F238E27FC236}">
                <a16:creationId xmlns:a16="http://schemas.microsoft.com/office/drawing/2014/main" id="{FF8E28F3-2E43-49C9-B785-25C656BEEA62}"/>
              </a:ext>
            </a:extLst>
          </p:cNvPr>
          <p:cNvSpPr>
            <a:spLocks noGrp="1"/>
          </p:cNvSpPr>
          <p:nvPr/>
        </p:nvSpPr>
        <p:spPr>
          <a:xfrm>
            <a:off x="6419850" y="2190750"/>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Geschlecht und Klasse prägen</a:t>
            </a:r>
          </a:p>
          <a:p>
            <a:pPr>
              <a:buNone/>
              <a:defRPr sz="1950" b="0">
                <a:solidFill>
                  <a:srgbClr val="102A43"/>
                </a:solidFill>
                <a:latin typeface="Arial"/>
                <a:ea typeface="Arial"/>
                <a:cs typeface="Arial"/>
              </a:defRPr>
            </a:pPr>
            <a:r>
              <a:rPr sz="1950" b="0">
                <a:solidFill>
                  <a:srgbClr val="102A43"/>
                </a:solidFill>
                <a:latin typeface="Arial"/>
                <a:ea typeface="Arial"/>
                <a:cs typeface="Arial"/>
              </a:rPr>
              <a:t>Analyse und Modellentscheidungen.</a:t>
            </a:r>
          </a:p>
        </p:txBody>
      </p:sp>
      <p:sp>
        <p:nvSpPr>
          <p:cNvPr id="7" name="Rechteck 6">
            <a:extLst>
              <a:ext uri="{FF2B5EF4-FFF2-40B4-BE49-F238E27FC236}">
                <a16:creationId xmlns:a16="http://schemas.microsoft.com/office/drawing/2014/main" id="{B21A100F-8A84-4DD8-8DBD-D23BB2492BA2}"/>
              </a:ext>
            </a:extLst>
          </p:cNvPr>
          <p:cNvSpPr>
            <a:spLocks noGrp="1"/>
          </p:cNvSpPr>
          <p:nvPr/>
        </p:nvSpPr>
        <p:spPr>
          <a:xfrm>
            <a:off x="609600" y="3914775"/>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Grenzen</a:t>
            </a:r>
          </a:p>
        </p:txBody>
      </p:sp>
      <p:sp>
        <p:nvSpPr>
          <p:cNvPr id="8" name="Rechteck 7">
            <a:extLst>
              <a:ext uri="{FF2B5EF4-FFF2-40B4-BE49-F238E27FC236}">
                <a16:creationId xmlns:a16="http://schemas.microsoft.com/office/drawing/2014/main" id="{BD6F063C-0396-49D3-896E-EC1F69A37B2A}"/>
              </a:ext>
            </a:extLst>
          </p:cNvPr>
          <p:cNvSpPr>
            <a:spLocks noGrp="1"/>
          </p:cNvSpPr>
          <p:nvPr/>
        </p:nvSpPr>
        <p:spPr>
          <a:xfrm>
            <a:off x="609600" y="4419600"/>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Kleine Validierungsstichprobe und</a:t>
            </a:r>
          </a:p>
          <a:p>
            <a:pPr>
              <a:buNone/>
              <a:defRPr sz="1950" b="0">
                <a:solidFill>
                  <a:srgbClr val="102A43"/>
                </a:solidFill>
                <a:latin typeface="Arial"/>
                <a:ea typeface="Arial"/>
                <a:cs typeface="Arial"/>
              </a:defRPr>
            </a:pPr>
            <a:r>
              <a:rPr sz="1950" b="0">
                <a:solidFill>
                  <a:srgbClr val="102A43"/>
                </a:solidFill>
                <a:latin typeface="Arial"/>
                <a:ea typeface="Arial"/>
                <a:cs typeface="Arial"/>
              </a:rPr>
              <a:t>wiederholte Nutzung zur Modellauswahl</a:t>
            </a:r>
          </a:p>
        </p:txBody>
      </p:sp>
      <p:sp>
        <p:nvSpPr>
          <p:cNvPr id="9" name="Rechteck 8">
            <a:extLst>
              <a:ext uri="{FF2B5EF4-FFF2-40B4-BE49-F238E27FC236}">
                <a16:creationId xmlns:a16="http://schemas.microsoft.com/office/drawing/2014/main" id="{2E769690-AB73-45E9-95F5-0527BF6883C8}"/>
              </a:ext>
            </a:extLst>
          </p:cNvPr>
          <p:cNvSpPr>
            <a:spLocks noGrp="1"/>
          </p:cNvSpPr>
          <p:nvPr/>
        </p:nvSpPr>
        <p:spPr>
          <a:xfrm>
            <a:off x="6419850" y="3914775"/>
            <a:ext cx="5238750" cy="428625"/>
          </a:xfrm>
          <a:prstGeom prst="rect">
            <a:avLst/>
          </a:prstGeom>
          <a:noFill/>
          <a:ln w="0">
            <a:noFill/>
          </a:ln>
        </p:spPr>
        <p:txBody>
          <a:bodyPr wrap="square" lIns="0" tIns="0" rIns="0" bIns="0" anchor="ctr">
            <a:noAutofit/>
          </a:bodyPr>
          <a:lstStyle>
            <a:defPPr>
              <a:defRPr sz="2175" b="1">
                <a:solidFill>
                  <a:srgbClr val="087F8C"/>
                </a:solidFill>
                <a:latin typeface="Arial"/>
                <a:ea typeface="Arial"/>
                <a:cs typeface="Arial"/>
              </a:defRPr>
            </a:defPPr>
          </a:lstStyle>
          <a:p>
            <a:pPr>
              <a:buNone/>
              <a:defRPr sz="2175" b="1">
                <a:solidFill>
                  <a:srgbClr val="087F8C"/>
                </a:solidFill>
                <a:latin typeface="Arial"/>
                <a:ea typeface="Arial"/>
                <a:cs typeface="Arial"/>
              </a:defRPr>
            </a:pPr>
            <a:r>
              <a:rPr sz="2175" b="1">
                <a:solidFill>
                  <a:srgbClr val="087F8C"/>
                </a:solidFill>
                <a:latin typeface="Arial"/>
                <a:ea typeface="Arial"/>
                <a:cs typeface="Arial"/>
              </a:rPr>
              <a:t>Nächster Schritt</a:t>
            </a:r>
          </a:p>
        </p:txBody>
      </p:sp>
      <p:sp>
        <p:nvSpPr>
          <p:cNvPr id="10" name="Rechteck 9">
            <a:extLst>
              <a:ext uri="{FF2B5EF4-FFF2-40B4-BE49-F238E27FC236}">
                <a16:creationId xmlns:a16="http://schemas.microsoft.com/office/drawing/2014/main" id="{73CAF24B-452A-4315-BBAE-9A40372DF4B4}"/>
              </a:ext>
            </a:extLst>
          </p:cNvPr>
          <p:cNvSpPr>
            <a:spLocks noGrp="1"/>
          </p:cNvSpPr>
          <p:nvPr/>
        </p:nvSpPr>
        <p:spPr>
          <a:xfrm>
            <a:off x="6419850" y="4419600"/>
            <a:ext cx="5238750" cy="1047750"/>
          </a:xfrm>
          <a:prstGeom prst="rect">
            <a:avLst/>
          </a:prstGeom>
          <a:noFill/>
          <a:ln w="0">
            <a:noFill/>
          </a:ln>
        </p:spPr>
        <p:txBody>
          <a:bodyPr wrap="square" lIns="0" tIns="0" rIns="0" bIns="0" anchor="ctr">
            <a:noAutofit/>
          </a:bodyPr>
          <a:lstStyle>
            <a:defPPr>
              <a:defRPr sz="1950" b="0">
                <a:solidFill>
                  <a:srgbClr val="102A43"/>
                </a:solidFill>
                <a:latin typeface="Arial"/>
                <a:ea typeface="Arial"/>
                <a:cs typeface="Arial"/>
              </a:defRPr>
            </a:defPPr>
          </a:lstStyle>
          <a:p>
            <a:pPr>
              <a:buNone/>
              <a:defRPr sz="1950" b="0">
                <a:solidFill>
                  <a:srgbClr val="102A43"/>
                </a:solidFill>
                <a:latin typeface="Arial"/>
                <a:ea typeface="Arial"/>
                <a:cs typeface="Arial"/>
              </a:defRPr>
            </a:pPr>
            <a:r>
              <a:rPr sz="1950" b="0">
                <a:solidFill>
                  <a:srgbClr val="102A43"/>
                </a:solidFill>
                <a:latin typeface="Arial"/>
                <a:ea typeface="Arial"/>
                <a:cs typeface="Arial"/>
              </a:rPr>
              <a:t>Titel aus Namen prüfen</a:t>
            </a:r>
          </a:p>
          <a:p>
            <a:pPr>
              <a:buNone/>
              <a:defRPr sz="1950" b="0">
                <a:solidFill>
                  <a:srgbClr val="102A43"/>
                </a:solidFill>
                <a:latin typeface="Arial"/>
                <a:ea typeface="Arial"/>
                <a:cs typeface="Arial"/>
              </a:defRPr>
            </a:pPr>
            <a:r>
              <a:rPr sz="1950" b="0">
                <a:solidFill>
                  <a:srgbClr val="102A43"/>
                </a:solidFill>
                <a:latin typeface="Arial"/>
                <a:ea typeface="Arial"/>
                <a:cs typeface="Arial"/>
              </a:rPr>
              <a:t>und unabhängig neu validieren</a:t>
            </a:r>
          </a:p>
        </p:txBody>
      </p:sp>
      <p:sp>
        <p:nvSpPr>
          <p:cNvPr id="11" name="Rechteck 10">
            <a:extLst>
              <a:ext uri="{FF2B5EF4-FFF2-40B4-BE49-F238E27FC236}">
                <a16:creationId xmlns:a16="http://schemas.microsoft.com/office/drawing/2014/main" id="{A95C363F-A09B-44E8-8062-4FBFB8EC34AC}"/>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Überlebende Männer bleiben besonders schwer erkennbar. Die Vorhersage ist keine kausale Erklärung.</a:t>
            </a:r>
          </a:p>
        </p:txBody>
      </p:sp>
    </p:spTree>
    <p:extLst>
      <p:ext uri="{BB962C8B-B14F-4D97-AF65-F5344CB8AC3E}">
        <p14:creationId xmlns:p14="http://schemas.microsoft.com/office/powerpoint/2010/main" val="7753233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F29817D3-3CC8-4FF9-999D-1B9750146595}"/>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Anhang: Bedeutung der Kennzahlen</a:t>
            </a:r>
          </a:p>
        </p:txBody>
      </p:sp>
      <p:sp>
        <p:nvSpPr>
          <p:cNvPr id="2" name="Rechteck 1">
            <a:extLst>
              <a:ext uri="{FF2B5EF4-FFF2-40B4-BE49-F238E27FC236}">
                <a16:creationId xmlns:a16="http://schemas.microsoft.com/office/drawing/2014/main" id="{6709276E-72F2-43DC-9251-1CEDA3CCD257}"/>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20</a:t>
            </a:r>
          </a:p>
        </p:txBody>
      </p:sp>
      <p:graphicFrame>
        <p:nvGraphicFramePr>
          <p:cNvPr id="3" name="Tabelle 2">
            <a:extLst>
              <a:ext uri="{FF2B5EF4-FFF2-40B4-BE49-F238E27FC236}">
                <a16:creationId xmlns:a16="http://schemas.microsoft.com/office/drawing/2014/main" id="{321A3D8C-6372-45EB-80A7-E69174445E57}"/>
              </a:ext>
            </a:extLst>
          </p:cNvPr>
          <p:cNvGraphicFramePr/>
          <p:nvPr/>
        </p:nvGraphicFramePr>
        <p:xfrm>
          <a:off x="609600" y="1685925"/>
          <a:ext cx="10953750" cy="3714750"/>
        </p:xfrm>
        <a:graphic>
          <a:graphicData uri="http://schemas.openxmlformats.org/drawingml/2006/table">
            <a:tbl>
              <a:tblPr/>
              <a:tblGrid>
                <a:gridCol w="2381250">
                  <a:extLst>
                    <a:ext uri="{9D8B030D-6E8A-4147-A177-3AD203B41FA5}">
                      <a16:colId xmlns:a16="http://schemas.microsoft.com/office/drawing/2014/main" val="20000"/>
                    </a:ext>
                  </a:extLst>
                </a:gridCol>
                <a:gridCol w="8572500">
                  <a:extLst>
                    <a:ext uri="{9D8B030D-6E8A-4147-A177-3AD203B41FA5}">
                      <a16:colId xmlns:a16="http://schemas.microsoft.com/office/drawing/2014/main" val="20001"/>
                    </a:ext>
                  </a:extLst>
                </a:gridCol>
              </a:tblGrid>
              <a:tr h="619125">
                <a:tc>
                  <a:txBody>
                    <a:bodyPr/>
                    <a:lstStyle/>
                    <a:p>
                      <a:r>
                        <a:rPr sz="1875" b="1">
                          <a:solidFill>
                            <a:srgbClr val="FFFFFF"/>
                          </a:solidFill>
                          <a:latin typeface="Arial"/>
                          <a:ea typeface="Arial"/>
                          <a:cs typeface="Arial"/>
                        </a:rPr>
                        <a:t>Kennzahl</a:t>
                      </a:r>
                    </a:p>
                  </a:txBody>
                  <a:tcPr anchor="ctr">
                    <a:lnL w="9525">
                      <a:solidFill>
                        <a:srgbClr val="DCE7EC"/>
                      </a:solidFill>
                      <a:prstDash val="soli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tc>
                  <a:txBody>
                    <a:bodyPr/>
                    <a:lstStyle/>
                    <a:p>
                      <a:r>
                        <a:rPr sz="1875" b="1">
                          <a:solidFill>
                            <a:srgbClr val="FFFFFF"/>
                          </a:solidFill>
                          <a:latin typeface="Arial"/>
                          <a:ea typeface="Arial"/>
                          <a:cs typeface="Arial"/>
                        </a:rPr>
                        <a:t>Bedeutung</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a:solidFill>
                        <a:srgbClr val="DCE7EC"/>
                      </a:solidFill>
                      <a:prstDash val="solid"/>
                    </a:lnT>
                    <a:lnB w="9525">
                      <a:solidFill>
                        <a:srgbClr val="DCE7EC"/>
                      </a:solidFill>
                      <a:prstDash val="solid"/>
                    </a:lnB>
                    <a:solidFill>
                      <a:srgbClr val="102A43"/>
                    </a:solidFill>
                  </a:tcPr>
                </a:tc>
                <a:extLst>
                  <a:ext uri="{0D108BD9-81ED-4DB2-BD59-A6C34878D82A}">
                    <a16:rowId xmlns:a16="http://schemas.microsoft.com/office/drawing/2014/main" val="10000"/>
                  </a:ext>
                </a:extLst>
              </a:tr>
              <a:tr h="619125">
                <a:tc>
                  <a:txBody>
                    <a:bodyPr/>
                    <a:lstStyle/>
                    <a:p>
                      <a:r>
                        <a:rPr sz="1875" b="0">
                          <a:solidFill>
                            <a:srgbClr val="102A43"/>
                          </a:solidFill>
                          <a:latin typeface="Arial"/>
                          <a:ea typeface="Arial"/>
                          <a:cs typeface="Arial"/>
                        </a:rPr>
                        <a:t>Accuracy</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Anteil aller korrekten Vorhersagen</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875" b="0">
                          <a:solidFill>
                            <a:srgbClr val="102A43"/>
                          </a:solidFill>
                          <a:latin typeface="Arial"/>
                          <a:ea typeface="Arial"/>
                          <a:cs typeface="Arial"/>
                        </a:rPr>
                        <a:t>Precision</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75" b="0">
                          <a:solidFill>
                            <a:srgbClr val="102A43"/>
                          </a:solidFill>
                          <a:latin typeface="Arial"/>
                          <a:ea typeface="Arial"/>
                          <a:cs typeface="Arial"/>
                        </a:rPr>
                        <a:t>Anteil tatsächlicher Überlebender unter den als überlebt Vorhergesagten</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2"/>
                  </a:ext>
                </a:extLst>
              </a:tr>
              <a:tr h="619125">
                <a:tc>
                  <a:txBody>
                    <a:bodyPr/>
                    <a:lstStyle/>
                    <a:p>
                      <a:r>
                        <a:rPr sz="1875" b="0">
                          <a:solidFill>
                            <a:srgbClr val="102A43"/>
                          </a:solidFill>
                          <a:latin typeface="Arial"/>
                          <a:ea typeface="Arial"/>
                          <a:cs typeface="Arial"/>
                        </a:rPr>
                        <a:t>Recall</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Anteil erkannter Überlebender an allen tatsächlichen Überlebenden</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875" b="0">
                          <a:solidFill>
                            <a:srgbClr val="102A43"/>
                          </a:solidFill>
                          <a:latin typeface="Arial"/>
                          <a:ea typeface="Arial"/>
                          <a:cs typeface="Arial"/>
                        </a:rPr>
                        <a:t>F1</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tc>
                  <a:txBody>
                    <a:bodyPr/>
                    <a:lstStyle/>
                    <a:p>
                      <a:r>
                        <a:rPr sz="1875" b="0">
                          <a:solidFill>
                            <a:srgbClr val="102A43"/>
                          </a:solidFill>
                          <a:latin typeface="Arial"/>
                          <a:ea typeface="Arial"/>
                          <a:cs typeface="Arial"/>
                        </a:rPr>
                        <a:t>Harmonisches Mittel aus Precision und Recall</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7F8FA"/>
                    </a:solidFill>
                  </a:tcPr>
                </a:tc>
                <a:extLst>
                  <a:ext uri="{0D108BD9-81ED-4DB2-BD59-A6C34878D82A}">
                    <a16:rowId xmlns:a16="http://schemas.microsoft.com/office/drawing/2014/main" val="10004"/>
                  </a:ext>
                </a:extLst>
              </a:tr>
              <a:tr h="619125">
                <a:tc>
                  <a:txBody>
                    <a:bodyPr/>
                    <a:lstStyle/>
                    <a:p>
                      <a:r>
                        <a:rPr sz="1875" b="0">
                          <a:solidFill>
                            <a:srgbClr val="102A43"/>
                          </a:solidFill>
                          <a:latin typeface="Arial"/>
                          <a:ea typeface="Arial"/>
                          <a:cs typeface="Arial"/>
                        </a:rPr>
                        <a:t>ROC-AUC</a:t>
                      </a:r>
                    </a:p>
                  </a:txBody>
                  <a:tcPr anchor="ctr">
                    <a:lnL w="9525">
                      <a:solidFill>
                        <a:srgbClr val="DCE7EC"/>
                      </a:solidFill>
                      <a:prstDash val="soli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tc>
                  <a:txBody>
                    <a:bodyPr/>
                    <a:lstStyle/>
                    <a:p>
                      <a:r>
                        <a:rPr sz="1875" b="0">
                          <a:solidFill>
                            <a:srgbClr val="102A43"/>
                          </a:solidFill>
                          <a:latin typeface="Arial"/>
                          <a:ea typeface="Arial"/>
                          <a:cs typeface="Arial"/>
                        </a:rPr>
                        <a:t>Trennfähigkeit der Scores über verschiedene Schwellen</a:t>
                      </a:r>
                    </a:p>
                  </a:txBody>
                  <a:tcPr anchor="ctr">
                    <a:lnL w="9525" cap="flat" cmpd="sng" algn="ctr">
                      <a:solidFill>
                        <a:srgbClr val="DCE7EC"/>
                      </a:solidFill>
                      <a:prstDash val="solid"/>
                      <a:round/>
                      <a:headEnd type="none" w="med" len="med"/>
                      <a:tailEnd type="none" w="med" len="med"/>
                    </a:lnL>
                    <a:lnR w="9525">
                      <a:solidFill>
                        <a:srgbClr val="DCE7EC"/>
                      </a:solidFill>
                      <a:prstDash val="solid"/>
                    </a:lnR>
                    <a:lnT w="9525" cap="flat" cmpd="sng" algn="ctr">
                      <a:solidFill>
                        <a:srgbClr val="DCE7EC"/>
                      </a:solidFill>
                      <a:prstDash val="solid"/>
                      <a:round/>
                      <a:headEnd type="none" w="med" len="med"/>
                      <a:tailEnd type="none" w="med" len="med"/>
                    </a:lnT>
                    <a:lnB w="9525">
                      <a:solidFill>
                        <a:srgbClr val="DCE7EC"/>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Rechteck 3">
            <a:extLst>
              <a:ext uri="{FF2B5EF4-FFF2-40B4-BE49-F238E27FC236}">
                <a16:creationId xmlns:a16="http://schemas.microsoft.com/office/drawing/2014/main" id="{08A9A0BF-4D03-4287-B5DB-35E47D7E97E7}"/>
              </a:ext>
            </a:extLst>
          </p:cNvPr>
          <p:cNvSpPr>
            <a:spLocks noGrp="1"/>
          </p:cNvSpPr>
          <p:nvPr/>
        </p:nvSpPr>
        <p:spPr>
          <a:xfrm>
            <a:off x="609600" y="5819775"/>
            <a:ext cx="10715625" cy="428625"/>
          </a:xfrm>
          <a:prstGeom prst="rect">
            <a:avLst/>
          </a:prstGeom>
          <a:noFill/>
          <a:ln w="0">
            <a:noFill/>
          </a:ln>
        </p:spPr>
        <p:txBody>
          <a:bodyPr wrap="square" lIns="0" tIns="0" rIns="0" bIns="0" anchor="ctr">
            <a:noAutofit/>
          </a:bodyPr>
          <a:lstStyle>
            <a:defPPr>
              <a:defRPr sz="1500" b="0">
                <a:solidFill>
                  <a:srgbClr val="52677B"/>
                </a:solidFill>
                <a:latin typeface="Arial"/>
                <a:ea typeface="Arial"/>
                <a:cs typeface="Arial"/>
              </a:defRPr>
            </a:defPPr>
          </a:lstStyle>
          <a:p>
            <a:pPr>
              <a:buNone/>
              <a:defRPr sz="1500" b="0">
                <a:solidFill>
                  <a:srgbClr val="52677B"/>
                </a:solidFill>
                <a:latin typeface="Arial"/>
                <a:ea typeface="Arial"/>
                <a:cs typeface="Arial"/>
              </a:defRPr>
            </a:pPr>
            <a:r>
              <a:rPr sz="1500" b="0">
                <a:solidFill>
                  <a:srgbClr val="52677B"/>
                </a:solidFill>
                <a:latin typeface="Arial"/>
                <a:ea typeface="Arial"/>
                <a:cs typeface="Arial"/>
              </a:rPr>
              <a:t>SVM-Scores stammen aus decision_function und sind keine kalibrierten Wahrscheinlichkeiten.</a:t>
            </a:r>
          </a:p>
        </p:txBody>
      </p:sp>
    </p:spTree>
    <p:extLst>
      <p:ext uri="{BB962C8B-B14F-4D97-AF65-F5344CB8AC3E}">
        <p14:creationId xmlns:p14="http://schemas.microsoft.com/office/powerpoint/2010/main" val="681369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F1DC734F-2C71-4548-86E7-763059214277}"/>
              </a:ext>
            </a:extLst>
          </p:cNvPr>
          <p:cNvSpPr>
            <a:spLocks noGrp="1"/>
          </p:cNvSpPr>
          <p:nvPr/>
        </p:nvSpPr>
        <p:spPr>
          <a:xfrm>
            <a:off x="609600" y="400050"/>
            <a:ext cx="10953750" cy="952500"/>
          </a:xfrm>
          <a:prstGeom prst="rect">
            <a:avLst/>
          </a:prstGeom>
          <a:noFill/>
          <a:ln w="0">
            <a:noFill/>
          </a:ln>
        </p:spPr>
        <p:txBody>
          <a:bodyPr wrap="square" lIns="0" tIns="0" rIns="0" bIns="0" anchor="ctr">
            <a:noAutofit/>
          </a:bodyPr>
          <a:lstStyle>
            <a:defPPr>
              <a:defRPr sz="3150" b="1">
                <a:solidFill>
                  <a:srgbClr val="102A43"/>
                </a:solidFill>
                <a:latin typeface="Arial"/>
                <a:ea typeface="Arial"/>
                <a:cs typeface="Arial"/>
              </a:defRPr>
            </a:defPPr>
          </a:lstStyle>
          <a:p>
            <a:pPr>
              <a:buNone/>
              <a:defRPr sz="3150" b="1">
                <a:solidFill>
                  <a:srgbClr val="102A43"/>
                </a:solidFill>
                <a:latin typeface="Arial"/>
                <a:ea typeface="Arial"/>
                <a:cs typeface="Arial"/>
              </a:defRPr>
            </a:pPr>
            <a:r>
              <a:rPr sz="3150" b="1">
                <a:solidFill>
                  <a:srgbClr val="102A43"/>
                </a:solidFill>
                <a:latin typeface="Arial"/>
                <a:ea typeface="Arial"/>
                <a:cs typeface="Arial"/>
              </a:rPr>
              <a:t>Anhang: Quellen und KI-Unterstützung</a:t>
            </a:r>
          </a:p>
        </p:txBody>
      </p:sp>
      <p:sp>
        <p:nvSpPr>
          <p:cNvPr id="2" name="Rechteck 1">
            <a:extLst>
              <a:ext uri="{FF2B5EF4-FFF2-40B4-BE49-F238E27FC236}">
                <a16:creationId xmlns:a16="http://schemas.microsoft.com/office/drawing/2014/main" id="{37583984-951A-49EE-94DF-3C622AEA0996}"/>
              </a:ext>
            </a:extLst>
          </p:cNvPr>
          <p:cNvSpPr>
            <a:spLocks noGrp="1"/>
          </p:cNvSpPr>
          <p:nvPr/>
        </p:nvSpPr>
        <p:spPr>
          <a:xfrm>
            <a:off x="11049000" y="6362700"/>
            <a:ext cx="523875" cy="238125"/>
          </a:xfrm>
          <a:prstGeom prst="rect">
            <a:avLst/>
          </a:prstGeom>
          <a:noFill/>
          <a:ln w="0">
            <a:noFill/>
          </a:ln>
        </p:spPr>
        <p:txBody>
          <a:bodyPr wrap="square" lIns="0" tIns="0" rIns="0" bIns="0" anchor="ctr">
            <a:noAutofit/>
          </a:bodyPr>
          <a:lstStyle>
            <a:defPPr>
              <a:defRPr sz="1275" b="0">
                <a:solidFill>
                  <a:srgbClr val="52677B"/>
                </a:solidFill>
                <a:latin typeface="Arial"/>
                <a:ea typeface="Arial"/>
                <a:cs typeface="Arial"/>
              </a:defRPr>
            </a:defPPr>
          </a:lstStyle>
          <a:p>
            <a:pPr>
              <a:buNone/>
              <a:defRPr sz="1275" b="0">
                <a:solidFill>
                  <a:srgbClr val="52677B"/>
                </a:solidFill>
                <a:latin typeface="Arial"/>
                <a:ea typeface="Arial"/>
                <a:cs typeface="Arial"/>
              </a:defRPr>
            </a:pPr>
            <a:r>
              <a:rPr sz="1275" b="0">
                <a:solidFill>
                  <a:srgbClr val="52677B"/>
                </a:solidFill>
                <a:latin typeface="Arial"/>
                <a:ea typeface="Arial"/>
                <a:cs typeface="Arial"/>
              </a:rPr>
              <a:t>21</a:t>
            </a:r>
          </a:p>
        </p:txBody>
      </p:sp>
      <p:sp>
        <p:nvSpPr>
          <p:cNvPr id="3" name="Rechteck 2">
            <a:extLst>
              <a:ext uri="{FF2B5EF4-FFF2-40B4-BE49-F238E27FC236}">
                <a16:creationId xmlns:a16="http://schemas.microsoft.com/office/drawing/2014/main" id="{9BDEFD7E-ED6C-4EB9-9D46-3380FE784F38}"/>
              </a:ext>
            </a:extLst>
          </p:cNvPr>
          <p:cNvSpPr>
            <a:spLocks noGrp="1"/>
          </p:cNvSpPr>
          <p:nvPr/>
        </p:nvSpPr>
        <p:spPr>
          <a:xfrm>
            <a:off x="609600" y="1619250"/>
            <a:ext cx="10763250" cy="400050"/>
          </a:xfrm>
          <a:prstGeom prst="rect">
            <a:avLst/>
          </a:prstGeom>
          <a:noFill/>
          <a:ln w="0">
            <a:noFill/>
          </a:ln>
        </p:spPr>
        <p:txBody>
          <a:bodyPr wrap="square" lIns="0" tIns="0" rIns="0" bIns="0" anchor="ctr">
            <a:noAutofit/>
          </a:bodyPr>
          <a:lstStyle>
            <a:defPPr>
              <a:defRPr sz="2100" b="1">
                <a:solidFill>
                  <a:srgbClr val="087F8C"/>
                </a:solidFill>
                <a:latin typeface="Arial"/>
                <a:ea typeface="Arial"/>
                <a:cs typeface="Arial"/>
              </a:defRPr>
            </a:defPPr>
          </a:lstStyle>
          <a:p>
            <a:pPr>
              <a:buNone/>
              <a:defRPr sz="2100" b="1">
                <a:solidFill>
                  <a:srgbClr val="087F8C"/>
                </a:solidFill>
                <a:latin typeface="Arial"/>
                <a:ea typeface="Arial"/>
                <a:cs typeface="Arial"/>
              </a:defRPr>
            </a:pPr>
            <a:r>
              <a:rPr sz="2100" b="1">
                <a:solidFill>
                  <a:srgbClr val="087F8C"/>
                </a:solidFill>
                <a:latin typeface="Arial"/>
                <a:ea typeface="Arial"/>
                <a:cs typeface="Arial"/>
              </a:rPr>
              <a:t>Datengrundlage</a:t>
            </a:r>
          </a:p>
        </p:txBody>
      </p:sp>
      <p:sp>
        <p:nvSpPr>
          <p:cNvPr id="4" name="Rechteck 3">
            <a:extLst>
              <a:ext uri="{FF2B5EF4-FFF2-40B4-BE49-F238E27FC236}">
                <a16:creationId xmlns:a16="http://schemas.microsoft.com/office/drawing/2014/main" id="{8D436679-B238-41F9-8446-B5C7AFE9E90F}"/>
              </a:ext>
            </a:extLst>
          </p:cNvPr>
          <p:cNvSpPr>
            <a:spLocks noGrp="1"/>
          </p:cNvSpPr>
          <p:nvPr/>
        </p:nvSpPr>
        <p:spPr>
          <a:xfrm>
            <a:off x="609600" y="2085975"/>
            <a:ext cx="10763250" cy="476250"/>
          </a:xfrm>
          <a:prstGeom prst="rect">
            <a:avLst/>
          </a:prstGeom>
          <a:noFill/>
          <a:ln w="0">
            <a:noFill/>
          </a:ln>
        </p:spPr>
        <p:txBody>
          <a:bodyPr wrap="square" lIns="0" tIns="0" rIns="0" bIns="0" anchor="ctr">
            <a:noAutofit/>
          </a:bodyPr>
          <a:lstStyle>
            <a:defPPr>
              <a:defRPr sz="1875" b="0">
                <a:solidFill>
                  <a:srgbClr val="102A43"/>
                </a:solidFill>
                <a:latin typeface="Arial"/>
                <a:ea typeface="Arial"/>
                <a:cs typeface="Arial"/>
              </a:defRPr>
            </a:defPPr>
          </a:lstStyle>
          <a:p>
            <a:pPr>
              <a:buNone/>
              <a:defRPr sz="1875" b="0">
                <a:solidFill>
                  <a:srgbClr val="102A43"/>
                </a:solidFill>
                <a:latin typeface="Arial"/>
                <a:ea typeface="Arial"/>
                <a:cs typeface="Arial"/>
              </a:defRPr>
            </a:pPr>
            <a:r>
              <a:rPr sz="1875" b="0">
                <a:solidFill>
                  <a:srgbClr val="102A43"/>
                </a:solidFill>
                <a:latin typeface="Arial"/>
                <a:ea typeface="Arial"/>
                <a:cs typeface="Arial"/>
              </a:rPr>
              <a:t>Titanic-Notebook, train.csv, test.csv und predictions_final.csv</a:t>
            </a:r>
          </a:p>
        </p:txBody>
      </p:sp>
      <p:sp>
        <p:nvSpPr>
          <p:cNvPr id="5" name="Rechteck 4">
            <a:extLst>
              <a:ext uri="{FF2B5EF4-FFF2-40B4-BE49-F238E27FC236}">
                <a16:creationId xmlns:a16="http://schemas.microsoft.com/office/drawing/2014/main" id="{3FAFAA15-97F8-4707-88DE-6A0757E8C2F7}"/>
              </a:ext>
            </a:extLst>
          </p:cNvPr>
          <p:cNvSpPr>
            <a:spLocks noGrp="1"/>
          </p:cNvSpPr>
          <p:nvPr/>
        </p:nvSpPr>
        <p:spPr>
          <a:xfrm>
            <a:off x="609600" y="2876550"/>
            <a:ext cx="10763250" cy="438150"/>
          </a:xfrm>
          <a:prstGeom prst="rect">
            <a:avLst/>
          </a:prstGeom>
          <a:noFill/>
          <a:ln w="0">
            <a:noFill/>
          </a:ln>
        </p:spPr>
        <p:txBody>
          <a:bodyPr wrap="square" lIns="0" tIns="0" rIns="0" bIns="0" anchor="ctr">
            <a:noAutofit/>
          </a:bodyPr>
          <a:lstStyle>
            <a:defPPr>
              <a:defRPr sz="2025" b="1">
                <a:solidFill>
                  <a:srgbClr val="087F8C"/>
                </a:solidFill>
                <a:latin typeface="Arial"/>
                <a:ea typeface="Arial"/>
                <a:cs typeface="Arial"/>
              </a:defRPr>
            </a:defPPr>
          </a:lstStyle>
          <a:p>
            <a:pPr>
              <a:buNone/>
              <a:defRPr sz="2025" b="1">
                <a:solidFill>
                  <a:srgbClr val="087F8C"/>
                </a:solidFill>
                <a:latin typeface="Arial"/>
                <a:ea typeface="Arial"/>
                <a:cs typeface="Arial"/>
              </a:defRPr>
            </a:pPr>
            <a:r>
              <a:rPr sz="2025" b="1">
                <a:solidFill>
                  <a:srgbClr val="087F8C"/>
                </a:solidFill>
                <a:latin typeface="Arial"/>
                <a:ea typeface="Arial"/>
                <a:cs typeface="Arial"/>
              </a:rPr>
              <a:t>Dokumentierte Unterstützung im Notebook: Claude (Anthropic)</a:t>
            </a:r>
          </a:p>
        </p:txBody>
      </p:sp>
      <p:sp>
        <p:nvSpPr>
          <p:cNvPr id="6" name="Rechteck 5">
            <a:extLst>
              <a:ext uri="{FF2B5EF4-FFF2-40B4-BE49-F238E27FC236}">
                <a16:creationId xmlns:a16="http://schemas.microsoft.com/office/drawing/2014/main" id="{00995AC7-3F85-4B08-9B25-7B471E61A985}"/>
              </a:ext>
            </a:extLst>
          </p:cNvPr>
          <p:cNvSpPr>
            <a:spLocks noGrp="1"/>
          </p:cNvSpPr>
          <p:nvPr/>
        </p:nvSpPr>
        <p:spPr>
          <a:xfrm>
            <a:off x="609600" y="3438525"/>
            <a:ext cx="10763250" cy="1095375"/>
          </a:xfrm>
          <a:prstGeom prst="rect">
            <a:avLst/>
          </a:prstGeom>
          <a:noFill/>
          <a:ln w="0">
            <a:noFill/>
          </a:ln>
        </p:spPr>
        <p:txBody>
          <a:bodyPr wrap="square" lIns="0" tIns="0" rIns="0" bIns="0" anchor="ctr">
            <a:noAutofit/>
          </a:bodyPr>
          <a:lstStyle>
            <a:defPPr>
              <a:defRPr sz="1725" b="0">
                <a:solidFill>
                  <a:srgbClr val="102A43"/>
                </a:solidFill>
                <a:latin typeface="Arial"/>
                <a:ea typeface="Arial"/>
                <a:cs typeface="Arial"/>
              </a:defRPr>
            </a:defPPr>
          </a:lstStyle>
          <a:p>
            <a:pPr>
              <a:buNone/>
              <a:defRPr sz="1725" b="0">
                <a:solidFill>
                  <a:srgbClr val="102A43"/>
                </a:solidFill>
                <a:latin typeface="Arial"/>
                <a:ea typeface="Arial"/>
                <a:cs typeface="Arial"/>
              </a:defRPr>
            </a:pPr>
            <a:r>
              <a:rPr sz="1725" b="0">
                <a:solidFill>
                  <a:srgbClr val="102A43"/>
                </a:solidFill>
                <a:latin typeface="Arial"/>
                <a:ea typeface="Arial"/>
                <a:cs typeface="Arial"/>
              </a:rPr>
              <a:t>Random Forest: „Erstell mir mein Random Forest im gleichen Stil wie die anderen [logistische Regression, SVM], mit Begründungen für Entscheidungen, die simpel und menschlich sind, und verwende dasselbe Preprocessing wie die anderen, damit die Ergebnisse vergleichbar sind.“</a:t>
            </a:r>
          </a:p>
        </p:txBody>
      </p:sp>
      <p:sp>
        <p:nvSpPr>
          <p:cNvPr id="7" name="Rechteck 6">
            <a:extLst>
              <a:ext uri="{FF2B5EF4-FFF2-40B4-BE49-F238E27FC236}">
                <a16:creationId xmlns:a16="http://schemas.microsoft.com/office/drawing/2014/main" id="{0F21CE76-36DE-48FC-AB73-C1E94B394E35}"/>
              </a:ext>
            </a:extLst>
          </p:cNvPr>
          <p:cNvSpPr>
            <a:spLocks noGrp="1"/>
          </p:cNvSpPr>
          <p:nvPr/>
        </p:nvSpPr>
        <p:spPr>
          <a:xfrm>
            <a:off x="609600" y="4667250"/>
            <a:ext cx="10763250" cy="571500"/>
          </a:xfrm>
          <a:prstGeom prst="rect">
            <a:avLst/>
          </a:prstGeom>
          <a:noFill/>
          <a:ln w="0">
            <a:noFill/>
          </a:ln>
        </p:spPr>
        <p:txBody>
          <a:bodyPr wrap="square" lIns="0" tIns="0" rIns="0" bIns="0" anchor="ctr">
            <a:noAutofit/>
          </a:bodyPr>
          <a:lstStyle>
            <a:defPPr>
              <a:defRPr sz="1725" b="0">
                <a:solidFill>
                  <a:srgbClr val="102A43"/>
                </a:solidFill>
                <a:latin typeface="Arial"/>
                <a:ea typeface="Arial"/>
                <a:cs typeface="Arial"/>
              </a:defRPr>
            </a:defPPr>
          </a:lstStyle>
          <a:p>
            <a:pPr>
              <a:buNone/>
              <a:defRPr sz="1725" b="0">
                <a:solidFill>
                  <a:srgbClr val="102A43"/>
                </a:solidFill>
                <a:latin typeface="Arial"/>
                <a:ea typeface="Arial"/>
                <a:cs typeface="Arial"/>
              </a:defRPr>
            </a:pPr>
            <a:r>
              <a:rPr sz="1725" b="0">
                <a:solidFill>
                  <a:srgbClr val="102A43"/>
                </a:solidFill>
                <a:latin typeface="Arial"/>
                <a:ea typeface="Arial"/>
                <a:cs typeface="Arial"/>
              </a:rPr>
              <a:t>Evaluation: „Mach mir Kapitel 5 und schau, dass es nicht zu aufgeblasen ist.“</a:t>
            </a:r>
          </a:p>
        </p:txBody>
      </p:sp>
      <p:sp>
        <p:nvSpPr>
          <p:cNvPr id="8" name="Rechteck 7">
            <a:extLst>
              <a:ext uri="{FF2B5EF4-FFF2-40B4-BE49-F238E27FC236}">
                <a16:creationId xmlns:a16="http://schemas.microsoft.com/office/drawing/2014/main" id="{BB23BBDF-25B2-40A0-9305-BC82CD39CBFE}"/>
              </a:ext>
            </a:extLst>
          </p:cNvPr>
          <p:cNvSpPr>
            <a:spLocks noGrp="1"/>
          </p:cNvSpPr>
          <p:nvPr/>
        </p:nvSpPr>
        <p:spPr>
          <a:xfrm>
            <a:off x="609600" y="5467350"/>
            <a:ext cx="10763250" cy="666750"/>
          </a:xfrm>
          <a:prstGeom prst="rect">
            <a:avLst/>
          </a:prstGeom>
          <a:noFill/>
          <a:ln w="0">
            <a:noFill/>
          </a:ln>
        </p:spPr>
        <p:txBody>
          <a:bodyPr wrap="square" lIns="0" tIns="0" rIns="0" bIns="0" anchor="ctr">
            <a:noAutofit/>
          </a:bodyPr>
          <a:lstStyle>
            <a:defPPr>
              <a:defRPr sz="1575" b="0">
                <a:solidFill>
                  <a:srgbClr val="52677B"/>
                </a:solidFill>
                <a:latin typeface="Arial"/>
                <a:ea typeface="Arial"/>
                <a:cs typeface="Arial"/>
              </a:defRPr>
            </a:defPPr>
          </a:lstStyle>
          <a:p>
            <a:pPr>
              <a:buNone/>
              <a:defRPr sz="1575" b="0">
                <a:solidFill>
                  <a:srgbClr val="52677B"/>
                </a:solidFill>
                <a:latin typeface="Arial"/>
                <a:ea typeface="Arial"/>
                <a:cs typeface="Arial"/>
              </a:defRPr>
            </a:pPr>
            <a:r>
              <a:rPr sz="1575" b="0">
                <a:solidFill>
                  <a:srgbClr val="52677B"/>
                </a:solidFill>
                <a:latin typeface="Arial"/>
                <a:ea typeface="Arial"/>
                <a:cs typeface="Arial"/>
              </a:rPr>
              <a:t>Präsentation: OpenAI Codex. Prompt: „erstelle bitte eine powerpoint-präsentation, um die ergebnisse unseres titanic jupyter notebooks zu präsentieren“</a:t>
            </a:r>
          </a:p>
        </p:txBody>
      </p:sp>
    </p:spTree>
    <p:extLst>
      <p:ext uri="{BB962C8B-B14F-4D97-AF65-F5344CB8AC3E}">
        <p14:creationId xmlns:p14="http://schemas.microsoft.com/office/powerpoint/2010/main" val="109844580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2665</Words>
  <Application>Microsoft Office PowerPoint</Application>
  <DocSecurity>0</DocSecurity>
  <PresentationFormat>Breitbild</PresentationFormat>
  <Paragraphs>309</Paragraphs>
  <Slides>19</Slides>
  <Notes>19</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19</vt:i4>
      </vt:variant>
    </vt:vector>
  </HeadingPairs>
  <TitlesOfParts>
    <vt:vector size="22" baseType="lpstr">
      <vt:lpstr>Aptos</vt:lpstr>
      <vt:lpstr>Arial</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Daniel Hubmann</cp:lastModifiedBy>
  <cp:revision>1</cp:revision>
  <dcterms:created xsi:type="dcterms:W3CDTF">2026-10-16T08:43:06Z</dcterms:created>
  <dcterms:modified xsi:type="dcterms:W3CDTF">2026-10-16T09:03:50Z</dcterms:modified>
</cp:coreProperties>
</file>