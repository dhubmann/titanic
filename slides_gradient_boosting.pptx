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</a:defRPr>
            </a:pPr>
            <a:r>
              <a:t>DSM FALLSTUDIE – WS 2026/27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1. Gradient Boosting: Konzept &amp; Modellwahl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D9488"/>
                </a:solidFill>
              </a:defRPr>
            </a:pPr>
            <a:r>
              <a:t>Ensemble-Prinzip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Sequenzielles Lernen: </a:t>
            </a:r>
            <a:r>
              <a:rPr sz="1300">
                <a:solidFill>
                  <a:srgbClr val="475569"/>
                </a:solidFill>
              </a:rPr>
              <a:t>Bäume werden sukzessive trainiert; jeder neue Baum korrigiert gezielt die Residuen (Fehler) der vorherigen Bäume.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Histogramm-Binning: </a:t>
            </a:r>
            <a:r>
              <a:rPr sz="1300">
                <a:solidFill>
                  <a:srgbClr val="475569"/>
                </a:solidFill>
              </a:rPr>
              <a:t>Diskrete Bins für numerische Werte beschleunigen das Split-Finding drastisch und wirken als natürliche Regularisierung.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LightGBM-Architektur: </a:t>
            </a:r>
            <a:r>
              <a:rPr sz="1300">
                <a:solidFill>
                  <a:srgbClr val="475569"/>
                </a:solidFill>
              </a:rPr>
              <a:t>Verwendung von scikit-learns nativem HistGradientBoostingClassifier – state-of-the-art für tabellarische Daten.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D9488"/>
                </a:solidFill>
              </a:defRPr>
            </a:pPr>
            <a:r>
              <a:t>Lose Kopplung &amp; Robustheit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Isolierte Pipeline: </a:t>
            </a:r>
            <a:r>
              <a:rPr sz="1300">
                <a:solidFill>
                  <a:srgbClr val="475569"/>
                </a:solidFill>
              </a:rPr>
              <a:t>Vollständige Entkopplung via clone(preprocessing) – unabhängig von anderen Notebook-Zellen.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Keine Seiteneffekte: </a:t>
            </a:r>
            <a:r>
              <a:rPr sz="1300">
                <a:solidFill>
                  <a:srgbClr val="475569"/>
                </a:solidFill>
              </a:rPr>
              <a:t>Bestehende Variablen &amp; Datenstrukturen der anderen Teammitglieder bleiben 100% unverändert.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Garantierte Stabilität: </a:t>
            </a:r>
            <a:r>
              <a:rPr sz="1300">
                <a:solidFill>
                  <a:srgbClr val="475569"/>
                </a:solidFill>
              </a:rPr>
              <a:t>Reine scikit-learn-Basis ohne plattformabhängige C++-Laufzeitprobleme (z.B. OpenMP auf macOS/Linux).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</a:defRPr>
            </a:pPr>
            <a:r>
              <a:t>DSM FALLSTUDIE – WS 2026/27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2. Pipeline-Architektur &amp; Hyperparameter-Design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D9488"/>
                </a:solidFill>
              </a:defRPr>
            </a:pPr>
            <a:r>
              <a:t>End-to-End Vorverarbeitung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Numerische Features: </a:t>
            </a:r>
            <a:r>
              <a:rPr sz="1300">
                <a:solidFill>
                  <a:srgbClr val="475569"/>
                </a:solidFill>
              </a:rPr>
              <a:t>Age, Fare, FamilySize (aus SibSp + Parch + 1)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Imputation &amp; Skalierung: </a:t>
            </a:r>
            <a:r>
              <a:rPr sz="1300">
                <a:solidFill>
                  <a:srgbClr val="475569"/>
                </a:solidFill>
              </a:rPr>
              <a:t>SimpleImputer(strategy='median') gefolgt von StandardScaler() für stabile Gradienten.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Kategoriale Features: </a:t>
            </a:r>
            <a:r>
              <a:rPr sz="1300">
                <a:solidFill>
                  <a:srgbClr val="475569"/>
                </a:solidFill>
              </a:rPr>
              <a:t>Sex, Pclass, Embarked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Encoding: </a:t>
            </a:r>
            <a:r>
              <a:rPr sz="1300">
                <a:solidFill>
                  <a:srgbClr val="475569"/>
                </a:solidFill>
              </a:rPr>
              <a:t>SimpleImputer(strategy='most_frequent') gefolgt von OneHotEncoder(handle_unknown='ignore').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Kapselung: </a:t>
            </a:r>
            <a:r>
              <a:rPr sz="1300">
                <a:solidFill>
                  <a:srgbClr val="475569"/>
                </a:solidFill>
              </a:rPr>
              <a:t>Zusammenführung in ColumnTransformer und Weitergabe an den Classifier.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D9488"/>
                </a:solidFill>
              </a:defRPr>
            </a:pPr>
            <a:r>
              <a:t>Nachvollziehbare Hyperparameter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learning_rate = 0.05: </a:t>
            </a:r>
            <a:r>
              <a:rPr sz="1300">
                <a:solidFill>
                  <a:srgbClr val="475569"/>
                </a:solidFill>
              </a:rPr>
              <a:t>Dämpft den Beitrag jedes Baumes (Shrinkage) und verhindert vorzeitiges Overfitting auf ~712 Trainingszeilen.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max_iter = 100: </a:t>
            </a:r>
            <a:r>
              <a:rPr sz="1300">
                <a:solidFill>
                  <a:srgbClr val="475569"/>
                </a:solidFill>
              </a:rPr>
              <a:t>100 Boosting-Runden bieten bei kleiner Lernrate ausreichend Lernkapazität.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max_leaf_nodes = 15: </a:t>
            </a:r>
            <a:r>
              <a:rPr sz="1300">
                <a:solidFill>
                  <a:srgbClr val="475569"/>
                </a:solidFill>
              </a:rPr>
              <a:t>Beschränkt die Baumkomplexität (Tiefe ~4), damit kein Datenrauschen auswendiggelernt wird.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min_samples_leaf = 10: </a:t>
            </a:r>
            <a:r>
              <a:rPr sz="1300">
                <a:solidFill>
                  <a:srgbClr val="475569"/>
                </a:solidFill>
              </a:rPr>
              <a:t>Mindestens 10 Passagiere pro Endblatt für statistisch belastbare Entscheidungen.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l2_regularization = 1.0: </a:t>
            </a:r>
            <a:r>
              <a:rPr sz="1300">
                <a:solidFill>
                  <a:srgbClr val="475569"/>
                </a:solidFill>
              </a:rPr>
              <a:t>L2-Strafterm zur Dämpfung extremer Vorhersagewerte.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</a:defRPr>
            </a:pPr>
            <a:r>
              <a:t>DSM FALLSTUDIE – WS 2026/27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3. Validierungsergebnisse &amp; Performance (179 Passagiere)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</a:defRPr>
            </a:pPr>
            <a:r>
              <a:t>Modell-Performance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286000"/>
            <a:ext cx="2194560" cy="91440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D9488"/>
                </a:solidFill>
              </a:defRPr>
            </a:pPr>
            <a:r>
              <a:t>79.9 %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286000"/>
            <a:ext cx="2194560" cy="91440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D9488"/>
                </a:solidFill>
              </a:defRPr>
            </a:pPr>
            <a:r>
              <a:t>0.839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ROC-AUC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383280"/>
            <a:ext cx="2194560" cy="91440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D9488"/>
                </a:solidFill>
              </a:defRPr>
            </a:pPr>
            <a:r>
              <a:t>0.719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F1-Score (Überlebt)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383280"/>
            <a:ext cx="2194560" cy="914400"/>
          </a:xfrm>
          <a:prstGeom prst="roundRect">
            <a:avLst/>
          </a:prstGeom>
          <a:solidFill>
            <a:srgbClr val="F0FDFA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D9488"/>
                </a:solidFill>
              </a:defRPr>
            </a:pPr>
            <a:r>
              <a:t>78.0 %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Precision (Überlebt)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• Recall (Überlebt): 66.7 % (46 von 69 Überlebenden erkannt)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• Spezifität: 88.2 % (97 von 110 Nicht-Überlebenden korrekt identifiziert)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D9488"/>
                </a:solidFill>
              </a:defRPr>
            </a:pPr>
            <a:r>
              <a:t>Interpretation &amp; Fehlermatrix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Confusion Matrix (Val-Set): </a:t>
            </a:r>
            <a:r>
              <a:rPr sz="1300">
                <a:solidFill>
                  <a:srgbClr val="475569"/>
                </a:solidFill>
              </a:rPr>
              <a:t>110 Nicht-Überlebende | 69 Überlebende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True Negatives (97): </a:t>
            </a:r>
            <a:r>
              <a:rPr sz="1300">
                <a:solidFill>
                  <a:srgbClr val="475569"/>
                </a:solidFill>
              </a:rPr>
              <a:t>Nicht-Überlebende sehr verlässlich erkannt.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False Positives (13): </a:t>
            </a:r>
            <a:r>
              <a:rPr sz="1300">
                <a:solidFill>
                  <a:srgbClr val="475569"/>
                </a:solidFill>
              </a:rPr>
              <a:t>Nur 13 Personen fälschlicherweise als Überlebend eingestuft (hohe Precision von 78.0%).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False Negatives (23): </a:t>
            </a:r>
            <a:r>
              <a:rPr sz="1300">
                <a:solidFill>
                  <a:srgbClr val="475569"/>
                </a:solidFill>
              </a:rPr>
              <a:t>Konservatives Modellverhalten; übersieht 23 Überlebende zugunsten niedriger Falschalarm-Quote.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Fazit ROC-AUC (0.839): </a:t>
            </a:r>
            <a:r>
              <a:rPr sz="1300">
                <a:solidFill>
                  <a:srgbClr val="475569"/>
                </a:solidFill>
              </a:rPr>
              <a:t>Exzellente Gesamttrennschärfe unabhängig von der gewählten Klassifikationsschwelle.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</a:defRPr>
            </a:pPr>
            <a:r>
              <a:t>DSM FALLSTUDIE – WS 2026/27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4. Feature Importance &amp; Testdatensatz-Vorhersage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D9488"/>
                </a:solidFill>
              </a:defRPr>
            </a:pPr>
            <a:r>
              <a:t>Permutation Feature Importance</a:t>
            </a:r>
          </a:p>
          <a:p>
            <a:pPr>
              <a:spcAft>
                <a:spcPts val="1000"/>
              </a:spcAft>
              <a:defRPr sz="1200" i="1">
                <a:solidFill>
                  <a:srgbClr val="475569"/>
                </a:solidFill>
              </a:defRPr>
            </a:pPr>
            <a:r>
              <a:t>Mittlerer Genauigkeitsverlust bei Permutation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1. Sex (+18.4 %): </a:t>
            </a:r>
            <a:r>
              <a:rPr sz="1300">
                <a:solidFill>
                  <a:srgbClr val="475569"/>
                </a:solidFill>
              </a:rPr>
              <a:t>Mit Abstand wichtigstes Merkmal. Bestätigt das historische Prinzip 'Frauen und Kinder zuerst'.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2. Pclass (+4.6 %): </a:t>
            </a:r>
            <a:r>
              <a:rPr sz="1300">
                <a:solidFill>
                  <a:srgbClr val="475569"/>
                </a:solidFill>
              </a:rPr>
              <a:t>Starker sozioökonomischer Einfluss; Passagiere der 1. Klasse hatten bevorzugten Zugang zu Rettungsbooten.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3. Age (+4.4 %): </a:t>
            </a:r>
            <a:r>
              <a:rPr sz="1300">
                <a:solidFill>
                  <a:srgbClr val="475569"/>
                </a:solidFill>
              </a:rPr>
              <a:t>Hohe Schutzpriorität für Kinder und Jugendliche.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4. FamilySize (+2.1 %): </a:t>
            </a:r>
            <a:r>
              <a:rPr sz="1300">
                <a:solidFill>
                  <a:srgbClr val="475569"/>
                </a:solidFill>
              </a:rPr>
              <a:t>Moderate Familiengrößen (2-4) überlebten häufiger als Alleinreisende oder Großfamilien.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5. Fare &amp; Embarked (&lt; 2.0 %): </a:t>
            </a:r>
            <a:r>
              <a:rPr sz="1300">
                <a:solidFill>
                  <a:srgbClr val="475569"/>
                </a:solidFill>
              </a:rPr>
              <a:t>Fahrpreis korreliert stark mit Pclass; Einschiffungshafen hat vernachlässigbaren Einfluss.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737360"/>
            <a:ext cx="466344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D9488"/>
                </a:solidFill>
              </a:defRPr>
            </a:pPr>
            <a:r>
              <a:t>Testdaten-Ergebnis (test.csv)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418 Passagiere klassifiziert: </a:t>
            </a:r>
            <a:r>
              <a:rPr sz="1300">
                <a:solidFill>
                  <a:srgbClr val="475569"/>
                </a:solidFill>
              </a:rPr>
              <a:t>Vollständige Vorhersagen für den offiziellen Testdatensatz test.csv berechnet.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Vorhergesagte Überlebensrate: </a:t>
            </a:r>
            <a:r>
              <a:rPr sz="1300">
                <a:solidFill>
                  <a:srgbClr val="475569"/>
                </a:solidFill>
              </a:rPr>
              <a:t>33.5 % (140 Überlebende, 278 Verstorbene).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Plausibilitätsprüfung: </a:t>
            </a:r>
            <a:r>
              <a:rPr sz="1300">
                <a:solidFill>
                  <a:srgbClr val="475569"/>
                </a:solidFill>
              </a:rPr>
              <a:t>Deckt sich exzellent mit der realen Titanic-Überlebensrate (~38%) und dem Trainings-Split.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Vorhersagedatei: </a:t>
            </a:r>
            <a:r>
              <a:rPr sz="1300">
                <a:solidFill>
                  <a:srgbClr val="475569"/>
                </a:solidFill>
              </a:rPr>
              <a:t>Exportiert nach predictions_gradient_boosting.csv mit Spalten PassengerId, Survived, SurvivalProbability.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F172A"/>
                </a:solidFill>
              </a:rPr>
              <a:t>• Mehrwert für das Team: </a:t>
            </a:r>
            <a:r>
              <a:rPr sz="1300">
                <a:solidFill>
                  <a:srgbClr val="475569"/>
                </a:solidFill>
              </a:rPr>
              <a:t>Stabiles, hochperformantes Vergleichsmodell für die Gesamtevaluation in Kapitel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